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2147376044" r:id="rId5"/>
    <p:sldId id="2147376160" r:id="rId6"/>
    <p:sldId id="2147376113" r:id="rId7"/>
    <p:sldId id="2147376173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CAD" id="{96027D25-418D-41F6-8DBC-0916F5615456}">
          <p14:sldIdLst>
            <p14:sldId id="2147376044"/>
            <p14:sldId id="2147376160"/>
            <p14:sldId id="2147376113"/>
            <p14:sldId id="21473761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759E"/>
    <a:srgbClr val="1F8DBF"/>
    <a:srgbClr val="189876"/>
    <a:srgbClr val="1FC398"/>
    <a:srgbClr val="39DFB4"/>
    <a:srgbClr val="1EB890"/>
    <a:srgbClr val="E8E8E6"/>
    <a:srgbClr val="F2F2F2"/>
    <a:srgbClr val="28A4DC"/>
    <a:srgbClr val="407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858" autoAdjust="0"/>
    <p:restoredTop sz="96445" autoAdjust="0"/>
  </p:normalViewPr>
  <p:slideViewPr>
    <p:cSldViewPr snapToGrid="0">
      <p:cViewPr varScale="1">
        <p:scale>
          <a:sx n="111" d="100"/>
          <a:sy n="111" d="100"/>
        </p:scale>
        <p:origin x="10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AA9828-F5F1-4553-95AE-77291B797BBE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33E784-885E-4089-99D9-2A46970786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6317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接下來我們先針對西門子在電子設計與驗證所提供的解決方案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33E784-885E-4089-99D9-2A469707866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33933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482C7-D443-FD0E-1482-192D90A3A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7ED9680-3EB7-253E-23A6-912890A63F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9E7AFF5-AEFC-EDC2-6E36-2DEDA3E05E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/>
              <a:t>當我們談到</a:t>
            </a:r>
            <a:r>
              <a:rPr lang="en-US" altLang="zh-TW" dirty="0"/>
              <a:t>PCB</a:t>
            </a:r>
            <a:r>
              <a:rPr lang="zh-TW" altLang="en-US" dirty="0"/>
              <a:t>設計流程，其實主要是指從</a:t>
            </a:r>
            <a:r>
              <a:rPr lang="en-US" altLang="zh-TW" dirty="0"/>
              <a:t>PCB</a:t>
            </a:r>
            <a:r>
              <a:rPr lang="zh-TW" altLang="en-US" dirty="0"/>
              <a:t>產品的設計開始，到製造準備的整個過程。我們如何利用西門子</a:t>
            </a:r>
            <a:r>
              <a:rPr lang="en-US" altLang="zh-TW" dirty="0"/>
              <a:t>EDA</a:t>
            </a:r>
            <a:r>
              <a:rPr lang="zh-TW" altLang="en-US" dirty="0"/>
              <a:t>工具來提升效率，並確保設計品質？</a:t>
            </a:r>
            <a:endParaRPr lang="en-US" altLang="zh-TW" dirty="0"/>
          </a:p>
          <a:p>
            <a:pPr>
              <a:buNone/>
            </a:pPr>
            <a:endParaRPr lang="zh-TW" altLang="en-US" dirty="0"/>
          </a:p>
          <a:p>
            <a:pPr marL="228600" indent="-228600">
              <a:buFont typeface="+mj-lt"/>
              <a:buAutoNum type="arabicPeriod"/>
            </a:pPr>
            <a:r>
              <a:rPr lang="zh-TW" altLang="en-US" dirty="0"/>
              <a:t>首先，在專案啟動階段，系統設計人員會進行前期規劃，確保整個設計流程順利進行。</a:t>
            </a:r>
          </a:p>
          <a:p>
            <a:pPr marL="228600" indent="-228600">
              <a:buFont typeface="+mj-lt"/>
              <a:buAutoNum type="arabicPeriod"/>
            </a:pPr>
            <a:r>
              <a:rPr lang="zh-TW" altLang="en-US" dirty="0"/>
              <a:t>接著進入設計階段，我們會使用 </a:t>
            </a:r>
            <a:r>
              <a:rPr lang="en-US" altLang="zh-TW" b="1" dirty="0"/>
              <a:t>PADS Professional</a:t>
            </a:r>
            <a:r>
              <a:rPr lang="zh-TW" altLang="en-US" dirty="0"/>
              <a:t> 或 </a:t>
            </a:r>
            <a:r>
              <a:rPr lang="en-US" altLang="zh-TW" b="1" dirty="0"/>
              <a:t>Xpedition</a:t>
            </a:r>
            <a:r>
              <a:rPr lang="zh-TW" altLang="en-US" dirty="0"/>
              <a:t> 完成</a:t>
            </a:r>
            <a:r>
              <a:rPr lang="en-US" altLang="zh-TW" dirty="0"/>
              <a:t>PCB</a:t>
            </a:r>
            <a:r>
              <a:rPr lang="zh-TW" altLang="en-US" dirty="0"/>
              <a:t>原理圖設計，並同步進行設計驗證，確保設計沒有問題。</a:t>
            </a:r>
          </a:p>
          <a:p>
            <a:pPr marL="228600" indent="-228600">
              <a:buFont typeface="+mj-lt"/>
              <a:buAutoNum type="arabicPeriod"/>
            </a:pPr>
            <a:r>
              <a:rPr lang="zh-TW" altLang="en-US" dirty="0"/>
              <a:t>完成原理圖後，我們會將其轉換為</a:t>
            </a:r>
            <a:r>
              <a:rPr lang="en-US" altLang="zh-TW" dirty="0"/>
              <a:t>PCB Layout</a:t>
            </a:r>
            <a:r>
              <a:rPr lang="zh-TW" altLang="en-US" dirty="0"/>
              <a:t>，並進行零件的放置。在這個過程中，我們必須考慮到</a:t>
            </a:r>
            <a:r>
              <a:rPr lang="en-US" altLang="zh-TW" dirty="0"/>
              <a:t>PCB</a:t>
            </a:r>
            <a:r>
              <a:rPr lang="zh-TW" altLang="en-US" dirty="0"/>
              <a:t>佈局的正確性與可製造性，確保設計無誤後才能進入下一步。</a:t>
            </a:r>
          </a:p>
          <a:p>
            <a:pPr marL="228600" indent="-228600">
              <a:buFont typeface="+mj-lt"/>
              <a:buAutoNum type="arabicPeriod"/>
            </a:pPr>
            <a:r>
              <a:rPr lang="zh-TW" altLang="en-US" dirty="0"/>
              <a:t>進入模擬階段後，我們會使用 </a:t>
            </a:r>
            <a:r>
              <a:rPr lang="en-US" altLang="zh-TW" b="1" dirty="0" err="1"/>
              <a:t>HyperLynx</a:t>
            </a:r>
            <a:r>
              <a:rPr lang="zh-TW" altLang="en-US" dirty="0"/>
              <a:t> 進行信號完整性（</a:t>
            </a:r>
            <a:r>
              <a:rPr lang="en-US" altLang="zh-TW" dirty="0"/>
              <a:t>SI</a:t>
            </a:r>
            <a:r>
              <a:rPr lang="zh-TW" altLang="en-US" dirty="0"/>
              <a:t>）、電源完整性（</a:t>
            </a:r>
            <a:r>
              <a:rPr lang="en-US" altLang="zh-TW" dirty="0"/>
              <a:t>PI</a:t>
            </a:r>
            <a:r>
              <a:rPr lang="zh-TW" altLang="en-US" dirty="0"/>
              <a:t>）及熱分析等模擬，及早發現潛在問題，提高設計的可靠性。</a:t>
            </a:r>
          </a:p>
          <a:p>
            <a:pPr marL="228600" indent="-228600">
              <a:buFont typeface="+mj-lt"/>
              <a:buAutoNum type="arabicPeriod"/>
            </a:pPr>
            <a:r>
              <a:rPr lang="zh-TW" altLang="en-US" dirty="0"/>
              <a:t>設計確認無誤後，我們就進入驗證階段，這時候 </a:t>
            </a:r>
            <a:r>
              <a:rPr lang="en-US" altLang="zh-TW" b="1" dirty="0"/>
              <a:t>Valor NPI</a:t>
            </a:r>
            <a:r>
              <a:rPr lang="zh-TW" altLang="en-US" dirty="0"/>
              <a:t> 會檢查可製造性，確保設計符合製造要求，並減少生產過程中的問題。而 </a:t>
            </a:r>
            <a:r>
              <a:rPr lang="en-US" altLang="zh-TW" b="1" dirty="0"/>
              <a:t>Valor PP</a:t>
            </a:r>
            <a:r>
              <a:rPr lang="zh-TW" altLang="en-US" dirty="0"/>
              <a:t> 則會生成製造數據，幫助工廠快速投入生產。</a:t>
            </a:r>
          </a:p>
          <a:p>
            <a:pPr marL="228600" indent="-228600">
              <a:buFont typeface="+mj-lt"/>
              <a:buAutoNum type="arabicPeriod"/>
            </a:pPr>
            <a:r>
              <a:rPr lang="zh-TW" altLang="en-US" dirty="0"/>
              <a:t>最後，在協同作業方面，透過 </a:t>
            </a:r>
            <a:r>
              <a:rPr lang="en-US" altLang="zh-TW" b="1" dirty="0"/>
              <a:t>ECAD/MCAD </a:t>
            </a:r>
            <a:r>
              <a:rPr lang="zh-TW" altLang="en-US" b="1" dirty="0"/>
              <a:t>整合</a:t>
            </a:r>
            <a:r>
              <a:rPr lang="zh-TW" altLang="en-US" dirty="0"/>
              <a:t>，我們可以無縫對接機構設計（使用 </a:t>
            </a:r>
            <a:r>
              <a:rPr lang="en-US" altLang="zh-TW" b="1" dirty="0"/>
              <a:t>Siemens NX</a:t>
            </a:r>
            <a:r>
              <a:rPr lang="zh-TW" altLang="en-US" dirty="0"/>
              <a:t>），確保電子與機構設計的協同。</a:t>
            </a:r>
          </a:p>
          <a:p>
            <a:pPr>
              <a:buNone/>
            </a:pPr>
            <a:endParaRPr lang="en-US" altLang="zh-TW" dirty="0"/>
          </a:p>
          <a:p>
            <a:pPr>
              <a:buNone/>
            </a:pPr>
            <a:r>
              <a:rPr lang="zh-TW" altLang="en-US" dirty="0"/>
              <a:t>此外，還有三個重要的輔助功能：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資料管理（</a:t>
            </a:r>
            <a:r>
              <a:rPr lang="en-US" altLang="zh-TW" b="1" dirty="0"/>
              <a:t>EDM Library</a:t>
            </a:r>
            <a:r>
              <a:rPr lang="zh-TW" altLang="en-US" b="1" dirty="0"/>
              <a:t>）</a:t>
            </a:r>
            <a:r>
              <a:rPr lang="zh-TW" altLang="en-US" dirty="0"/>
              <a:t>：確保元件庫與設計數據的標準化與版本控制。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約束管理（</a:t>
            </a:r>
            <a:r>
              <a:rPr lang="en-US" altLang="zh-TW" b="1" dirty="0"/>
              <a:t>Constraint Manager</a:t>
            </a:r>
            <a:r>
              <a:rPr lang="zh-TW" altLang="en-US" b="1" dirty="0"/>
              <a:t>）</a:t>
            </a:r>
            <a:r>
              <a:rPr lang="zh-TW" altLang="en-US" dirty="0"/>
              <a:t>：定義設計規則，確保符合電氣與製造要求。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自動化（</a:t>
            </a:r>
            <a:r>
              <a:rPr lang="en-US" altLang="zh-TW" b="1" dirty="0"/>
              <a:t>Automation</a:t>
            </a:r>
            <a:r>
              <a:rPr lang="zh-TW" altLang="en-US" b="1" dirty="0"/>
              <a:t>）</a:t>
            </a:r>
            <a:r>
              <a:rPr lang="zh-TW" altLang="en-US" dirty="0"/>
              <a:t>：透過客製化腳本來提高設計效率與精度。</a:t>
            </a:r>
          </a:p>
          <a:p>
            <a:endParaRPr lang="en-US" altLang="zh-TW" dirty="0"/>
          </a:p>
          <a:p>
            <a:r>
              <a:rPr lang="zh-TW" altLang="en-US" dirty="0"/>
              <a:t>總的來說，這個整合平台能夠讓我們從設計、模擬到製造的每個階段都做到高效、準確，並降低製造風險。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ED070A-6739-6CDA-423C-F2EF2B2B18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33E784-885E-4089-99D9-2A469707866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075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Valor</a:t>
            </a:r>
            <a:r>
              <a:rPr lang="zh-TW" altLang="en-US" dirty="0"/>
              <a:t>系列有兩套，</a:t>
            </a:r>
            <a:r>
              <a:rPr lang="en-US" altLang="zh-TW" dirty="0"/>
              <a:t>Valor NPI</a:t>
            </a:r>
            <a:r>
              <a:rPr lang="zh-TW" altLang="en-US" dirty="0"/>
              <a:t>與</a:t>
            </a:r>
            <a:r>
              <a:rPr lang="en-US" altLang="zh-TW" dirty="0"/>
              <a:t>Valor PP</a:t>
            </a:r>
            <a:r>
              <a:rPr lang="zh-TW" altLang="en-US" dirty="0"/>
              <a:t>，這是兩套完全不同目地的工具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Valor NPI</a:t>
            </a:r>
            <a:r>
              <a:rPr lang="zh-TW" altLang="en-US" dirty="0"/>
              <a:t>主要進行完整的設計可製造性審核，包含了</a:t>
            </a:r>
            <a:endParaRPr lang="en-US" altLang="zh-TW" dirty="0"/>
          </a:p>
          <a:p>
            <a:r>
              <a:rPr lang="zh-TW" altLang="en-US" dirty="0"/>
              <a:t>所使用的電子元件是否合規、元件的佈局正確性、佈線的審核、用料清單的審核、製造文件</a:t>
            </a:r>
            <a:r>
              <a:rPr lang="en-US" altLang="zh-TW" dirty="0"/>
              <a:t>Gerber</a:t>
            </a:r>
            <a:r>
              <a:rPr lang="zh-TW" altLang="en-US" dirty="0"/>
              <a:t>檔的審核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>
                <a:ea typeface="新細明體"/>
              </a:rPr>
              <a:t>確保</a:t>
            </a:r>
            <a:r>
              <a:rPr lang="zh-TW"/>
              <a:t>審</a:t>
            </a:r>
            <a:r>
              <a:rPr lang="zh-TW" altLang="en-US">
                <a:ea typeface="新細明體"/>
              </a:rPr>
              <a:t>核都通過後，才進入製造環節</a:t>
            </a:r>
            <a:endParaRPr lang="en-US" altLang="zh-TW">
              <a:ea typeface="新細明體"/>
            </a:endParaRPr>
          </a:p>
          <a:p>
            <a:endParaRPr lang="en-US" altLang="zh-TW" dirty="0"/>
          </a:p>
          <a:p>
            <a:r>
              <a:rPr lang="zh-TW" altLang="en-US" dirty="0"/>
              <a:t>接著就進入</a:t>
            </a:r>
            <a:r>
              <a:rPr lang="en-US" altLang="zh-TW" dirty="0"/>
              <a:t>Valor PP</a:t>
            </a:r>
          </a:p>
          <a:p>
            <a:endParaRPr lang="en-US" altLang="zh-TW" dirty="0"/>
          </a:p>
          <a:p>
            <a:r>
              <a:rPr lang="zh-TW" altLang="en-US" dirty="0"/>
              <a:t>在傳統</a:t>
            </a:r>
            <a:r>
              <a:rPr lang="en-US" altLang="zh-TW" dirty="0"/>
              <a:t>PCB SMT</a:t>
            </a:r>
            <a:r>
              <a:rPr lang="zh-TW" altLang="en-US" dirty="0"/>
              <a:t>製造流程中，不同的設備會搭配不同的工具進行設計與管理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Valor PP</a:t>
            </a:r>
            <a:r>
              <a:rPr lang="zh-TW" altLang="en-US" dirty="0"/>
              <a:t>流程與傳統流程最大的差異在透過單一工具完成所有流程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pPr>
              <a:buNone/>
            </a:pPr>
            <a:r>
              <a:rPr lang="en-US" altLang="zh-TW" b="1" dirty="0"/>
              <a:t>1. </a:t>
            </a:r>
            <a:r>
              <a:rPr lang="zh-TW" altLang="en-US" b="1" dirty="0"/>
              <a:t>數據處理</a:t>
            </a:r>
          </a:p>
          <a:p>
            <a:pPr>
              <a:buNone/>
            </a:pPr>
            <a:r>
              <a:rPr lang="zh-TW" altLang="en-US" dirty="0"/>
              <a:t>傳統流程需要多種工具轉換格式，容易出錯。</a:t>
            </a:r>
            <a:r>
              <a:rPr lang="en-US" altLang="zh-TW" dirty="0"/>
              <a:t>Valor PP </a:t>
            </a:r>
            <a:r>
              <a:rPr lang="zh-TW" altLang="en-US" dirty="0"/>
              <a:t>能統一數據源，自動識別 </a:t>
            </a:r>
            <a:r>
              <a:rPr lang="en-US" altLang="zh-TW" dirty="0"/>
              <a:t>PCB</a:t>
            </a:r>
            <a:r>
              <a:rPr lang="zh-TW" altLang="en-US" dirty="0"/>
              <a:t>、</a:t>
            </a:r>
            <a:r>
              <a:rPr lang="en-US" altLang="zh-TW" dirty="0"/>
              <a:t>BOM</a:t>
            </a:r>
            <a:r>
              <a:rPr lang="zh-TW" altLang="en-US" dirty="0"/>
              <a:t>、</a:t>
            </a:r>
            <a:r>
              <a:rPr lang="en-US" altLang="zh-TW" dirty="0"/>
              <a:t>Gerber </a:t>
            </a:r>
            <a:r>
              <a:rPr lang="zh-TW" altLang="en-US" dirty="0"/>
              <a:t>等，提高準確性。</a:t>
            </a:r>
          </a:p>
          <a:p>
            <a:pPr>
              <a:buNone/>
            </a:pPr>
            <a:r>
              <a:rPr lang="en-US" altLang="zh-TW" b="1" dirty="0"/>
              <a:t>2. BOM </a:t>
            </a:r>
            <a:r>
              <a:rPr lang="zh-TW" altLang="en-US" b="1" dirty="0"/>
              <a:t>檢查</a:t>
            </a:r>
          </a:p>
          <a:p>
            <a:pPr>
              <a:buNone/>
            </a:pPr>
            <a:r>
              <a:rPr lang="zh-TW" altLang="en-US" dirty="0"/>
              <a:t>傳統 </a:t>
            </a:r>
            <a:r>
              <a:rPr lang="en-US" altLang="zh-TW" dirty="0"/>
              <a:t>BOM </a:t>
            </a:r>
            <a:r>
              <a:rPr lang="zh-TW" altLang="en-US" dirty="0"/>
              <a:t>需手動比對，容易發生錯誤。</a:t>
            </a:r>
            <a:r>
              <a:rPr lang="en-US" altLang="zh-TW" dirty="0"/>
              <a:t>Valor PP </a:t>
            </a:r>
            <a:r>
              <a:rPr lang="zh-TW" altLang="en-US" dirty="0"/>
              <a:t>可自動檢查 </a:t>
            </a:r>
            <a:r>
              <a:rPr lang="en-US" altLang="zh-TW" dirty="0"/>
              <a:t>BOM </a:t>
            </a:r>
            <a:r>
              <a:rPr lang="zh-TW" altLang="en-US" dirty="0"/>
              <a:t>與 </a:t>
            </a:r>
            <a:r>
              <a:rPr lang="en-US" altLang="zh-TW" dirty="0"/>
              <a:t>CAD </a:t>
            </a:r>
            <a:r>
              <a:rPr lang="zh-TW" altLang="en-US" dirty="0"/>
              <a:t>的一致性，提前發現問題。</a:t>
            </a:r>
          </a:p>
          <a:p>
            <a:pPr>
              <a:buNone/>
            </a:pPr>
            <a:r>
              <a:rPr lang="en-US" altLang="zh-TW" b="1" dirty="0"/>
              <a:t>3. </a:t>
            </a:r>
            <a:r>
              <a:rPr lang="zh-TW" altLang="en-US" b="1" dirty="0"/>
              <a:t>拼板設計</a:t>
            </a:r>
          </a:p>
          <a:p>
            <a:pPr>
              <a:buNone/>
            </a:pPr>
            <a:r>
              <a:rPr lang="zh-TW" altLang="en-US" dirty="0"/>
              <a:t>傳統拼板依賴人工，效率低。</a:t>
            </a:r>
            <a:r>
              <a:rPr lang="en-US" altLang="zh-TW" dirty="0"/>
              <a:t>Valor PP </a:t>
            </a:r>
            <a:r>
              <a:rPr lang="zh-TW" altLang="en-US" dirty="0"/>
              <a:t>可根據設備條件自動優化拼板，最大化板材利用率。</a:t>
            </a:r>
          </a:p>
          <a:p>
            <a:pPr>
              <a:buNone/>
            </a:pPr>
            <a:r>
              <a:rPr lang="en-US" altLang="zh-TW" b="1" dirty="0"/>
              <a:t>4. </a:t>
            </a:r>
            <a:r>
              <a:rPr lang="zh-TW" altLang="en-US" b="1" dirty="0"/>
              <a:t>鋼網設計</a:t>
            </a:r>
          </a:p>
          <a:p>
            <a:pPr>
              <a:buNone/>
            </a:pPr>
            <a:r>
              <a:rPr lang="zh-TW" altLang="en-US" dirty="0"/>
              <a:t>傳統鋼網開孔需多次試錯，浪費時間。</a:t>
            </a:r>
            <a:r>
              <a:rPr lang="en-US" altLang="zh-TW" dirty="0"/>
              <a:t>Valor PP </a:t>
            </a:r>
            <a:r>
              <a:rPr lang="zh-TW" altLang="en-US" dirty="0"/>
              <a:t>內建標準模板與經驗庫，可自動生成最佳鋼網設計。</a:t>
            </a:r>
          </a:p>
          <a:p>
            <a:pPr>
              <a:buNone/>
            </a:pPr>
            <a:r>
              <a:rPr lang="en-US" altLang="zh-TW" b="1" dirty="0"/>
              <a:t>5. </a:t>
            </a:r>
            <a:r>
              <a:rPr lang="zh-TW" altLang="en-US" b="1" dirty="0"/>
              <a:t>設備編程</a:t>
            </a:r>
          </a:p>
          <a:p>
            <a:pPr>
              <a:buNone/>
            </a:pPr>
            <a:r>
              <a:rPr lang="zh-TW" altLang="en-US" dirty="0"/>
              <a:t>不同 </a:t>
            </a:r>
            <a:r>
              <a:rPr lang="en-US" altLang="zh-TW" dirty="0"/>
              <a:t>SMT </a:t>
            </a:r>
            <a:r>
              <a:rPr lang="zh-TW" altLang="en-US" dirty="0"/>
              <a:t>設備程式不相容，需手動轉換。</a:t>
            </a:r>
            <a:r>
              <a:rPr lang="en-US" altLang="zh-TW" dirty="0"/>
              <a:t>Valor PP </a:t>
            </a:r>
            <a:r>
              <a:rPr lang="zh-TW" altLang="en-US" dirty="0"/>
              <a:t>建立 </a:t>
            </a:r>
            <a:r>
              <a:rPr lang="en-US" altLang="zh-TW" dirty="0"/>
              <a:t>SMT </a:t>
            </a:r>
            <a:r>
              <a:rPr lang="zh-TW" altLang="en-US" dirty="0"/>
              <a:t>設備模型，實現程式互轉與混線編程，提高效率。</a:t>
            </a:r>
          </a:p>
          <a:p>
            <a:pPr>
              <a:buNone/>
            </a:pPr>
            <a:r>
              <a:rPr lang="en-US" altLang="zh-TW" b="1" dirty="0"/>
              <a:t>6. </a:t>
            </a:r>
            <a:r>
              <a:rPr lang="zh-TW" altLang="en-US" b="1" dirty="0"/>
              <a:t>虛擬貼裝</a:t>
            </a:r>
          </a:p>
          <a:p>
            <a:pPr>
              <a:buNone/>
            </a:pPr>
            <a:r>
              <a:rPr lang="zh-TW" altLang="en-US" dirty="0"/>
              <a:t>傳統流程需上線測試才發現錯誤，成本高。</a:t>
            </a:r>
            <a:r>
              <a:rPr lang="en-US" altLang="zh-TW" dirty="0"/>
              <a:t>Valor PP </a:t>
            </a:r>
            <a:r>
              <a:rPr lang="zh-TW" altLang="en-US" dirty="0"/>
              <a:t>提供 </a:t>
            </a:r>
            <a:r>
              <a:rPr lang="en-US" altLang="zh-TW" dirty="0"/>
              <a:t>3D </a:t>
            </a:r>
            <a:r>
              <a:rPr lang="zh-TW" altLang="en-US" dirty="0"/>
              <a:t>虛擬貼裝，提前檢查極性、角度，減少試錯。</a:t>
            </a:r>
          </a:p>
          <a:p>
            <a:pPr>
              <a:buNone/>
            </a:pPr>
            <a:r>
              <a:rPr lang="en-US" altLang="zh-TW" b="1" dirty="0"/>
              <a:t>7. EWI</a:t>
            </a:r>
            <a:r>
              <a:rPr lang="zh-TW" altLang="en-US" b="1" dirty="0"/>
              <a:t>（電子作業指導書）</a:t>
            </a:r>
          </a:p>
          <a:p>
            <a:pPr>
              <a:buNone/>
            </a:pPr>
            <a:r>
              <a:rPr lang="zh-TW" altLang="en-US" dirty="0"/>
              <a:t>傳統 </a:t>
            </a:r>
            <a:r>
              <a:rPr lang="en-US" altLang="zh-TW" dirty="0"/>
              <a:t>EWI </a:t>
            </a:r>
            <a:r>
              <a:rPr lang="zh-TW" altLang="en-US" dirty="0"/>
              <a:t>依賴 </a:t>
            </a:r>
            <a:r>
              <a:rPr lang="en-US" altLang="zh-TW" dirty="0"/>
              <a:t>Excel</a:t>
            </a:r>
            <a:r>
              <a:rPr lang="zh-TW" altLang="en-US" dirty="0"/>
              <a:t>，變更困難。</a:t>
            </a:r>
            <a:r>
              <a:rPr lang="en-US" altLang="zh-TW" dirty="0"/>
              <a:t>Valor PP </a:t>
            </a:r>
            <a:r>
              <a:rPr lang="zh-TW" altLang="en-US" dirty="0"/>
              <a:t>快速生成 </a:t>
            </a:r>
            <a:r>
              <a:rPr lang="en-US" altLang="zh-TW" dirty="0"/>
              <a:t>EWI</a:t>
            </a:r>
            <a:r>
              <a:rPr lang="zh-TW" altLang="en-US" dirty="0"/>
              <a:t>，並可隨 </a:t>
            </a:r>
            <a:r>
              <a:rPr lang="en-US" altLang="zh-TW" dirty="0"/>
              <a:t>CAD</a:t>
            </a:r>
            <a:r>
              <a:rPr lang="zh-TW" altLang="en-US" dirty="0"/>
              <a:t>、</a:t>
            </a:r>
            <a:r>
              <a:rPr lang="en-US" altLang="zh-TW" dirty="0"/>
              <a:t>BOM </a:t>
            </a:r>
            <a:r>
              <a:rPr lang="zh-TW" altLang="en-US" dirty="0"/>
              <a:t>更新自動同步。</a:t>
            </a:r>
          </a:p>
          <a:p>
            <a:pPr>
              <a:buNone/>
            </a:pPr>
            <a:r>
              <a:rPr lang="en-US" altLang="zh-TW" b="1" dirty="0"/>
              <a:t>8. </a:t>
            </a:r>
            <a:r>
              <a:rPr lang="zh-TW" altLang="en-US" b="1" dirty="0"/>
              <a:t>測試與檢測</a:t>
            </a:r>
          </a:p>
          <a:p>
            <a:pPr>
              <a:buNone/>
            </a:pPr>
            <a:r>
              <a:rPr lang="en-US" altLang="zh-TW" dirty="0"/>
              <a:t>ICT</a:t>
            </a:r>
            <a:r>
              <a:rPr lang="zh-TW" altLang="en-US" dirty="0"/>
              <a:t>、</a:t>
            </a:r>
            <a:r>
              <a:rPr lang="en-US" altLang="zh-TW" dirty="0"/>
              <a:t>AOI</a:t>
            </a:r>
            <a:r>
              <a:rPr lang="zh-TW" altLang="en-US" dirty="0"/>
              <a:t>、</a:t>
            </a:r>
            <a:r>
              <a:rPr lang="en-US" altLang="zh-TW" dirty="0"/>
              <a:t>X-Ray </a:t>
            </a:r>
            <a:r>
              <a:rPr lang="zh-TW" altLang="en-US" dirty="0"/>
              <a:t>測試程式需手動編寫，易出錯。</a:t>
            </a:r>
            <a:r>
              <a:rPr lang="en-US" altLang="zh-TW" dirty="0"/>
              <a:t>Valor PP </a:t>
            </a:r>
            <a:r>
              <a:rPr lang="zh-TW" altLang="en-US" dirty="0"/>
              <a:t>自動 </a:t>
            </a:r>
            <a:r>
              <a:rPr lang="en-US" altLang="zh-TW" dirty="0"/>
              <a:t>DFT </a:t>
            </a:r>
            <a:r>
              <a:rPr lang="zh-TW" altLang="en-US" dirty="0"/>
              <a:t>分析，最佳化測試點配置，一鍵生成測試程式。</a:t>
            </a:r>
          </a:p>
          <a:p>
            <a:pPr>
              <a:buNone/>
            </a:pPr>
            <a:r>
              <a:rPr lang="zh-TW" altLang="en-US" b="1" dirty="0"/>
              <a:t>結論</a:t>
            </a:r>
          </a:p>
          <a:p>
            <a:pPr>
              <a:buNone/>
            </a:pPr>
            <a:r>
              <a:rPr lang="en-US" altLang="zh-TW" dirty="0"/>
              <a:t>Valor PP </a:t>
            </a:r>
            <a:r>
              <a:rPr lang="zh-TW" altLang="en-US" dirty="0"/>
              <a:t>透過 </a:t>
            </a:r>
            <a:r>
              <a:rPr lang="zh-TW" altLang="en-US" b="1" dirty="0"/>
              <a:t>數據統一、智能分析、自動化管理</a:t>
            </a:r>
            <a:r>
              <a:rPr lang="zh-TW" altLang="en-US" dirty="0"/>
              <a:t>，解決傳統 </a:t>
            </a:r>
            <a:r>
              <a:rPr lang="en-US" altLang="zh-TW" dirty="0"/>
              <a:t>SMT </a:t>
            </a:r>
            <a:r>
              <a:rPr lang="zh-TW" altLang="en-US" dirty="0"/>
              <a:t>流程的痛點，提升效率、減少錯誤，縮短 </a:t>
            </a:r>
            <a:r>
              <a:rPr lang="en-US" altLang="zh-TW" dirty="0"/>
              <a:t>NPI </a:t>
            </a:r>
            <a:r>
              <a:rPr lang="zh-TW" altLang="en-US" dirty="0"/>
              <a:t>週期，強化生產競爭力。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33E784-885E-4089-99D9-2A469707866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4391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E8069-2D82-FC40-F70F-86C663353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B44302B-2DB0-99CB-091E-E9CB4E4A7D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FC9F5BA-9E6C-DAC9-0DA5-E30570D4F6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/>
              <a:t>在設計階段，我們會使用 </a:t>
            </a:r>
            <a:r>
              <a:rPr lang="en-US" altLang="zh-TW" b="1" dirty="0"/>
              <a:t>PADS Professional</a:t>
            </a:r>
            <a:r>
              <a:rPr lang="zh-TW" altLang="en-US" dirty="0"/>
              <a:t> 或 </a:t>
            </a:r>
            <a:r>
              <a:rPr lang="en-US" altLang="zh-TW" b="1" dirty="0"/>
              <a:t>Xpedition</a:t>
            </a:r>
            <a:r>
              <a:rPr lang="zh-TW" altLang="en-US" dirty="0"/>
              <a:t> 來完成</a:t>
            </a:r>
            <a:r>
              <a:rPr lang="en-US" altLang="zh-TW" dirty="0"/>
              <a:t>PCB</a:t>
            </a:r>
            <a:r>
              <a:rPr lang="zh-TW" altLang="en-US" dirty="0"/>
              <a:t>原理圖設計與</a:t>
            </a:r>
            <a:r>
              <a:rPr lang="en-US" altLang="zh-TW" dirty="0"/>
              <a:t>PCB Layout</a:t>
            </a:r>
            <a:r>
              <a:rPr lang="zh-TW" altLang="en-US" dirty="0"/>
              <a:t>。</a:t>
            </a:r>
            <a:endParaRPr lang="en-US" altLang="zh-TW" dirty="0"/>
          </a:p>
          <a:p>
            <a:pPr>
              <a:buNone/>
            </a:pPr>
            <a:r>
              <a:rPr lang="zh-TW" altLang="en-US" dirty="0"/>
              <a:t>那這兩套工具有什麼差異呢？</a:t>
            </a:r>
            <a:endParaRPr lang="en-US" altLang="zh-TW" dirty="0"/>
          </a:p>
          <a:p>
            <a:pPr>
              <a:buNone/>
            </a:pPr>
            <a:endParaRPr lang="zh-TW" altLang="en-US" dirty="0"/>
          </a:p>
          <a:p>
            <a:pPr>
              <a:buNone/>
            </a:pPr>
            <a:r>
              <a:rPr lang="zh-TW" altLang="en-US" dirty="0"/>
              <a:t>簡單來說，這兩套工具各有特色，可以理解為 </a:t>
            </a:r>
            <a:r>
              <a:rPr lang="en-US" altLang="zh-TW" b="1" dirty="0"/>
              <a:t>PADS Professional</a:t>
            </a:r>
            <a:r>
              <a:rPr lang="zh-TW" altLang="en-US" dirty="0"/>
              <a:t> 是 </a:t>
            </a:r>
            <a:r>
              <a:rPr lang="en-US" altLang="zh-TW" b="1" dirty="0"/>
              <a:t>Xpedition</a:t>
            </a:r>
            <a:r>
              <a:rPr lang="zh-TW" altLang="en-US" dirty="0"/>
              <a:t> 的簡化版。</a:t>
            </a:r>
            <a:br>
              <a:rPr lang="zh-TW" altLang="en-US" dirty="0"/>
            </a:br>
            <a:r>
              <a:rPr lang="en-US" altLang="zh-TW" b="1" dirty="0"/>
              <a:t>PADS Professional</a:t>
            </a:r>
            <a:r>
              <a:rPr lang="zh-TW" altLang="en-US" dirty="0"/>
              <a:t> 是一款針對中小型團隊設計的高性價比工具，它提供了</a:t>
            </a:r>
            <a:r>
              <a:rPr lang="en-US" altLang="zh-TW" dirty="0"/>
              <a:t>PCB</a:t>
            </a:r>
            <a:r>
              <a:rPr lang="zh-TW" altLang="en-US" dirty="0"/>
              <a:t>設計所需的基本功能，包括規則檢查和製造驗證，非常適合資源有限的團隊使用。</a:t>
            </a:r>
          </a:p>
          <a:p>
            <a:r>
              <a:rPr lang="zh-TW" altLang="en-US" dirty="0"/>
              <a:t>相比之下，</a:t>
            </a:r>
            <a:r>
              <a:rPr lang="en-US" altLang="zh-TW" b="1" dirty="0"/>
              <a:t>Xpedition</a:t>
            </a:r>
            <a:r>
              <a:rPr lang="zh-TW" altLang="en-US" dirty="0"/>
              <a:t> 則是針對大型團隊和企業級開發的高效能設計平台。它不僅支援多人並行設計，還能與 </a:t>
            </a:r>
            <a:r>
              <a:rPr lang="en-US" altLang="zh-TW" b="1" dirty="0"/>
              <a:t>NX</a:t>
            </a:r>
            <a:r>
              <a:rPr lang="zh-TW" altLang="en-US" dirty="0"/>
              <a:t> 無縫協作，非常適合進行機構與電子協同設計。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因此，我們最推薦客戶選擇 </a:t>
            </a:r>
            <a:r>
              <a:rPr lang="en-US" altLang="zh-TW" b="1" dirty="0"/>
              <a:t>Xpedition</a:t>
            </a:r>
            <a:r>
              <a:rPr lang="zh-TW" altLang="en-US" dirty="0"/>
              <a:t> 作為最終設計工具，它能提供更強大的協作與設計效率。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6512427-723E-E4B1-BEC3-18EF1EF860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33E784-885E-4089-99D9-2A469707866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3638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DFA354-217E-A40F-35CD-E90308DD0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3203B34-C820-8F65-5FE7-3739DE4C7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AC8CDE-2622-A605-751F-17460FAED4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82F5AE-C4B9-496B-ABCC-C00B1369A913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BCA71C1-FF9C-02C7-8678-A3E1E44D1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C0672F-9C9C-F9D2-D48D-382BAC51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A252DA-4888-4462-8388-83139C6854D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2749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E5F6B2-0341-EC59-4B10-DF87C267B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A56EAC8-EF5B-43F4-F1B7-5F21E00644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82F5AE-C4B9-496B-ABCC-C00B1369A913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21F4065-35A7-60CC-1C9E-D0E9FC8C0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24CC06A-82EE-523C-38F5-96CC1A6D5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A252DA-4888-4462-8388-83139C6854D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145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4316767-51FE-7D8A-B53A-A15D4188EE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82F5AE-C4B9-496B-ABCC-C00B1369A913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CD9ADF9-C1DD-564E-CB96-DB83EB0A8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FFFF929-5FF4-DD32-92A8-AAA036181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A252DA-4888-4462-8388-83139C6854D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1833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0D9089F1-F836-2D67-5C21-4F0DAF6CDF70}"/>
              </a:ext>
            </a:extLst>
          </p:cNvPr>
          <p:cNvSpPr txBox="1"/>
          <p:nvPr userDrawn="1"/>
        </p:nvSpPr>
        <p:spPr>
          <a:xfrm>
            <a:off x="3440317" y="5307964"/>
            <a:ext cx="11216043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500" dirty="0">
                <a:solidFill>
                  <a:srgbClr val="F5F5F5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EDA SOLUTIO</a:t>
            </a:r>
            <a:endParaRPr lang="en-US" altLang="zh-TW" sz="11500" i="0" dirty="0">
              <a:solidFill>
                <a:srgbClr val="F5F5F5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4DA4123-ACB3-CF0D-CDAF-CEDAB7635061}"/>
              </a:ext>
            </a:extLst>
          </p:cNvPr>
          <p:cNvSpPr txBox="1"/>
          <p:nvPr userDrawn="1"/>
        </p:nvSpPr>
        <p:spPr>
          <a:xfrm>
            <a:off x="7387628" y="6274467"/>
            <a:ext cx="53363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dirty="0">
                <a:solidFill>
                  <a:srgbClr val="009E9A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EDA SOLUTION</a:t>
            </a:r>
            <a:endParaRPr lang="en-US" altLang="zh-TW" sz="4800" i="0" dirty="0">
              <a:solidFill>
                <a:srgbClr val="009E9A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643705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E610AF97-3C87-2D94-2492-580DA60F67B3}"/>
              </a:ext>
            </a:extLst>
          </p:cNvPr>
          <p:cNvSpPr txBox="1"/>
          <p:nvPr userDrawn="1"/>
        </p:nvSpPr>
        <p:spPr>
          <a:xfrm>
            <a:off x="1933575" y="5307964"/>
            <a:ext cx="12722785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500" dirty="0">
                <a:solidFill>
                  <a:srgbClr val="F5F5F5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MCAD SOLUTIO</a:t>
            </a:r>
            <a:endParaRPr lang="en-US" altLang="zh-TW" sz="11500" i="0" dirty="0">
              <a:solidFill>
                <a:srgbClr val="F5F5F5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2B8E6F8-0252-7B77-F22C-89F7DCB52678}"/>
              </a:ext>
            </a:extLst>
          </p:cNvPr>
          <p:cNvSpPr txBox="1"/>
          <p:nvPr userDrawn="1"/>
        </p:nvSpPr>
        <p:spPr>
          <a:xfrm>
            <a:off x="6772275" y="6274467"/>
            <a:ext cx="59517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dirty="0">
                <a:solidFill>
                  <a:srgbClr val="009E9A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MCAD SOLUTION</a:t>
            </a:r>
            <a:endParaRPr lang="en-US" altLang="zh-TW" sz="4800" i="0" dirty="0">
              <a:solidFill>
                <a:srgbClr val="009E9A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465553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198C13-CFBB-F6D1-4F7E-B01552046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8725"/>
            <a:ext cx="10515600" cy="698364"/>
          </a:xfrm>
        </p:spPr>
        <p:txBody>
          <a:bodyPr>
            <a:normAutofit/>
          </a:bodyPr>
          <a:lstStyle>
            <a:lvl1pPr>
              <a:defRPr lang="zh-TW" altLang="en-US" sz="2400" b="1" kern="1200" dirty="0"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6F5043-94BE-F6C3-7142-C25D214F5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54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1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01403B9-03C8-64D4-8A3E-212F3EC6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157E5A-5168-4071-B0F6-D0075989671B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80980C-A902-4CC6-C248-2E38B5D27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4A15AD-66D1-B2A9-894F-3012A16A8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D656B9-3ED3-4B64-94D1-0F1477E545B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6175005-4170-20E6-56F0-A11D202F6075}"/>
              </a:ext>
            </a:extLst>
          </p:cNvPr>
          <p:cNvSpPr/>
          <p:nvPr userDrawn="1"/>
        </p:nvSpPr>
        <p:spPr>
          <a:xfrm>
            <a:off x="0" y="883331"/>
            <a:ext cx="711200" cy="261257"/>
          </a:xfrm>
          <a:prstGeom prst="rect">
            <a:avLst/>
          </a:prstGeom>
          <a:gradFill flip="none" rotWithShape="1">
            <a:gsLst>
              <a:gs pos="0">
                <a:srgbClr val="6BEBC8"/>
              </a:gs>
              <a:gs pos="50000">
                <a:srgbClr val="66E6C3"/>
              </a:gs>
              <a:gs pos="100000">
                <a:srgbClr val="66E6C3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 altLang="en-US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52A3A1FB-3DE6-F648-844E-D056831A75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040" y="238004"/>
            <a:ext cx="3916320" cy="443033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8709A6D2-9916-F1E7-E9D4-4FD0301F3A90}"/>
              </a:ext>
            </a:extLst>
          </p:cNvPr>
          <p:cNvSpPr txBox="1"/>
          <p:nvPr userDrawn="1"/>
        </p:nvSpPr>
        <p:spPr>
          <a:xfrm>
            <a:off x="3440317" y="5307964"/>
            <a:ext cx="11216043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500" dirty="0">
                <a:solidFill>
                  <a:srgbClr val="F5F5F5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EDA SOLUTIO</a:t>
            </a:r>
            <a:endParaRPr lang="en-US" altLang="zh-TW" sz="11500" i="0" dirty="0">
              <a:solidFill>
                <a:srgbClr val="F5F5F5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869AB31-0BF6-7DB0-150A-072B11252231}"/>
              </a:ext>
            </a:extLst>
          </p:cNvPr>
          <p:cNvSpPr txBox="1"/>
          <p:nvPr userDrawn="1"/>
        </p:nvSpPr>
        <p:spPr>
          <a:xfrm>
            <a:off x="7387628" y="6274467"/>
            <a:ext cx="53363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dirty="0">
                <a:solidFill>
                  <a:srgbClr val="009E9A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EDA SOLUTION</a:t>
            </a:r>
            <a:endParaRPr lang="en-US" altLang="zh-TW" sz="4800" i="0" dirty="0">
              <a:solidFill>
                <a:srgbClr val="009E9A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966597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1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198C13-CFBB-F6D1-4F7E-B01552046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8725"/>
            <a:ext cx="10515600" cy="698364"/>
          </a:xfrm>
        </p:spPr>
        <p:txBody>
          <a:bodyPr>
            <a:normAutofit/>
          </a:bodyPr>
          <a:lstStyle>
            <a:lvl1pPr>
              <a:defRPr lang="zh-TW" altLang="en-US" sz="2400" b="1" kern="1200" dirty="0"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6F5043-94BE-F6C3-7142-C25D214F5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54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1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01403B9-03C8-64D4-8A3E-212F3EC6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157E5A-5168-4071-B0F6-D0075989671B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80980C-A902-4CC6-C248-2E38B5D27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4A15AD-66D1-B2A9-894F-3012A16A8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D656B9-3ED3-4B64-94D1-0F1477E545B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6175005-4170-20E6-56F0-A11D202F6075}"/>
              </a:ext>
            </a:extLst>
          </p:cNvPr>
          <p:cNvSpPr/>
          <p:nvPr userDrawn="1"/>
        </p:nvSpPr>
        <p:spPr>
          <a:xfrm>
            <a:off x="0" y="883331"/>
            <a:ext cx="711200" cy="261257"/>
          </a:xfrm>
          <a:prstGeom prst="rect">
            <a:avLst/>
          </a:prstGeom>
          <a:gradFill flip="none" rotWithShape="1">
            <a:gsLst>
              <a:gs pos="0">
                <a:srgbClr val="6BEBC8"/>
              </a:gs>
              <a:gs pos="50000">
                <a:srgbClr val="66E6C3"/>
              </a:gs>
              <a:gs pos="100000">
                <a:srgbClr val="66E6C3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 altLang="en-US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52A3A1FB-3DE6-F648-844E-D056831A75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040" y="238004"/>
            <a:ext cx="3916320" cy="443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733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9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198C13-CFBB-F6D1-4F7E-B01552046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8725"/>
            <a:ext cx="10515600" cy="698364"/>
          </a:xfrm>
        </p:spPr>
        <p:txBody>
          <a:bodyPr>
            <a:normAutofit/>
          </a:bodyPr>
          <a:lstStyle>
            <a:lvl1pPr>
              <a:defRPr lang="zh-TW" altLang="en-US" sz="2400" b="1" kern="1200" dirty="0"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6F5043-94BE-F6C3-7142-C25D214F5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54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1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01403B9-03C8-64D4-8A3E-212F3EC6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157E5A-5168-4071-B0F6-D0075989671B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80980C-A902-4CC6-C248-2E38B5D27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4A15AD-66D1-B2A9-894F-3012A16A8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D656B9-3ED3-4B64-94D1-0F1477E545B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6175005-4170-20E6-56F0-A11D202F6075}"/>
              </a:ext>
            </a:extLst>
          </p:cNvPr>
          <p:cNvSpPr/>
          <p:nvPr userDrawn="1"/>
        </p:nvSpPr>
        <p:spPr>
          <a:xfrm>
            <a:off x="0" y="883331"/>
            <a:ext cx="711200" cy="261257"/>
          </a:xfrm>
          <a:prstGeom prst="rect">
            <a:avLst/>
          </a:prstGeom>
          <a:gradFill flip="none" rotWithShape="1">
            <a:gsLst>
              <a:gs pos="0">
                <a:srgbClr val="6BEBC8"/>
              </a:gs>
              <a:gs pos="50000">
                <a:srgbClr val="66E6C3"/>
              </a:gs>
              <a:gs pos="100000">
                <a:srgbClr val="66E6C3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 altLang="en-US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52A3A1FB-3DE6-F648-844E-D056831A75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040" y="238004"/>
            <a:ext cx="3916320" cy="443033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8709A6D2-9916-F1E7-E9D4-4FD0301F3A90}"/>
              </a:ext>
            </a:extLst>
          </p:cNvPr>
          <p:cNvSpPr txBox="1"/>
          <p:nvPr userDrawn="1"/>
        </p:nvSpPr>
        <p:spPr>
          <a:xfrm>
            <a:off x="3440317" y="5307964"/>
            <a:ext cx="11216043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500" dirty="0">
                <a:solidFill>
                  <a:srgbClr val="F5F5F5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CAE SOLUTIO</a:t>
            </a:r>
            <a:endParaRPr lang="en-US" altLang="zh-TW" sz="11500" i="0" dirty="0">
              <a:solidFill>
                <a:srgbClr val="F5F5F5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869AB31-0BF6-7DB0-150A-072B11252231}"/>
              </a:ext>
            </a:extLst>
          </p:cNvPr>
          <p:cNvSpPr txBox="1"/>
          <p:nvPr userDrawn="1"/>
        </p:nvSpPr>
        <p:spPr>
          <a:xfrm>
            <a:off x="7387628" y="6274467"/>
            <a:ext cx="53363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dirty="0">
                <a:solidFill>
                  <a:srgbClr val="009E9A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CAE SOLUTION</a:t>
            </a:r>
            <a:endParaRPr lang="en-US" altLang="zh-TW" sz="4800" i="0" dirty="0">
              <a:solidFill>
                <a:srgbClr val="009E9A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354518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16175005-4170-20E6-56F0-A11D202F6075}"/>
              </a:ext>
            </a:extLst>
          </p:cNvPr>
          <p:cNvSpPr/>
          <p:nvPr userDrawn="1"/>
        </p:nvSpPr>
        <p:spPr>
          <a:xfrm>
            <a:off x="0" y="883331"/>
            <a:ext cx="711200" cy="261257"/>
          </a:xfrm>
          <a:prstGeom prst="rect">
            <a:avLst/>
          </a:prstGeom>
          <a:gradFill flip="none" rotWithShape="1">
            <a:gsLst>
              <a:gs pos="0">
                <a:srgbClr val="6BEBC8"/>
              </a:gs>
              <a:gs pos="50000">
                <a:srgbClr val="66E6C3"/>
              </a:gs>
              <a:gs pos="100000">
                <a:srgbClr val="66E6C3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 altLang="en-US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52A3A1FB-3DE6-F648-844E-D056831A75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040" y="238004"/>
            <a:ext cx="3916320" cy="443033"/>
          </a:xfrm>
          <a:prstGeom prst="rect">
            <a:avLst/>
          </a:prstGeom>
        </p:spPr>
      </p:pic>
      <p:sp>
        <p:nvSpPr>
          <p:cNvPr id="3" name="標題 1">
            <a:extLst>
              <a:ext uri="{FF2B5EF4-FFF2-40B4-BE49-F238E27FC236}">
                <a16:creationId xmlns:a16="http://schemas.microsoft.com/office/drawing/2014/main" id="{174FA1DB-9F12-F733-95FF-175F26B01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8725"/>
            <a:ext cx="10515600" cy="698364"/>
          </a:xfrm>
        </p:spPr>
        <p:txBody>
          <a:bodyPr>
            <a:normAutofit/>
          </a:bodyPr>
          <a:lstStyle>
            <a:lvl1pPr>
              <a:defRPr lang="zh-TW" altLang="en-US" sz="2400" b="1" kern="1200" dirty="0"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253F045-1EC5-4AC1-4DCA-CB5101C52660}"/>
              </a:ext>
            </a:extLst>
          </p:cNvPr>
          <p:cNvSpPr txBox="1"/>
          <p:nvPr userDrawn="1"/>
        </p:nvSpPr>
        <p:spPr>
          <a:xfrm>
            <a:off x="3440317" y="5307964"/>
            <a:ext cx="11216043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500" dirty="0">
                <a:solidFill>
                  <a:srgbClr val="F5F5F5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EDA SOLUTIO</a:t>
            </a:r>
            <a:endParaRPr lang="en-US" altLang="zh-TW" sz="11500" i="0" dirty="0">
              <a:solidFill>
                <a:srgbClr val="F5F5F5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86476E8-0474-BE50-1B77-009EA9E19D15}"/>
              </a:ext>
            </a:extLst>
          </p:cNvPr>
          <p:cNvSpPr txBox="1"/>
          <p:nvPr userDrawn="1"/>
        </p:nvSpPr>
        <p:spPr>
          <a:xfrm>
            <a:off x="7387628" y="6274467"/>
            <a:ext cx="53363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dirty="0">
                <a:solidFill>
                  <a:srgbClr val="009E9A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EDA SOLUTION</a:t>
            </a:r>
            <a:endParaRPr lang="en-US" altLang="zh-TW" sz="4800" i="0" dirty="0">
              <a:solidFill>
                <a:srgbClr val="009E9A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978362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16175005-4170-20E6-56F0-A11D202F6075}"/>
              </a:ext>
            </a:extLst>
          </p:cNvPr>
          <p:cNvSpPr/>
          <p:nvPr userDrawn="1"/>
        </p:nvSpPr>
        <p:spPr>
          <a:xfrm>
            <a:off x="0" y="883331"/>
            <a:ext cx="711200" cy="261257"/>
          </a:xfrm>
          <a:prstGeom prst="rect">
            <a:avLst/>
          </a:prstGeom>
          <a:gradFill flip="none" rotWithShape="1">
            <a:gsLst>
              <a:gs pos="0">
                <a:srgbClr val="6BEBC8"/>
              </a:gs>
              <a:gs pos="50000">
                <a:srgbClr val="66E6C3"/>
              </a:gs>
              <a:gs pos="100000">
                <a:srgbClr val="66E6C3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 altLang="en-US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52A3A1FB-3DE6-F648-844E-D056831A75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040" y="238004"/>
            <a:ext cx="3916320" cy="443033"/>
          </a:xfrm>
          <a:prstGeom prst="rect">
            <a:avLst/>
          </a:prstGeom>
        </p:spPr>
      </p:pic>
      <p:sp>
        <p:nvSpPr>
          <p:cNvPr id="3" name="標題 1">
            <a:extLst>
              <a:ext uri="{FF2B5EF4-FFF2-40B4-BE49-F238E27FC236}">
                <a16:creationId xmlns:a16="http://schemas.microsoft.com/office/drawing/2014/main" id="{174FA1DB-9F12-F733-95FF-175F26B01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8725"/>
            <a:ext cx="10515600" cy="698364"/>
          </a:xfrm>
        </p:spPr>
        <p:txBody>
          <a:bodyPr>
            <a:normAutofit/>
          </a:bodyPr>
          <a:lstStyle>
            <a:lvl1pPr>
              <a:defRPr lang="zh-TW" altLang="en-US" sz="2400" b="1" kern="1200" dirty="0"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253F045-1EC5-4AC1-4DCA-CB5101C52660}"/>
              </a:ext>
            </a:extLst>
          </p:cNvPr>
          <p:cNvSpPr txBox="1"/>
          <p:nvPr userDrawn="1"/>
        </p:nvSpPr>
        <p:spPr>
          <a:xfrm>
            <a:off x="3440317" y="5307964"/>
            <a:ext cx="11216043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500" dirty="0">
                <a:solidFill>
                  <a:srgbClr val="F5F5F5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CAE SOLUTIO</a:t>
            </a:r>
            <a:endParaRPr lang="en-US" altLang="zh-TW" sz="11500" i="0" dirty="0">
              <a:solidFill>
                <a:srgbClr val="F5F5F5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86476E8-0474-BE50-1B77-009EA9E19D15}"/>
              </a:ext>
            </a:extLst>
          </p:cNvPr>
          <p:cNvSpPr txBox="1"/>
          <p:nvPr userDrawn="1"/>
        </p:nvSpPr>
        <p:spPr>
          <a:xfrm>
            <a:off x="7387628" y="6274467"/>
            <a:ext cx="53363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dirty="0">
                <a:solidFill>
                  <a:srgbClr val="009E9A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CAE SOLUTION</a:t>
            </a:r>
            <a:endParaRPr lang="en-US" altLang="zh-TW" sz="4800" i="0" dirty="0">
              <a:solidFill>
                <a:srgbClr val="009E9A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720008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16175005-4170-20E6-56F0-A11D202F6075}"/>
              </a:ext>
            </a:extLst>
          </p:cNvPr>
          <p:cNvSpPr/>
          <p:nvPr userDrawn="1"/>
        </p:nvSpPr>
        <p:spPr>
          <a:xfrm>
            <a:off x="0" y="883331"/>
            <a:ext cx="711200" cy="261257"/>
          </a:xfrm>
          <a:prstGeom prst="rect">
            <a:avLst/>
          </a:prstGeom>
          <a:gradFill flip="none" rotWithShape="1">
            <a:gsLst>
              <a:gs pos="0">
                <a:srgbClr val="6BEBC8"/>
              </a:gs>
              <a:gs pos="50000">
                <a:srgbClr val="66E6C3"/>
              </a:gs>
              <a:gs pos="100000">
                <a:srgbClr val="66E6C3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 altLang="en-US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52A3A1FB-3DE6-F648-844E-D056831A75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040" y="238004"/>
            <a:ext cx="3916320" cy="443033"/>
          </a:xfrm>
          <a:prstGeom prst="rect">
            <a:avLst/>
          </a:prstGeom>
        </p:spPr>
      </p:pic>
      <p:sp>
        <p:nvSpPr>
          <p:cNvPr id="3" name="標題 1">
            <a:extLst>
              <a:ext uri="{FF2B5EF4-FFF2-40B4-BE49-F238E27FC236}">
                <a16:creationId xmlns:a16="http://schemas.microsoft.com/office/drawing/2014/main" id="{174FA1DB-9F12-F733-95FF-175F26B01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8725"/>
            <a:ext cx="10515600" cy="698364"/>
          </a:xfrm>
        </p:spPr>
        <p:txBody>
          <a:bodyPr>
            <a:normAutofit/>
          </a:bodyPr>
          <a:lstStyle>
            <a:lvl1pPr>
              <a:defRPr lang="zh-TW" altLang="en-US" sz="2400" b="1" kern="1200" dirty="0"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2639713-B01B-0A3C-0813-BFD5EB874F12}"/>
              </a:ext>
            </a:extLst>
          </p:cNvPr>
          <p:cNvSpPr txBox="1"/>
          <p:nvPr userDrawn="1"/>
        </p:nvSpPr>
        <p:spPr>
          <a:xfrm>
            <a:off x="1933575" y="5307964"/>
            <a:ext cx="12722785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500" dirty="0">
                <a:solidFill>
                  <a:srgbClr val="F5F5F5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MCAD SOLUTIO</a:t>
            </a:r>
            <a:endParaRPr lang="en-US" altLang="zh-TW" sz="11500" i="0" dirty="0">
              <a:solidFill>
                <a:srgbClr val="F5F5F5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2197081-E9AE-6C72-2B45-447BF3CFB32C}"/>
              </a:ext>
            </a:extLst>
          </p:cNvPr>
          <p:cNvSpPr txBox="1"/>
          <p:nvPr userDrawn="1"/>
        </p:nvSpPr>
        <p:spPr>
          <a:xfrm>
            <a:off x="6772275" y="6274467"/>
            <a:ext cx="59517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dirty="0">
                <a:solidFill>
                  <a:srgbClr val="009E9A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MCAD SOLUTION</a:t>
            </a:r>
            <a:endParaRPr lang="en-US" altLang="zh-TW" sz="4800" i="0" dirty="0">
              <a:solidFill>
                <a:srgbClr val="009E9A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35498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C6539E7-23E5-06D4-FE43-4FFACFF4252B}"/>
              </a:ext>
            </a:extLst>
          </p:cNvPr>
          <p:cNvSpPr/>
          <p:nvPr userDrawn="1"/>
        </p:nvSpPr>
        <p:spPr>
          <a:xfrm rot="5400000">
            <a:off x="5715819" y="381819"/>
            <a:ext cx="6856362" cy="6096000"/>
          </a:xfrm>
          <a:prstGeom prst="rect">
            <a:avLst/>
          </a:prstGeom>
          <a:solidFill>
            <a:srgbClr val="37415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52A3A1FB-3DE6-F648-844E-D056831A75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20"/>
          <a:stretch/>
        </p:blipFill>
        <p:spPr>
          <a:xfrm>
            <a:off x="8974930" y="238004"/>
            <a:ext cx="2787629" cy="443033"/>
          </a:xfrm>
          <a:prstGeom prst="rect">
            <a:avLst/>
          </a:prstGeom>
        </p:spPr>
      </p:pic>
      <p:sp>
        <p:nvSpPr>
          <p:cNvPr id="3" name="標題 1">
            <a:extLst>
              <a:ext uri="{FF2B5EF4-FFF2-40B4-BE49-F238E27FC236}">
                <a16:creationId xmlns:a16="http://schemas.microsoft.com/office/drawing/2014/main" id="{174FA1DB-9F12-F733-95FF-175F26B01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8521" y="678724"/>
            <a:ext cx="5253480" cy="698364"/>
          </a:xfrm>
        </p:spPr>
        <p:txBody>
          <a:bodyPr>
            <a:normAutofit/>
          </a:bodyPr>
          <a:lstStyle>
            <a:lvl1pPr>
              <a:defRPr lang="zh-TW" altLang="en-US" sz="2400" b="1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箭號: 五邊形 3">
            <a:extLst>
              <a:ext uri="{FF2B5EF4-FFF2-40B4-BE49-F238E27FC236}">
                <a16:creationId xmlns:a16="http://schemas.microsoft.com/office/drawing/2014/main" id="{BCBCFD01-6A4F-463F-715D-3A1F7E72EBDD}"/>
              </a:ext>
            </a:extLst>
          </p:cNvPr>
          <p:cNvSpPr/>
          <p:nvPr userDrawn="1"/>
        </p:nvSpPr>
        <p:spPr>
          <a:xfrm>
            <a:off x="3886200" y="762000"/>
            <a:ext cx="3048094" cy="531812"/>
          </a:xfrm>
          <a:prstGeom prst="homePlate">
            <a:avLst/>
          </a:prstGeom>
          <a:gradFill flip="none" rotWithShape="1">
            <a:gsLst>
              <a:gs pos="0">
                <a:srgbClr val="6BEBC8"/>
              </a:gs>
              <a:gs pos="50000">
                <a:srgbClr val="66E6C3"/>
              </a:gs>
              <a:gs pos="100000">
                <a:srgbClr val="66E6C3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0" rIns="4140000" bIns="360000" rtlCol="0" anchor="b"/>
          <a:lstStyle/>
          <a:p>
            <a:endParaRPr lang="en-US" altLang="zh-TW" sz="1400" dirty="0">
              <a:solidFill>
                <a:schemeClr val="bg1"/>
              </a:solidFill>
            </a:endParaRPr>
          </a:p>
        </p:txBody>
      </p:sp>
      <p:sp>
        <p:nvSpPr>
          <p:cNvPr id="21" name="文字版面配置區 20">
            <a:extLst>
              <a:ext uri="{FF2B5EF4-FFF2-40B4-BE49-F238E27FC236}">
                <a16:creationId xmlns:a16="http://schemas.microsoft.com/office/drawing/2014/main" id="{E9A63667-28BA-1D6A-A900-ECF7257204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71925" y="678706"/>
            <a:ext cx="4286250" cy="698400"/>
          </a:xfrm>
        </p:spPr>
        <p:txBody>
          <a:bodyPr anchor="ctr"/>
          <a:lstStyle>
            <a:lvl1pPr marL="0" indent="0">
              <a:buNone/>
              <a:defRPr lang="zh-TW" altLang="en-US" sz="2400" b="1" kern="1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  <a:lvl2pPr marL="457200" indent="0">
              <a:buNone/>
              <a:defRPr lang="zh-TW" altLang="en-US" sz="2400" b="1" kern="1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2pPr>
            <a:lvl3pPr marL="914400" indent="0">
              <a:buNone/>
              <a:defRPr lang="zh-TW" altLang="en-US" sz="2400" b="1" kern="1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3pPr>
            <a:lvl4pPr marL="1371600" indent="0">
              <a:buNone/>
              <a:defRPr lang="zh-TW" altLang="en-US" sz="2400" b="1" kern="1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4pPr>
            <a:lvl5pPr marL="1828800" indent="0">
              <a:buNone/>
              <a:defRPr lang="zh-TW" altLang="en-US" sz="2400" b="1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24" name="內容版面配置區 2">
            <a:extLst>
              <a:ext uri="{FF2B5EF4-FFF2-40B4-BE49-F238E27FC236}">
                <a16:creationId xmlns:a16="http://schemas.microsoft.com/office/drawing/2014/main" id="{5CB9C038-D960-CF36-B52B-10A3BD9C0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2135" y="1495425"/>
            <a:ext cx="5075339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18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16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25" name="內容版面配置區 2">
            <a:extLst>
              <a:ext uri="{FF2B5EF4-FFF2-40B4-BE49-F238E27FC236}">
                <a16:creationId xmlns:a16="http://schemas.microsoft.com/office/drawing/2014/main" id="{630FF32B-2265-A4A1-EEDA-072721C8DCA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99143" y="1495425"/>
            <a:ext cx="5075339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18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16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513CA549-9169-D18F-27E1-86749A2ED2DE}"/>
              </a:ext>
            </a:extLst>
          </p:cNvPr>
          <p:cNvCxnSpPr>
            <a:cxnSpLocks/>
          </p:cNvCxnSpPr>
          <p:nvPr userDrawn="1"/>
        </p:nvCxnSpPr>
        <p:spPr>
          <a:xfrm flipH="1">
            <a:off x="-2776" y="1281308"/>
            <a:ext cx="3780000" cy="0"/>
          </a:xfrm>
          <a:prstGeom prst="line">
            <a:avLst/>
          </a:prstGeom>
          <a:noFill/>
          <a:ln w="25400">
            <a:solidFill>
              <a:srgbClr val="7FFFD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966388EC-FC2A-6E94-2280-4860B84351F3}"/>
              </a:ext>
            </a:extLst>
          </p:cNvPr>
          <p:cNvSpPr txBox="1"/>
          <p:nvPr userDrawn="1"/>
        </p:nvSpPr>
        <p:spPr>
          <a:xfrm>
            <a:off x="7860505" y="359207"/>
            <a:ext cx="11501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大塚資訊集團</a:t>
            </a:r>
          </a:p>
        </p:txBody>
      </p: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9A47106E-083B-5C9F-5D90-B37C2A6CD4FA}"/>
              </a:ext>
            </a:extLst>
          </p:cNvPr>
          <p:cNvCxnSpPr>
            <a:cxnSpLocks/>
          </p:cNvCxnSpPr>
          <p:nvPr userDrawn="1"/>
        </p:nvCxnSpPr>
        <p:spPr>
          <a:xfrm flipH="1">
            <a:off x="6934294" y="1281308"/>
            <a:ext cx="3780000" cy="0"/>
          </a:xfrm>
          <a:prstGeom prst="line">
            <a:avLst/>
          </a:prstGeom>
          <a:noFill/>
          <a:ln w="254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8316107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C6539E7-23E5-06D4-FE43-4FFACFF4252B}"/>
              </a:ext>
            </a:extLst>
          </p:cNvPr>
          <p:cNvSpPr/>
          <p:nvPr userDrawn="1"/>
        </p:nvSpPr>
        <p:spPr>
          <a:xfrm rot="5400000">
            <a:off x="5715819" y="381819"/>
            <a:ext cx="6856362" cy="6096000"/>
          </a:xfrm>
          <a:prstGeom prst="rect">
            <a:avLst/>
          </a:prstGeom>
          <a:solidFill>
            <a:srgbClr val="37415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52A3A1FB-3DE6-F648-844E-D056831A75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20"/>
          <a:stretch/>
        </p:blipFill>
        <p:spPr>
          <a:xfrm>
            <a:off x="8974930" y="238004"/>
            <a:ext cx="2787629" cy="443033"/>
          </a:xfrm>
          <a:prstGeom prst="rect">
            <a:avLst/>
          </a:prstGeom>
        </p:spPr>
      </p:pic>
      <p:sp>
        <p:nvSpPr>
          <p:cNvPr id="3" name="標題 1">
            <a:extLst>
              <a:ext uri="{FF2B5EF4-FFF2-40B4-BE49-F238E27FC236}">
                <a16:creationId xmlns:a16="http://schemas.microsoft.com/office/drawing/2014/main" id="{174FA1DB-9F12-F733-95FF-175F26B01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8521" y="678724"/>
            <a:ext cx="5253480" cy="698364"/>
          </a:xfrm>
        </p:spPr>
        <p:txBody>
          <a:bodyPr>
            <a:normAutofit/>
          </a:bodyPr>
          <a:lstStyle>
            <a:lvl1pPr>
              <a:defRPr lang="zh-TW" altLang="en-US" sz="2400" b="1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箭號: 五邊形 3">
            <a:extLst>
              <a:ext uri="{FF2B5EF4-FFF2-40B4-BE49-F238E27FC236}">
                <a16:creationId xmlns:a16="http://schemas.microsoft.com/office/drawing/2014/main" id="{BCBCFD01-6A4F-463F-715D-3A1F7E72EBDD}"/>
              </a:ext>
            </a:extLst>
          </p:cNvPr>
          <p:cNvSpPr/>
          <p:nvPr userDrawn="1"/>
        </p:nvSpPr>
        <p:spPr>
          <a:xfrm>
            <a:off x="3886200" y="762000"/>
            <a:ext cx="3048094" cy="531812"/>
          </a:xfrm>
          <a:prstGeom prst="homePlate">
            <a:avLst/>
          </a:prstGeom>
          <a:gradFill flip="none" rotWithShape="1">
            <a:gsLst>
              <a:gs pos="0">
                <a:srgbClr val="6BEBC8"/>
              </a:gs>
              <a:gs pos="50000">
                <a:srgbClr val="66E6C3"/>
              </a:gs>
              <a:gs pos="100000">
                <a:srgbClr val="66E6C3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0" rIns="4140000" bIns="360000" rtlCol="0" anchor="b"/>
          <a:lstStyle/>
          <a:p>
            <a:endParaRPr lang="en-US" altLang="zh-TW" sz="1400" dirty="0">
              <a:solidFill>
                <a:schemeClr val="bg1"/>
              </a:solidFill>
            </a:endParaRPr>
          </a:p>
        </p:txBody>
      </p:sp>
      <p:sp>
        <p:nvSpPr>
          <p:cNvPr id="21" name="文字版面配置區 20">
            <a:extLst>
              <a:ext uri="{FF2B5EF4-FFF2-40B4-BE49-F238E27FC236}">
                <a16:creationId xmlns:a16="http://schemas.microsoft.com/office/drawing/2014/main" id="{E9A63667-28BA-1D6A-A900-ECF7257204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71925" y="678706"/>
            <a:ext cx="4286250" cy="698400"/>
          </a:xfrm>
        </p:spPr>
        <p:txBody>
          <a:bodyPr anchor="ctr"/>
          <a:lstStyle>
            <a:lvl1pPr marL="0" indent="0">
              <a:buNone/>
              <a:defRPr lang="zh-TW" altLang="en-US" sz="2400" b="1" kern="1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  <a:lvl2pPr marL="457200" indent="0">
              <a:buNone/>
              <a:defRPr lang="zh-TW" altLang="en-US" sz="2400" b="1" kern="1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2pPr>
            <a:lvl3pPr marL="914400" indent="0">
              <a:buNone/>
              <a:defRPr lang="zh-TW" altLang="en-US" sz="2400" b="1" kern="1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3pPr>
            <a:lvl4pPr marL="1371600" indent="0">
              <a:buNone/>
              <a:defRPr lang="zh-TW" altLang="en-US" sz="2400" b="1" kern="1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4pPr>
            <a:lvl5pPr marL="1828800" indent="0">
              <a:buNone/>
              <a:defRPr lang="zh-TW" altLang="en-US" sz="2400" b="1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24" name="內容版面配置區 2">
            <a:extLst>
              <a:ext uri="{FF2B5EF4-FFF2-40B4-BE49-F238E27FC236}">
                <a16:creationId xmlns:a16="http://schemas.microsoft.com/office/drawing/2014/main" id="{5CB9C038-D960-CF36-B52B-10A3BD9C0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2135" y="1495425"/>
            <a:ext cx="5075339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18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16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25" name="內容版面配置區 2">
            <a:extLst>
              <a:ext uri="{FF2B5EF4-FFF2-40B4-BE49-F238E27FC236}">
                <a16:creationId xmlns:a16="http://schemas.microsoft.com/office/drawing/2014/main" id="{630FF32B-2265-A4A1-EEDA-072721C8DCA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99143" y="1495425"/>
            <a:ext cx="5075339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18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16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513CA549-9169-D18F-27E1-86749A2ED2DE}"/>
              </a:ext>
            </a:extLst>
          </p:cNvPr>
          <p:cNvCxnSpPr>
            <a:cxnSpLocks/>
          </p:cNvCxnSpPr>
          <p:nvPr userDrawn="1"/>
        </p:nvCxnSpPr>
        <p:spPr>
          <a:xfrm flipH="1">
            <a:off x="-2776" y="1281308"/>
            <a:ext cx="3780000" cy="0"/>
          </a:xfrm>
          <a:prstGeom prst="line">
            <a:avLst/>
          </a:prstGeom>
          <a:noFill/>
          <a:ln w="25400">
            <a:solidFill>
              <a:srgbClr val="7FFFD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966388EC-FC2A-6E94-2280-4860B84351F3}"/>
              </a:ext>
            </a:extLst>
          </p:cNvPr>
          <p:cNvSpPr txBox="1"/>
          <p:nvPr userDrawn="1"/>
        </p:nvSpPr>
        <p:spPr>
          <a:xfrm>
            <a:off x="7860505" y="359207"/>
            <a:ext cx="11501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大塚資訊集團</a:t>
            </a:r>
          </a:p>
        </p:txBody>
      </p: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9A47106E-083B-5C9F-5D90-B37C2A6CD4FA}"/>
              </a:ext>
            </a:extLst>
          </p:cNvPr>
          <p:cNvCxnSpPr>
            <a:cxnSpLocks/>
          </p:cNvCxnSpPr>
          <p:nvPr userDrawn="1"/>
        </p:nvCxnSpPr>
        <p:spPr>
          <a:xfrm flipH="1">
            <a:off x="6934294" y="1281308"/>
            <a:ext cx="3780000" cy="0"/>
          </a:xfrm>
          <a:prstGeom prst="line">
            <a:avLst/>
          </a:prstGeom>
          <a:noFill/>
          <a:ln w="254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15C20270-84E8-0ED5-A078-4D21B9456C00}"/>
              </a:ext>
            </a:extLst>
          </p:cNvPr>
          <p:cNvSpPr txBox="1"/>
          <p:nvPr userDrawn="1"/>
        </p:nvSpPr>
        <p:spPr>
          <a:xfrm>
            <a:off x="3440317" y="5307964"/>
            <a:ext cx="11216043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500" dirty="0">
                <a:solidFill>
                  <a:srgbClr val="F5F5F5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EDA SOLUTIO</a:t>
            </a:r>
            <a:endParaRPr lang="en-US" altLang="zh-TW" sz="11500" i="0" dirty="0">
              <a:solidFill>
                <a:srgbClr val="F5F5F5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E9A3475-0570-BBDF-14B4-7DEFFA835F91}"/>
              </a:ext>
            </a:extLst>
          </p:cNvPr>
          <p:cNvSpPr txBox="1"/>
          <p:nvPr userDrawn="1"/>
        </p:nvSpPr>
        <p:spPr>
          <a:xfrm>
            <a:off x="7387628" y="6274467"/>
            <a:ext cx="53363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dirty="0">
                <a:solidFill>
                  <a:srgbClr val="009E9A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EDA SOLUTION</a:t>
            </a:r>
            <a:endParaRPr lang="en-US" altLang="zh-TW" sz="4800" i="0" dirty="0">
              <a:solidFill>
                <a:srgbClr val="009E9A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349059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423152-5164-C9DA-C507-4A1BCB016B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040" y="238004"/>
            <a:ext cx="3916320" cy="443033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623BBBC3-3E8A-1290-7B7D-2BAFB928E6BD}"/>
              </a:ext>
            </a:extLst>
          </p:cNvPr>
          <p:cNvSpPr txBox="1"/>
          <p:nvPr userDrawn="1"/>
        </p:nvSpPr>
        <p:spPr>
          <a:xfrm>
            <a:off x="3440317" y="5307964"/>
            <a:ext cx="11216043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500" dirty="0">
                <a:solidFill>
                  <a:srgbClr val="F5F5F5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EDA SOLUTIO</a:t>
            </a:r>
            <a:endParaRPr lang="en-US" altLang="zh-TW" sz="11500" i="0" dirty="0">
              <a:solidFill>
                <a:srgbClr val="F5F5F5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AD36B58-4B25-62E5-50DF-EC8E01AB23FB}"/>
              </a:ext>
            </a:extLst>
          </p:cNvPr>
          <p:cNvSpPr txBox="1"/>
          <p:nvPr userDrawn="1"/>
        </p:nvSpPr>
        <p:spPr>
          <a:xfrm>
            <a:off x="7387628" y="6274467"/>
            <a:ext cx="53363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dirty="0">
                <a:solidFill>
                  <a:srgbClr val="009E9A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EDA SOLUTION</a:t>
            </a:r>
            <a:endParaRPr lang="en-US" altLang="zh-TW" sz="4800" i="0" dirty="0">
              <a:solidFill>
                <a:srgbClr val="009E9A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9" name="箭號: ＞形 8">
            <a:extLst>
              <a:ext uri="{FF2B5EF4-FFF2-40B4-BE49-F238E27FC236}">
                <a16:creationId xmlns:a16="http://schemas.microsoft.com/office/drawing/2014/main" id="{FE5318CA-03D1-73D5-FC28-2899CFD45168}"/>
              </a:ext>
            </a:extLst>
          </p:cNvPr>
          <p:cNvSpPr/>
          <p:nvPr userDrawn="1"/>
        </p:nvSpPr>
        <p:spPr>
          <a:xfrm>
            <a:off x="2175986" y="111098"/>
            <a:ext cx="9907475" cy="1179910"/>
          </a:xfrm>
          <a:prstGeom prst="chevron">
            <a:avLst/>
          </a:prstGeom>
          <a:gradFill flip="none" rotWithShape="1">
            <a:gsLst>
              <a:gs pos="0">
                <a:srgbClr val="EDF3F0"/>
              </a:gs>
              <a:gs pos="50000">
                <a:srgbClr val="DEEAE9"/>
              </a:gs>
              <a:gs pos="100000">
                <a:srgbClr val="DAEAE7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箭號: 五邊形 9">
            <a:extLst>
              <a:ext uri="{FF2B5EF4-FFF2-40B4-BE49-F238E27FC236}">
                <a16:creationId xmlns:a16="http://schemas.microsoft.com/office/drawing/2014/main" id="{3B2C1695-3E85-319E-AFB8-C11031A4C7ED}"/>
              </a:ext>
            </a:extLst>
          </p:cNvPr>
          <p:cNvSpPr/>
          <p:nvPr userDrawn="1"/>
        </p:nvSpPr>
        <p:spPr>
          <a:xfrm>
            <a:off x="0" y="111098"/>
            <a:ext cx="3083859" cy="1179910"/>
          </a:xfrm>
          <a:prstGeom prst="homePlate">
            <a:avLst/>
          </a:prstGeom>
          <a:gradFill flip="none" rotWithShape="1">
            <a:gsLst>
              <a:gs pos="0">
                <a:srgbClr val="6BEBC8"/>
              </a:gs>
              <a:gs pos="50000">
                <a:srgbClr val="66E6C3"/>
              </a:gs>
              <a:gs pos="100000">
                <a:srgbClr val="66E6C3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CA3F1077-EFF4-C225-1EAD-7704B02AB921}"/>
              </a:ext>
            </a:extLst>
          </p:cNvPr>
          <p:cNvCxnSpPr>
            <a:cxnSpLocks/>
          </p:cNvCxnSpPr>
          <p:nvPr userDrawn="1"/>
        </p:nvCxnSpPr>
        <p:spPr>
          <a:xfrm flipH="1">
            <a:off x="-12700" y="1420599"/>
            <a:ext cx="4716000" cy="0"/>
          </a:xfrm>
          <a:prstGeom prst="line">
            <a:avLst/>
          </a:prstGeom>
          <a:noFill/>
          <a:ln w="25400">
            <a:solidFill>
              <a:srgbClr val="7FFFD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文字版面配置區 16">
            <a:extLst>
              <a:ext uri="{FF2B5EF4-FFF2-40B4-BE49-F238E27FC236}">
                <a16:creationId xmlns:a16="http://schemas.microsoft.com/office/drawing/2014/main" id="{66CC6CFB-CBA2-0AD7-87ED-D87A42708D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43937" y="370839"/>
            <a:ext cx="7887382" cy="720828"/>
          </a:xfrm>
        </p:spPr>
        <p:txBody>
          <a:bodyPr anchor="ctr">
            <a:normAutofit/>
          </a:bodyPr>
          <a:lstStyle>
            <a:lvl1pPr marL="0" indent="0">
              <a:buNone/>
              <a:defRPr lang="zh-TW" altLang="en-US" sz="4000" b="1" kern="1200" dirty="0" smtClean="0"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21" name="文字版面配置區 18">
            <a:extLst>
              <a:ext uri="{FF2B5EF4-FFF2-40B4-BE49-F238E27FC236}">
                <a16:creationId xmlns:a16="http://schemas.microsoft.com/office/drawing/2014/main" id="{63BE1DA1-470A-99DA-471F-528BD3A5AC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8539" y="184775"/>
            <a:ext cx="2066400" cy="1179910"/>
          </a:xfrm>
        </p:spPr>
        <p:txBody>
          <a:bodyPr/>
          <a:lstStyle>
            <a:lvl1pPr marL="0" indent="0" algn="ctr">
              <a:buNone/>
              <a:defRPr lang="zh-TW" altLang="en-US" sz="5400" b="1" kern="1200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lang="zh-TW" altLang="en-US" sz="1800" kern="1200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zh-TW" altLang="en-US" dirty="0"/>
              <a:t>按一下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SOLUTIONS</a:t>
            </a:r>
          </a:p>
        </p:txBody>
      </p:sp>
    </p:spTree>
    <p:extLst>
      <p:ext uri="{BB962C8B-B14F-4D97-AF65-F5344CB8AC3E}">
        <p14:creationId xmlns:p14="http://schemas.microsoft.com/office/powerpoint/2010/main" val="2300286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號: ＞形 1">
            <a:extLst>
              <a:ext uri="{FF2B5EF4-FFF2-40B4-BE49-F238E27FC236}">
                <a16:creationId xmlns:a16="http://schemas.microsoft.com/office/drawing/2014/main" id="{BE6F76C6-76B7-B06B-8E0F-EE5EBB26403A}"/>
              </a:ext>
            </a:extLst>
          </p:cNvPr>
          <p:cNvSpPr/>
          <p:nvPr userDrawn="1"/>
        </p:nvSpPr>
        <p:spPr>
          <a:xfrm>
            <a:off x="2457450" y="2321600"/>
            <a:ext cx="9626011" cy="2566916"/>
          </a:xfrm>
          <a:prstGeom prst="chevron">
            <a:avLst/>
          </a:prstGeom>
          <a:gradFill flip="none" rotWithShape="1">
            <a:gsLst>
              <a:gs pos="0">
                <a:srgbClr val="EDF3F0"/>
              </a:gs>
              <a:gs pos="50000">
                <a:srgbClr val="DEEAE9"/>
              </a:gs>
              <a:gs pos="100000">
                <a:srgbClr val="DAEAE7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9423152-5164-C9DA-C507-4A1BCB016B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040" y="238004"/>
            <a:ext cx="3916320" cy="443033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623BBBC3-3E8A-1290-7B7D-2BAFB928E6BD}"/>
              </a:ext>
            </a:extLst>
          </p:cNvPr>
          <p:cNvSpPr txBox="1"/>
          <p:nvPr userDrawn="1"/>
        </p:nvSpPr>
        <p:spPr>
          <a:xfrm>
            <a:off x="3440317" y="5307964"/>
            <a:ext cx="11216043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500" dirty="0">
                <a:solidFill>
                  <a:srgbClr val="F5F5F5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CAE SOLUTIO</a:t>
            </a:r>
            <a:endParaRPr lang="en-US" altLang="zh-TW" sz="11500" i="0" dirty="0">
              <a:solidFill>
                <a:srgbClr val="F5F5F5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AD36B58-4B25-62E5-50DF-EC8E01AB23FB}"/>
              </a:ext>
            </a:extLst>
          </p:cNvPr>
          <p:cNvSpPr txBox="1"/>
          <p:nvPr userDrawn="1"/>
        </p:nvSpPr>
        <p:spPr>
          <a:xfrm>
            <a:off x="7387628" y="6274467"/>
            <a:ext cx="53363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dirty="0">
                <a:solidFill>
                  <a:srgbClr val="009E9A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CAE SOLUTION</a:t>
            </a:r>
            <a:endParaRPr lang="en-US" altLang="zh-TW" sz="4800" i="0" dirty="0">
              <a:solidFill>
                <a:srgbClr val="009E9A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CA3F1077-EFF4-C225-1EAD-7704B02AB921}"/>
              </a:ext>
            </a:extLst>
          </p:cNvPr>
          <p:cNvCxnSpPr>
            <a:cxnSpLocks/>
          </p:cNvCxnSpPr>
          <p:nvPr userDrawn="1"/>
        </p:nvCxnSpPr>
        <p:spPr>
          <a:xfrm flipH="1">
            <a:off x="-12700" y="5197844"/>
            <a:ext cx="4716000" cy="0"/>
          </a:xfrm>
          <a:prstGeom prst="line">
            <a:avLst/>
          </a:prstGeom>
          <a:noFill/>
          <a:ln w="25400">
            <a:solidFill>
              <a:srgbClr val="7FFFD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文字版面配置區 16">
            <a:extLst>
              <a:ext uri="{FF2B5EF4-FFF2-40B4-BE49-F238E27FC236}">
                <a16:creationId xmlns:a16="http://schemas.microsoft.com/office/drawing/2014/main" id="{66CC6CFB-CBA2-0AD7-87ED-D87A42708D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43059" y="3244643"/>
            <a:ext cx="7887382" cy="720828"/>
          </a:xfrm>
        </p:spPr>
        <p:txBody>
          <a:bodyPr anchor="ctr">
            <a:normAutofit/>
          </a:bodyPr>
          <a:lstStyle>
            <a:lvl1pPr marL="0" indent="0">
              <a:buNone/>
              <a:defRPr lang="zh-TW" altLang="en-US" sz="4000" b="1" kern="1200" dirty="0" smtClean="0"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3468793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號: ＞形 1">
            <a:extLst>
              <a:ext uri="{FF2B5EF4-FFF2-40B4-BE49-F238E27FC236}">
                <a16:creationId xmlns:a16="http://schemas.microsoft.com/office/drawing/2014/main" id="{A00868EA-A21B-4690-8D99-C8FDF4B6035B}"/>
              </a:ext>
            </a:extLst>
          </p:cNvPr>
          <p:cNvSpPr/>
          <p:nvPr userDrawn="1"/>
        </p:nvSpPr>
        <p:spPr>
          <a:xfrm>
            <a:off x="2457450" y="2321600"/>
            <a:ext cx="9626011" cy="2566916"/>
          </a:xfrm>
          <a:prstGeom prst="chevron">
            <a:avLst/>
          </a:prstGeom>
          <a:gradFill flip="none" rotWithShape="1">
            <a:gsLst>
              <a:gs pos="0">
                <a:srgbClr val="EDF3F0"/>
              </a:gs>
              <a:gs pos="50000">
                <a:srgbClr val="DEEAE9"/>
              </a:gs>
              <a:gs pos="100000">
                <a:srgbClr val="DAEAE7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9423152-5164-C9DA-C507-4A1BCB016B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040" y="238004"/>
            <a:ext cx="3916320" cy="443033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623BBBC3-3E8A-1290-7B7D-2BAFB928E6BD}"/>
              </a:ext>
            </a:extLst>
          </p:cNvPr>
          <p:cNvSpPr txBox="1"/>
          <p:nvPr userDrawn="1"/>
        </p:nvSpPr>
        <p:spPr>
          <a:xfrm>
            <a:off x="1933575" y="5307964"/>
            <a:ext cx="12722785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500" dirty="0">
                <a:solidFill>
                  <a:srgbClr val="F5F5F5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MCAD SOLUTIO</a:t>
            </a:r>
            <a:endParaRPr lang="en-US" altLang="zh-TW" sz="11500" i="0" dirty="0">
              <a:solidFill>
                <a:srgbClr val="F5F5F5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AD36B58-4B25-62E5-50DF-EC8E01AB23FB}"/>
              </a:ext>
            </a:extLst>
          </p:cNvPr>
          <p:cNvSpPr txBox="1"/>
          <p:nvPr userDrawn="1"/>
        </p:nvSpPr>
        <p:spPr>
          <a:xfrm>
            <a:off x="6772275" y="6274467"/>
            <a:ext cx="59517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dirty="0">
                <a:solidFill>
                  <a:srgbClr val="009E9A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MCAD SOLUTION</a:t>
            </a:r>
            <a:endParaRPr lang="en-US" altLang="zh-TW" sz="4800" i="0" dirty="0">
              <a:solidFill>
                <a:srgbClr val="009E9A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CA3F1077-EFF4-C225-1EAD-7704B02AB921}"/>
              </a:ext>
            </a:extLst>
          </p:cNvPr>
          <p:cNvCxnSpPr>
            <a:cxnSpLocks/>
          </p:cNvCxnSpPr>
          <p:nvPr userDrawn="1"/>
        </p:nvCxnSpPr>
        <p:spPr>
          <a:xfrm flipH="1">
            <a:off x="-12700" y="5197844"/>
            <a:ext cx="4716000" cy="0"/>
          </a:xfrm>
          <a:prstGeom prst="line">
            <a:avLst/>
          </a:prstGeom>
          <a:noFill/>
          <a:ln w="25400">
            <a:solidFill>
              <a:srgbClr val="7FFFD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文字版面配置區 16">
            <a:extLst>
              <a:ext uri="{FF2B5EF4-FFF2-40B4-BE49-F238E27FC236}">
                <a16:creationId xmlns:a16="http://schemas.microsoft.com/office/drawing/2014/main" id="{66CC6CFB-CBA2-0AD7-87ED-D87A42708D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43059" y="3244643"/>
            <a:ext cx="7887382" cy="720828"/>
          </a:xfrm>
        </p:spPr>
        <p:txBody>
          <a:bodyPr anchor="ctr">
            <a:normAutofit/>
          </a:bodyPr>
          <a:lstStyle>
            <a:lvl1pPr marL="0" indent="0">
              <a:buNone/>
              <a:defRPr lang="zh-TW" altLang="en-US" sz="4000" b="1" kern="1200" dirty="0" smtClean="0"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3785439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800"/>
            <a:ext cx="719931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91EB517C-C8FD-4E2E-B744-DB952E96B4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519D384-FA09-4D60-95A8-589F157A93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Unrestricted | © Siemens 2023 | Siemens Digital Industries Software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1666FD-2258-443A-846C-6C7533C6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5432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6472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302">
          <p15:clr>
            <a:srgbClr val="65CEFF"/>
          </p15:clr>
        </p15:guide>
        <p15:guide id="6" orient="horz" pos="664">
          <p15:clr>
            <a:srgbClr val="65CEFF"/>
          </p15:clr>
        </p15:guide>
        <p15:guide id="7" orient="horz" pos="891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9982CB5-2F2A-A204-F158-29E1F9156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7E716F9-2D15-E25F-4523-933422701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568372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5" r:id="rId3"/>
    <p:sldLayoutId id="2147483660" r:id="rId4"/>
    <p:sldLayoutId id="2147483697" r:id="rId5"/>
    <p:sldLayoutId id="2147483685" r:id="rId6"/>
    <p:sldLayoutId id="2147483702" r:id="rId7"/>
    <p:sldLayoutId id="2147483700" r:id="rId8"/>
    <p:sldLayoutId id="2147483686" r:id="rId9"/>
    <p:sldLayoutId id="2147483701" r:id="rId10"/>
    <p:sldLayoutId id="2147483698" r:id="rId11"/>
    <p:sldLayoutId id="2147483690" r:id="rId12"/>
    <p:sldLayoutId id="2147483693" r:id="rId13"/>
    <p:sldLayoutId id="2147483689" r:id="rId14"/>
    <p:sldLayoutId id="2147483699" r:id="rId15"/>
    <p:sldLayoutId id="2147483696" r:id="rId16"/>
    <p:sldLayoutId id="214748369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2.png"/><Relationship Id="rId9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7BE07-7E0F-1BFE-7DA4-45A838E62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字方塊 12">
            <a:extLst>
              <a:ext uri="{FF2B5EF4-FFF2-40B4-BE49-F238E27FC236}">
                <a16:creationId xmlns:a16="http://schemas.microsoft.com/office/drawing/2014/main" id="{0AC8B5BB-EBF7-5033-F1FF-8586E1994143}"/>
              </a:ext>
            </a:extLst>
          </p:cNvPr>
          <p:cNvSpPr txBox="1"/>
          <p:nvPr/>
        </p:nvSpPr>
        <p:spPr>
          <a:xfrm>
            <a:off x="108539" y="63289"/>
            <a:ext cx="2067447" cy="12003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zh-TW" sz="54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EDA</a:t>
            </a:r>
            <a:r>
              <a:rPr lang="en-US" altLang="zh-TW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</a:p>
          <a:p>
            <a:pPr algn="ctr"/>
            <a:r>
              <a:rPr lang="en-US" altLang="zh-TW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SOLUTIONS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F74281A-BC0E-1DB7-FBB1-4E989FBF76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電子電路設計與驗證解決方案</a:t>
            </a:r>
          </a:p>
        </p:txBody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3A794D4B-EF20-37E5-1C7D-B7EABD064A58}"/>
              </a:ext>
            </a:extLst>
          </p:cNvPr>
          <p:cNvSpPr/>
          <p:nvPr/>
        </p:nvSpPr>
        <p:spPr>
          <a:xfrm>
            <a:off x="11005419" y="1422401"/>
            <a:ext cx="1203412" cy="5435599"/>
          </a:xfrm>
          <a:prstGeom prst="rect">
            <a:avLst/>
          </a:prstGeom>
          <a:solidFill>
            <a:srgbClr val="4074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68000" rIns="144000" rtlCol="0" anchor="t"/>
          <a:lstStyle/>
          <a:p>
            <a:pPr algn="r"/>
            <a:r>
              <a:rPr lang="zh-TW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專案</a:t>
            </a:r>
            <a:endParaRPr lang="en-US" altLang="zh-TW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r"/>
            <a:r>
              <a:rPr lang="zh-TW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完成</a:t>
            </a:r>
            <a:endParaRPr lang="en-US" altLang="zh-TW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B9E70474-E9ED-33EC-4DB9-CA58F01F11A0}"/>
              </a:ext>
            </a:extLst>
          </p:cNvPr>
          <p:cNvSpPr/>
          <p:nvPr/>
        </p:nvSpPr>
        <p:spPr>
          <a:xfrm>
            <a:off x="-3932" y="1422401"/>
            <a:ext cx="1279265" cy="5435599"/>
          </a:xfrm>
          <a:prstGeom prst="rect">
            <a:avLst/>
          </a:prstGeom>
          <a:solidFill>
            <a:srgbClr val="4074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468000" rIns="0" rtlCol="0" anchor="t"/>
          <a:lstStyle/>
          <a:p>
            <a:r>
              <a:rPr lang="zh-TW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專案</a:t>
            </a:r>
            <a:endParaRPr lang="en-US" altLang="zh-TW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發起</a:t>
            </a:r>
            <a:endParaRPr lang="en-US" altLang="zh-TW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4D493A1C-519F-97C3-9E3F-7C8314DCEC64}"/>
              </a:ext>
            </a:extLst>
          </p:cNvPr>
          <p:cNvSpPr/>
          <p:nvPr/>
        </p:nvSpPr>
        <p:spPr>
          <a:xfrm>
            <a:off x="1093818" y="1422400"/>
            <a:ext cx="10112750" cy="5435600"/>
          </a:xfrm>
          <a:prstGeom prst="rect">
            <a:avLst/>
          </a:prstGeom>
          <a:solidFill>
            <a:srgbClr val="71BFD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432000" rIns="0" rtlCol="0" anchor="t"/>
          <a:lstStyle/>
          <a:p>
            <a:r>
              <a:rPr lang="zh-TW" altLang="en-US" b="1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電子設計與驗證</a:t>
            </a:r>
            <a:endParaRPr lang="zh-TW" alt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2" name="箭號: 五邊形 201">
            <a:extLst>
              <a:ext uri="{FF2B5EF4-FFF2-40B4-BE49-F238E27FC236}">
                <a16:creationId xmlns:a16="http://schemas.microsoft.com/office/drawing/2014/main" id="{F0BE56AC-3993-EDF8-B52E-A11241735617}"/>
              </a:ext>
            </a:extLst>
          </p:cNvPr>
          <p:cNvSpPr/>
          <p:nvPr/>
        </p:nvSpPr>
        <p:spPr>
          <a:xfrm>
            <a:off x="8791728" y="1422401"/>
            <a:ext cx="3400271" cy="334800"/>
          </a:xfrm>
          <a:prstGeom prst="homePlate">
            <a:avLst/>
          </a:prstGeom>
          <a:solidFill>
            <a:srgbClr val="67E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Finish</a:t>
            </a:r>
            <a:endParaRPr lang="zh-TW" altLang="en-US" sz="1400" b="1" dirty="0">
              <a:solidFill>
                <a:srgbClr val="37415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3" name="箭號: 五邊形 202">
            <a:extLst>
              <a:ext uri="{FF2B5EF4-FFF2-40B4-BE49-F238E27FC236}">
                <a16:creationId xmlns:a16="http://schemas.microsoft.com/office/drawing/2014/main" id="{3D2147E1-F3D9-08B0-1881-AAB1E303C171}"/>
              </a:ext>
            </a:extLst>
          </p:cNvPr>
          <p:cNvSpPr/>
          <p:nvPr/>
        </p:nvSpPr>
        <p:spPr>
          <a:xfrm rot="10800000" flipV="1">
            <a:off x="41542" y="1422401"/>
            <a:ext cx="3400271" cy="334800"/>
          </a:xfrm>
          <a:prstGeom prst="homePlate">
            <a:avLst/>
          </a:prstGeom>
          <a:solidFill>
            <a:srgbClr val="67E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Start</a:t>
            </a:r>
            <a:endParaRPr lang="zh-TW" altLang="en-US" sz="1400" b="1" dirty="0">
              <a:solidFill>
                <a:srgbClr val="37415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CD7A789F-D26C-5F49-BB2C-ADED1C66BB9E}"/>
              </a:ext>
            </a:extLst>
          </p:cNvPr>
          <p:cNvSpPr/>
          <p:nvPr/>
        </p:nvSpPr>
        <p:spPr>
          <a:xfrm rot="10800000" flipV="1">
            <a:off x="3441813" y="1422403"/>
            <a:ext cx="5349915" cy="334800"/>
          </a:xfrm>
          <a:prstGeom prst="rect">
            <a:avLst/>
          </a:prstGeom>
          <a:solidFill>
            <a:srgbClr val="67E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In Progress</a:t>
            </a:r>
            <a:endParaRPr lang="zh-TW" altLang="en-US" sz="1400" b="1" dirty="0">
              <a:solidFill>
                <a:srgbClr val="37415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223" name="接點: 弧形 222">
            <a:extLst>
              <a:ext uri="{FF2B5EF4-FFF2-40B4-BE49-F238E27FC236}">
                <a16:creationId xmlns:a16="http://schemas.microsoft.com/office/drawing/2014/main" id="{2F70DB58-D5FE-1736-95D2-9B5C53FC0F37}"/>
              </a:ext>
            </a:extLst>
          </p:cNvPr>
          <p:cNvCxnSpPr>
            <a:cxnSpLocks/>
            <a:stCxn id="242" idx="3"/>
            <a:endCxn id="269" idx="1"/>
          </p:cNvCxnSpPr>
          <p:nvPr/>
        </p:nvCxnSpPr>
        <p:spPr>
          <a:xfrm>
            <a:off x="1921537" y="4125721"/>
            <a:ext cx="295210" cy="12700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/>
            </a:solidFill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接點: 弧形 223">
            <a:extLst>
              <a:ext uri="{FF2B5EF4-FFF2-40B4-BE49-F238E27FC236}">
                <a16:creationId xmlns:a16="http://schemas.microsoft.com/office/drawing/2014/main" id="{FAB79CD2-2E63-8A4C-66B4-B0251668DE58}"/>
              </a:ext>
            </a:extLst>
          </p:cNvPr>
          <p:cNvCxnSpPr>
            <a:cxnSpLocks/>
            <a:stCxn id="243" idx="3"/>
            <a:endCxn id="242" idx="1"/>
          </p:cNvCxnSpPr>
          <p:nvPr/>
        </p:nvCxnSpPr>
        <p:spPr>
          <a:xfrm>
            <a:off x="970268" y="4125720"/>
            <a:ext cx="437788" cy="1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/>
            </a:solidFill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接點: 弧形 73">
            <a:extLst>
              <a:ext uri="{FF2B5EF4-FFF2-40B4-BE49-F238E27FC236}">
                <a16:creationId xmlns:a16="http://schemas.microsoft.com/office/drawing/2014/main" id="{C527F36B-B3C1-A328-7E67-191CCF6A1822}"/>
              </a:ext>
            </a:extLst>
          </p:cNvPr>
          <p:cNvCxnSpPr>
            <a:cxnSpLocks/>
            <a:stCxn id="272" idx="1"/>
            <a:endCxn id="248" idx="3"/>
          </p:cNvCxnSpPr>
          <p:nvPr/>
        </p:nvCxnSpPr>
        <p:spPr>
          <a:xfrm flipH="1">
            <a:off x="7773389" y="4125720"/>
            <a:ext cx="240445" cy="0"/>
          </a:xfrm>
          <a:prstGeom prst="straightConnector1">
            <a:avLst/>
          </a:prstGeom>
          <a:ln w="38100">
            <a:solidFill>
              <a:schemeClr val="bg1"/>
            </a:solidFill>
            <a:headEnd type="triangl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接點: 弧形 76">
            <a:extLst>
              <a:ext uri="{FF2B5EF4-FFF2-40B4-BE49-F238E27FC236}">
                <a16:creationId xmlns:a16="http://schemas.microsoft.com/office/drawing/2014/main" id="{17CC44C8-4DF8-5653-DA52-0AA624D6CAB6}"/>
              </a:ext>
            </a:extLst>
          </p:cNvPr>
          <p:cNvCxnSpPr>
            <a:cxnSpLocks/>
            <a:stCxn id="255" idx="0"/>
            <a:endCxn id="253" idx="2"/>
          </p:cNvCxnSpPr>
          <p:nvPr/>
        </p:nvCxnSpPr>
        <p:spPr>
          <a:xfrm flipV="1">
            <a:off x="10573341" y="4012092"/>
            <a:ext cx="0" cy="227257"/>
          </a:xfrm>
          <a:prstGeom prst="straightConnector1">
            <a:avLst/>
          </a:prstGeom>
          <a:ln w="38100">
            <a:solidFill>
              <a:schemeClr val="bg1"/>
            </a:solidFill>
            <a:headEnd type="triangl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接點: 弧形 227">
            <a:extLst>
              <a:ext uri="{FF2B5EF4-FFF2-40B4-BE49-F238E27FC236}">
                <a16:creationId xmlns:a16="http://schemas.microsoft.com/office/drawing/2014/main" id="{A10556D0-5552-4F93-4196-A762DB76A504}"/>
              </a:ext>
            </a:extLst>
          </p:cNvPr>
          <p:cNvCxnSpPr>
            <a:cxnSpLocks/>
            <a:stCxn id="269" idx="0"/>
            <a:endCxn id="251" idx="0"/>
          </p:cNvCxnSpPr>
          <p:nvPr/>
        </p:nvCxnSpPr>
        <p:spPr>
          <a:xfrm rot="5400000" flipH="1" flipV="1">
            <a:off x="6394121" y="-275584"/>
            <a:ext cx="12700" cy="6538336"/>
          </a:xfrm>
          <a:prstGeom prst="curvedConnector3">
            <a:avLst>
              <a:gd name="adj1" fmla="val 8700000"/>
            </a:avLst>
          </a:prstGeom>
          <a:ln w="38100">
            <a:solidFill>
              <a:schemeClr val="bg1"/>
            </a:solidFill>
            <a:prstDash val="dash"/>
            <a:headEnd type="triangl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接點: 弧形 234">
            <a:extLst>
              <a:ext uri="{FF2B5EF4-FFF2-40B4-BE49-F238E27FC236}">
                <a16:creationId xmlns:a16="http://schemas.microsoft.com/office/drawing/2014/main" id="{DB7CE871-77C9-EBEB-6840-0679313D32D7}"/>
              </a:ext>
            </a:extLst>
          </p:cNvPr>
          <p:cNvCxnSpPr>
            <a:cxnSpLocks/>
            <a:stCxn id="246" idx="1"/>
            <a:endCxn id="255" idx="3"/>
          </p:cNvCxnSpPr>
          <p:nvPr/>
        </p:nvCxnSpPr>
        <p:spPr>
          <a:xfrm rot="10800000" flipV="1">
            <a:off x="10896444" y="4125721"/>
            <a:ext cx="538783" cy="622882"/>
          </a:xfrm>
          <a:prstGeom prst="curvedConnector3">
            <a:avLst>
              <a:gd name="adj1" fmla="val 50000"/>
            </a:avLst>
          </a:prstGeom>
          <a:ln w="76200">
            <a:solidFill>
              <a:schemeClr val="bg1"/>
            </a:solidFill>
            <a:headEnd type="triangl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文字方塊 241">
            <a:extLst>
              <a:ext uri="{FF2B5EF4-FFF2-40B4-BE49-F238E27FC236}">
                <a16:creationId xmlns:a16="http://schemas.microsoft.com/office/drawing/2014/main" id="{AEE8AB76-269F-DF7C-BEB9-B61E38DFBF4F}"/>
              </a:ext>
            </a:extLst>
          </p:cNvPr>
          <p:cNvSpPr txBox="1"/>
          <p:nvPr/>
        </p:nvSpPr>
        <p:spPr>
          <a:xfrm>
            <a:off x="1408056" y="2993584"/>
            <a:ext cx="513481" cy="2264273"/>
          </a:xfrm>
          <a:prstGeom prst="roundRect">
            <a:avLst>
              <a:gd name="adj" fmla="val 25942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zh-TW"/>
            </a:defPPr>
            <a:lvl1pPr algn="ctr" defTabSz="622300">
              <a:spcBef>
                <a:spcPct val="0"/>
              </a:spcBef>
              <a:defRPr sz="1050" b="1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r>
              <a:rPr lang="zh-TW" altLang="en-US" sz="2000" dirty="0">
                <a:solidFill>
                  <a:srgbClr val="374151"/>
                </a:solidFill>
              </a:rPr>
              <a:t>系統設計</a:t>
            </a:r>
            <a:endParaRPr lang="en-US" altLang="zh-TW" sz="2000" dirty="0">
              <a:solidFill>
                <a:srgbClr val="374151"/>
              </a:solidFill>
            </a:endParaRPr>
          </a:p>
          <a:p>
            <a:r>
              <a:rPr lang="zh-TW" altLang="en-US" sz="2000" dirty="0">
                <a:solidFill>
                  <a:srgbClr val="374151"/>
                </a:solidFill>
              </a:rPr>
              <a:t>草稿</a:t>
            </a:r>
          </a:p>
        </p:txBody>
      </p:sp>
      <p:sp>
        <p:nvSpPr>
          <p:cNvPr id="243" name="文字方塊 242">
            <a:extLst>
              <a:ext uri="{FF2B5EF4-FFF2-40B4-BE49-F238E27FC236}">
                <a16:creationId xmlns:a16="http://schemas.microsoft.com/office/drawing/2014/main" id="{6D837231-970E-F523-D40D-109933AF629C}"/>
              </a:ext>
            </a:extLst>
          </p:cNvPr>
          <p:cNvSpPr txBox="1"/>
          <p:nvPr/>
        </p:nvSpPr>
        <p:spPr>
          <a:xfrm>
            <a:off x="106759" y="2993583"/>
            <a:ext cx="863509" cy="2264274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zh-TW"/>
            </a:defPPr>
            <a:lvl1pPr algn="ctr" defTabSz="622300">
              <a:spcBef>
                <a:spcPct val="0"/>
              </a:spcBef>
              <a:defRPr sz="1050" b="1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r>
              <a:rPr lang="zh-TW" altLang="en-US" sz="2400" dirty="0">
                <a:solidFill>
                  <a:srgbClr val="374151"/>
                </a:solidFill>
              </a:rPr>
              <a:t>客戶</a:t>
            </a:r>
            <a:endParaRPr lang="en-US" altLang="zh-TW" sz="2400" dirty="0">
              <a:solidFill>
                <a:srgbClr val="374151"/>
              </a:solidFill>
            </a:endParaRPr>
          </a:p>
          <a:p>
            <a:r>
              <a:rPr lang="zh-TW" altLang="en-US" sz="2400" dirty="0">
                <a:solidFill>
                  <a:srgbClr val="374151"/>
                </a:solidFill>
              </a:rPr>
              <a:t>需求確認</a:t>
            </a:r>
          </a:p>
        </p:txBody>
      </p:sp>
      <p:cxnSp>
        <p:nvCxnSpPr>
          <p:cNvPr id="247" name="直線單箭頭接點 246">
            <a:extLst>
              <a:ext uri="{FF2B5EF4-FFF2-40B4-BE49-F238E27FC236}">
                <a16:creationId xmlns:a16="http://schemas.microsoft.com/office/drawing/2014/main" id="{ADFC78D2-4276-C815-7EB9-C7C1A18AD936}"/>
              </a:ext>
            </a:extLst>
          </p:cNvPr>
          <p:cNvCxnSpPr>
            <a:cxnSpLocks/>
            <a:stCxn id="269" idx="3"/>
            <a:endCxn id="248" idx="1"/>
          </p:cNvCxnSpPr>
          <p:nvPr/>
        </p:nvCxnSpPr>
        <p:spPr>
          <a:xfrm flipV="1">
            <a:off x="4033158" y="4125720"/>
            <a:ext cx="263849" cy="1"/>
          </a:xfrm>
          <a:prstGeom prst="straightConnector1">
            <a:avLst/>
          </a:prstGeom>
          <a:ln w="38100">
            <a:solidFill>
              <a:schemeClr val="bg1"/>
            </a:solidFill>
            <a:headEnd type="triangl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文字方塊 247">
            <a:extLst>
              <a:ext uri="{FF2B5EF4-FFF2-40B4-BE49-F238E27FC236}">
                <a16:creationId xmlns:a16="http://schemas.microsoft.com/office/drawing/2014/main" id="{06147910-953C-B4B8-38DA-506D023C7C79}"/>
              </a:ext>
            </a:extLst>
          </p:cNvPr>
          <p:cNvSpPr txBox="1"/>
          <p:nvPr/>
        </p:nvSpPr>
        <p:spPr>
          <a:xfrm>
            <a:off x="4297007" y="2345940"/>
            <a:ext cx="3476382" cy="3559560"/>
          </a:xfrm>
          <a:prstGeom prst="roundRect">
            <a:avLst>
              <a:gd name="adj" fmla="val 826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zh-TW"/>
            </a:defPPr>
            <a:lvl1pPr algn="ctr" defTabSz="622300">
              <a:spcBef>
                <a:spcPct val="0"/>
              </a:spcBef>
              <a:defRPr sz="105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endParaRPr lang="zh-TW" altLang="en-US" sz="1100" b="0" dirty="0"/>
          </a:p>
        </p:txBody>
      </p:sp>
      <p:cxnSp>
        <p:nvCxnSpPr>
          <p:cNvPr id="249" name="接點: 弧形 248">
            <a:extLst>
              <a:ext uri="{FF2B5EF4-FFF2-40B4-BE49-F238E27FC236}">
                <a16:creationId xmlns:a16="http://schemas.microsoft.com/office/drawing/2014/main" id="{6000F307-986A-9DEE-001B-1D30BC0B6432}"/>
              </a:ext>
            </a:extLst>
          </p:cNvPr>
          <p:cNvCxnSpPr>
            <a:cxnSpLocks/>
          </p:cNvCxnSpPr>
          <p:nvPr/>
        </p:nvCxnSpPr>
        <p:spPr>
          <a:xfrm rot="10800000" flipV="1">
            <a:off x="5964246" y="3304551"/>
            <a:ext cx="137272" cy="1"/>
          </a:xfrm>
          <a:prstGeom prst="curvedConnector3">
            <a:avLst>
              <a:gd name="adj1" fmla="val 50000"/>
            </a:avLst>
          </a:prstGeom>
          <a:ln>
            <a:solidFill>
              <a:srgbClr val="37415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" name="文字方塊 250">
            <a:extLst>
              <a:ext uri="{FF2B5EF4-FFF2-40B4-BE49-F238E27FC236}">
                <a16:creationId xmlns:a16="http://schemas.microsoft.com/office/drawing/2014/main" id="{52364A97-F793-B832-1760-B1D9F7C1072F}"/>
              </a:ext>
            </a:extLst>
          </p:cNvPr>
          <p:cNvSpPr txBox="1"/>
          <p:nvPr/>
        </p:nvSpPr>
        <p:spPr>
          <a:xfrm>
            <a:off x="9340187" y="2993584"/>
            <a:ext cx="646204" cy="226427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zh-TW"/>
            </a:defPPr>
            <a:lvl1pPr algn="ctr" defTabSz="622300">
              <a:spcBef>
                <a:spcPct val="0"/>
              </a:spcBef>
              <a:defRPr sz="1050" b="1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pPr algn="ctr"/>
            <a:r>
              <a:rPr lang="zh-TW" altLang="en-US" sz="2400" b="1" kern="1200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試樣</a:t>
            </a:r>
          </a:p>
        </p:txBody>
      </p:sp>
      <p:grpSp>
        <p:nvGrpSpPr>
          <p:cNvPr id="326" name="群組 325">
            <a:extLst>
              <a:ext uri="{FF2B5EF4-FFF2-40B4-BE49-F238E27FC236}">
                <a16:creationId xmlns:a16="http://schemas.microsoft.com/office/drawing/2014/main" id="{3B78428A-2C81-298D-5580-50F1F59314F3}"/>
              </a:ext>
            </a:extLst>
          </p:cNvPr>
          <p:cNvGrpSpPr/>
          <p:nvPr/>
        </p:nvGrpSpPr>
        <p:grpSpPr>
          <a:xfrm>
            <a:off x="10250239" y="2993584"/>
            <a:ext cx="646204" cy="1018508"/>
            <a:chOff x="10250239" y="3135734"/>
            <a:chExt cx="646204" cy="1144841"/>
          </a:xfrm>
        </p:grpSpPr>
        <p:sp>
          <p:nvSpPr>
            <p:cNvPr id="253" name="文字方塊 252">
              <a:extLst>
                <a:ext uri="{FF2B5EF4-FFF2-40B4-BE49-F238E27FC236}">
                  <a16:creationId xmlns:a16="http://schemas.microsoft.com/office/drawing/2014/main" id="{ED262EA0-2053-385B-DA8A-8EE6A8781762}"/>
                </a:ext>
              </a:extLst>
            </p:cNvPr>
            <p:cNvSpPr txBox="1"/>
            <p:nvPr/>
          </p:nvSpPr>
          <p:spPr>
            <a:xfrm>
              <a:off x="10250239" y="3135734"/>
              <a:ext cx="646204" cy="1144841"/>
            </a:xfrm>
            <a:prstGeom prst="round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36000" rIns="0" bIns="0" numCol="1" spcCol="1270" anchor="t" anchorCtr="0">
              <a:noAutofit/>
            </a:bodyPr>
            <a:lstStyle>
              <a:defPPr>
                <a:defRPr lang="zh-TW"/>
              </a:defPPr>
              <a:lvl1pPr algn="ctr" defTabSz="622300">
                <a:spcBef>
                  <a:spcPct val="0"/>
                </a:spcBef>
                <a:defRPr sz="1050" b="1"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defRPr>
              </a:lvl1pPr>
              <a:lvl2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2pPr>
              <a:lvl3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3pPr>
              <a:lvl4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4pPr>
              <a:lvl5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5pPr>
              <a:lvl6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6pPr>
              <a:lvl7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7pPr>
              <a:lvl8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8pPr>
              <a:lvl9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9pPr>
            </a:lstStyle>
            <a:p>
              <a:pPr algn="ctr"/>
              <a:r>
                <a:rPr lang="zh-TW" altLang="en-US" sz="1800" b="1" kern="1200" dirty="0">
                  <a:solidFill>
                    <a:srgbClr val="37415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製造量產</a:t>
              </a:r>
            </a:p>
          </p:txBody>
        </p:sp>
        <p:pic>
          <p:nvPicPr>
            <p:cNvPr id="254" name="Picture 6" descr="升級為3D輪廓分析檢測有效提升PCBA良率- ADLINK Blog">
              <a:extLst>
                <a:ext uri="{FF2B5EF4-FFF2-40B4-BE49-F238E27FC236}">
                  <a16:creationId xmlns:a16="http://schemas.microsoft.com/office/drawing/2014/main" id="{FAD746AC-B333-7FCB-FF07-B64A4F2EE0B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091" t="24312" r="49494" b="22724"/>
            <a:stretch/>
          </p:blipFill>
          <p:spPr bwMode="auto">
            <a:xfrm>
              <a:off x="10299694" y="3818010"/>
              <a:ext cx="560557" cy="3186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27" name="群組 326">
            <a:extLst>
              <a:ext uri="{FF2B5EF4-FFF2-40B4-BE49-F238E27FC236}">
                <a16:creationId xmlns:a16="http://schemas.microsoft.com/office/drawing/2014/main" id="{B9C2D2FA-CFBF-C87D-31FD-45A624283B82}"/>
              </a:ext>
            </a:extLst>
          </p:cNvPr>
          <p:cNvGrpSpPr/>
          <p:nvPr/>
        </p:nvGrpSpPr>
        <p:grpSpPr>
          <a:xfrm>
            <a:off x="10250239" y="4239349"/>
            <a:ext cx="646204" cy="1018508"/>
            <a:chOff x="10250239" y="4381500"/>
            <a:chExt cx="646204" cy="1018507"/>
          </a:xfrm>
        </p:grpSpPr>
        <p:sp>
          <p:nvSpPr>
            <p:cNvPr id="255" name="文字方塊 254">
              <a:extLst>
                <a:ext uri="{FF2B5EF4-FFF2-40B4-BE49-F238E27FC236}">
                  <a16:creationId xmlns:a16="http://schemas.microsoft.com/office/drawing/2014/main" id="{C1D7883A-3294-D6C6-1EC1-81D4F63270F9}"/>
                </a:ext>
              </a:extLst>
            </p:cNvPr>
            <p:cNvSpPr txBox="1"/>
            <p:nvPr/>
          </p:nvSpPr>
          <p:spPr>
            <a:xfrm>
              <a:off x="10250239" y="4381500"/>
              <a:ext cx="646204" cy="1018507"/>
            </a:xfrm>
            <a:prstGeom prst="round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72000" rIns="0" bIns="0" numCol="1" spcCol="1270" anchor="t" anchorCtr="0">
              <a:noAutofit/>
            </a:bodyPr>
            <a:lstStyle>
              <a:defPPr>
                <a:defRPr lang="zh-TW"/>
              </a:defPPr>
              <a:lvl1pPr algn="ctr" defTabSz="622300">
                <a:spcBef>
                  <a:spcPct val="0"/>
                </a:spcBef>
                <a:defRPr sz="1050" b="1"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defRPr>
              </a:lvl1pPr>
              <a:lvl2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2pPr>
              <a:lvl3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3pPr>
              <a:lvl4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4pPr>
              <a:lvl5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5pPr>
              <a:lvl6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6pPr>
              <a:lvl7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7pPr>
              <a:lvl8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8pPr>
              <a:lvl9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9pPr>
            </a:lstStyle>
            <a:p>
              <a:pPr algn="ctr"/>
              <a:r>
                <a:rPr lang="zh-TW" altLang="en-US" sz="1800" b="1" kern="1200" dirty="0">
                  <a:solidFill>
                    <a:srgbClr val="37415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組裝</a:t>
              </a:r>
            </a:p>
          </p:txBody>
        </p:sp>
        <p:pic>
          <p:nvPicPr>
            <p:cNvPr id="256" name="Picture 2" descr="Jigsaw Puzzle Pieces Silhouette Transparent Background, Jigsaw Puzzle Icon  Web Assemble, Clean, Concept, Consultant PNG Image For Free Download">
              <a:extLst>
                <a:ext uri="{FF2B5EF4-FFF2-40B4-BE49-F238E27FC236}">
                  <a16:creationId xmlns:a16="http://schemas.microsoft.com/office/drawing/2014/main" id="{669B0CF1-6EEE-2A6D-8E04-9B49B882777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929" t="34338" r="17592" b="35465"/>
            <a:stretch/>
          </p:blipFill>
          <p:spPr bwMode="auto">
            <a:xfrm>
              <a:off x="10302754" y="5009586"/>
              <a:ext cx="541173" cy="2421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25" name="群組 324">
            <a:extLst>
              <a:ext uri="{FF2B5EF4-FFF2-40B4-BE49-F238E27FC236}">
                <a16:creationId xmlns:a16="http://schemas.microsoft.com/office/drawing/2014/main" id="{70BB6B70-B156-A607-07A5-383205FE51B6}"/>
              </a:ext>
            </a:extLst>
          </p:cNvPr>
          <p:cNvGrpSpPr/>
          <p:nvPr/>
        </p:nvGrpSpPr>
        <p:grpSpPr>
          <a:xfrm>
            <a:off x="11435226" y="2993584"/>
            <a:ext cx="646204" cy="2264273"/>
            <a:chOff x="11435226" y="3135734"/>
            <a:chExt cx="646204" cy="2264273"/>
          </a:xfrm>
        </p:grpSpPr>
        <p:sp>
          <p:nvSpPr>
            <p:cNvPr id="246" name="文字方塊 245">
              <a:extLst>
                <a:ext uri="{FF2B5EF4-FFF2-40B4-BE49-F238E27FC236}">
                  <a16:creationId xmlns:a16="http://schemas.microsoft.com/office/drawing/2014/main" id="{C569F470-ACFC-622E-4600-BEDF93E83832}"/>
                </a:ext>
              </a:extLst>
            </p:cNvPr>
            <p:cNvSpPr txBox="1"/>
            <p:nvPr/>
          </p:nvSpPr>
          <p:spPr>
            <a:xfrm>
              <a:off x="11435226" y="3135734"/>
              <a:ext cx="646204" cy="2264273"/>
            </a:xfrm>
            <a:prstGeom prst="round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72000" rIns="0" bIns="0" numCol="1" spcCol="1270" anchor="t" anchorCtr="0">
              <a:noAutofit/>
            </a:bodyPr>
            <a:lstStyle>
              <a:defPPr>
                <a:defRPr lang="zh-TW"/>
              </a:defPPr>
              <a:lvl1pPr algn="ctr" defTabSz="622300">
                <a:spcBef>
                  <a:spcPct val="0"/>
                </a:spcBef>
                <a:defRPr sz="1050" b="1"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defRPr>
              </a:lvl1pPr>
              <a:lvl2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2pPr>
              <a:lvl3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3pPr>
              <a:lvl4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4pPr>
              <a:lvl5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5pPr>
              <a:lvl6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6pPr>
              <a:lvl7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7pPr>
              <a:lvl8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8pPr>
              <a:lvl9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9pPr>
            </a:lstStyle>
            <a:p>
              <a:pPr algn="ctr"/>
              <a:r>
                <a:rPr lang="zh-TW" altLang="en-US" sz="2400" b="1" kern="1200" dirty="0">
                  <a:solidFill>
                    <a:srgbClr val="37415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出貨</a:t>
              </a:r>
            </a:p>
          </p:txBody>
        </p:sp>
        <p:pic>
          <p:nvPicPr>
            <p:cNvPr id="257" name="圖形 256" descr="紙箱 外框">
              <a:extLst>
                <a:ext uri="{FF2B5EF4-FFF2-40B4-BE49-F238E27FC236}">
                  <a16:creationId xmlns:a16="http://schemas.microsoft.com/office/drawing/2014/main" id="{B24B6081-582A-E135-CFAD-D5C6A0A4A72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556914" y="4892099"/>
              <a:ext cx="434612" cy="434612"/>
            </a:xfrm>
            <a:prstGeom prst="rect">
              <a:avLst/>
            </a:prstGeom>
          </p:spPr>
        </p:pic>
      </p:grpSp>
      <p:cxnSp>
        <p:nvCxnSpPr>
          <p:cNvPr id="259" name="接點: 弧形 477">
            <a:extLst>
              <a:ext uri="{FF2B5EF4-FFF2-40B4-BE49-F238E27FC236}">
                <a16:creationId xmlns:a16="http://schemas.microsoft.com/office/drawing/2014/main" id="{50A8DC05-8B45-0BCA-58EF-BF45BEB2815F}"/>
              </a:ext>
            </a:extLst>
          </p:cNvPr>
          <p:cNvCxnSpPr>
            <a:cxnSpLocks/>
            <a:stCxn id="251" idx="1"/>
            <a:endCxn id="272" idx="3"/>
          </p:cNvCxnSpPr>
          <p:nvPr/>
        </p:nvCxnSpPr>
        <p:spPr>
          <a:xfrm flipH="1" flipV="1">
            <a:off x="9105583" y="4125720"/>
            <a:ext cx="234604" cy="1"/>
          </a:xfrm>
          <a:prstGeom prst="straightConnector1">
            <a:avLst/>
          </a:prstGeom>
          <a:ln w="38100">
            <a:solidFill>
              <a:schemeClr val="bg1"/>
            </a:solidFill>
            <a:headEnd type="triangl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接點: 弧形 259">
            <a:extLst>
              <a:ext uri="{FF2B5EF4-FFF2-40B4-BE49-F238E27FC236}">
                <a16:creationId xmlns:a16="http://schemas.microsoft.com/office/drawing/2014/main" id="{F75AD44E-56A9-24EB-E873-688BB3D72782}"/>
              </a:ext>
            </a:extLst>
          </p:cNvPr>
          <p:cNvCxnSpPr>
            <a:cxnSpLocks/>
            <a:stCxn id="253" idx="1"/>
            <a:endCxn id="251" idx="3"/>
          </p:cNvCxnSpPr>
          <p:nvPr/>
        </p:nvCxnSpPr>
        <p:spPr>
          <a:xfrm rot="10800000" flipV="1">
            <a:off x="9986391" y="3502837"/>
            <a:ext cx="263848" cy="622883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/>
            </a:solidFill>
            <a:headEnd type="triangl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文字方塊 268">
            <a:extLst>
              <a:ext uri="{FF2B5EF4-FFF2-40B4-BE49-F238E27FC236}">
                <a16:creationId xmlns:a16="http://schemas.microsoft.com/office/drawing/2014/main" id="{EA9BC2FD-57BE-9F67-79AF-41236B9DD746}"/>
              </a:ext>
            </a:extLst>
          </p:cNvPr>
          <p:cNvSpPr txBox="1"/>
          <p:nvPr/>
        </p:nvSpPr>
        <p:spPr>
          <a:xfrm>
            <a:off x="2216747" y="2993584"/>
            <a:ext cx="1816411" cy="2264273"/>
          </a:xfrm>
          <a:prstGeom prst="roundRect">
            <a:avLst>
              <a:gd name="adj" fmla="val 7669"/>
            </a:avLst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zh-TW"/>
            </a:defPPr>
            <a:lvl1pPr algn="ctr" defTabSz="622300">
              <a:spcBef>
                <a:spcPct val="0"/>
              </a:spcBef>
              <a:defRPr sz="105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r>
              <a:rPr lang="en-US" altLang="zh-TW" sz="1800" dirty="0">
                <a:solidFill>
                  <a:srgbClr val="C00000"/>
                </a:solidFill>
              </a:rPr>
              <a:t>PADS Professional</a:t>
            </a:r>
          </a:p>
          <a:p>
            <a:r>
              <a:rPr lang="en-US" altLang="zh-TW" sz="1800" dirty="0">
                <a:solidFill>
                  <a:srgbClr val="C00000"/>
                </a:solidFill>
              </a:rPr>
              <a:t>Xpedition</a:t>
            </a:r>
          </a:p>
          <a:p>
            <a:r>
              <a:rPr lang="en-US" altLang="zh-TW" sz="1600" dirty="0">
                <a:solidFill>
                  <a:schemeClr val="accent1"/>
                </a:solidFill>
              </a:rPr>
              <a:t>PCB</a:t>
            </a:r>
            <a:r>
              <a:rPr lang="zh-TW" altLang="en-US" sz="1600" dirty="0">
                <a:solidFill>
                  <a:schemeClr val="accent1"/>
                </a:solidFill>
              </a:rPr>
              <a:t>設計與</a:t>
            </a:r>
            <a:r>
              <a:rPr lang="en-US" altLang="zh-TW" sz="1600" dirty="0">
                <a:solidFill>
                  <a:schemeClr val="accent1"/>
                </a:solidFill>
              </a:rPr>
              <a:t>Layout</a:t>
            </a:r>
            <a:endParaRPr lang="zh-TW" altLang="en-US" sz="1600" dirty="0">
              <a:solidFill>
                <a:schemeClr val="accent1"/>
              </a:solidFill>
            </a:endParaRPr>
          </a:p>
        </p:txBody>
      </p:sp>
      <p:sp>
        <p:nvSpPr>
          <p:cNvPr id="270" name="文字方塊 269">
            <a:extLst>
              <a:ext uri="{FF2B5EF4-FFF2-40B4-BE49-F238E27FC236}">
                <a16:creationId xmlns:a16="http://schemas.microsoft.com/office/drawing/2014/main" id="{A35640DE-E80B-4B98-EB59-36D08E06DE1D}"/>
              </a:ext>
            </a:extLst>
          </p:cNvPr>
          <p:cNvSpPr txBox="1"/>
          <p:nvPr/>
        </p:nvSpPr>
        <p:spPr>
          <a:xfrm>
            <a:off x="6096000" y="2461998"/>
            <a:ext cx="1551714" cy="1663721"/>
          </a:xfrm>
          <a:prstGeom prst="round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zh-TW"/>
            </a:defPPr>
            <a:lvl1pPr algn="ctr" defTabSz="622300">
              <a:spcBef>
                <a:spcPct val="0"/>
              </a:spcBef>
              <a:defRPr sz="1050" b="1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r>
              <a:rPr lang="en-US" altLang="zh-TW" sz="14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Valor NPI</a:t>
            </a:r>
          </a:p>
          <a:p>
            <a:r>
              <a:rPr lang="zh-TW" altLang="en-US" sz="1200" dirty="0">
                <a:solidFill>
                  <a:schemeClr val="accent1"/>
                </a:solidFill>
              </a:rPr>
              <a:t>高階</a:t>
            </a:r>
            <a:r>
              <a:rPr lang="en-US" altLang="zh-TW" sz="1200" dirty="0">
                <a:solidFill>
                  <a:schemeClr val="accent1"/>
                </a:solidFill>
              </a:rPr>
              <a:t>PCB</a:t>
            </a:r>
            <a:r>
              <a:rPr lang="zh-TW" altLang="en-US" sz="1200" dirty="0">
                <a:solidFill>
                  <a:schemeClr val="accent1"/>
                </a:solidFill>
              </a:rPr>
              <a:t>設計審核</a:t>
            </a:r>
            <a:endParaRPr lang="en-US" altLang="zh-TW" sz="1200" dirty="0">
              <a:solidFill>
                <a:schemeClr val="accent1"/>
              </a:solidFill>
            </a:endParaRPr>
          </a:p>
          <a:p>
            <a:r>
              <a:rPr lang="zh-TW" altLang="en-US" sz="1200" dirty="0">
                <a:solidFill>
                  <a:schemeClr val="accent1"/>
                </a:solidFill>
              </a:rPr>
              <a:t>製造可行性驗證</a:t>
            </a:r>
            <a:endParaRPr lang="en-US" altLang="zh-TW" sz="1200" dirty="0">
              <a:solidFill>
                <a:schemeClr val="accent1"/>
              </a:solidFill>
            </a:endParaRPr>
          </a:p>
        </p:txBody>
      </p:sp>
      <p:sp>
        <p:nvSpPr>
          <p:cNvPr id="272" name="文字方塊 271">
            <a:extLst>
              <a:ext uri="{FF2B5EF4-FFF2-40B4-BE49-F238E27FC236}">
                <a16:creationId xmlns:a16="http://schemas.microsoft.com/office/drawing/2014/main" id="{276EF0E4-53BF-608A-9E8A-3C09DB39FCCC}"/>
              </a:ext>
            </a:extLst>
          </p:cNvPr>
          <p:cNvSpPr txBox="1"/>
          <p:nvPr/>
        </p:nvSpPr>
        <p:spPr>
          <a:xfrm>
            <a:off x="8013834" y="2467469"/>
            <a:ext cx="1091749" cy="3316502"/>
          </a:xfrm>
          <a:prstGeom prst="roundRect">
            <a:avLst>
              <a:gd name="adj" fmla="val 12305"/>
            </a:avLst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zh-TW"/>
            </a:defPPr>
            <a:lvl1pPr algn="ctr" defTabSz="622300">
              <a:spcBef>
                <a:spcPct val="0"/>
              </a:spcBef>
              <a:defRPr sz="105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r>
              <a:rPr lang="en-US" altLang="zh-TW" sz="16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Valor PP</a:t>
            </a:r>
          </a:p>
          <a:p>
            <a:r>
              <a:rPr lang="zh-TW" altLang="en-US" sz="1400" dirty="0">
                <a:solidFill>
                  <a:schemeClr val="accent1"/>
                </a:solidFill>
              </a:rPr>
              <a:t>製程設計</a:t>
            </a:r>
          </a:p>
        </p:txBody>
      </p:sp>
      <p:sp>
        <p:nvSpPr>
          <p:cNvPr id="281" name="文字方塊 280">
            <a:extLst>
              <a:ext uri="{FF2B5EF4-FFF2-40B4-BE49-F238E27FC236}">
                <a16:creationId xmlns:a16="http://schemas.microsoft.com/office/drawing/2014/main" id="{E08471AC-DA8F-CE95-5971-BD0C74A5234F}"/>
              </a:ext>
            </a:extLst>
          </p:cNvPr>
          <p:cNvSpPr txBox="1"/>
          <p:nvPr/>
        </p:nvSpPr>
        <p:spPr>
          <a:xfrm>
            <a:off x="6096000" y="4166276"/>
            <a:ext cx="1551714" cy="1612224"/>
          </a:xfrm>
          <a:prstGeom prst="round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zh-TW"/>
            </a:defPPr>
            <a:lvl1pPr algn="ctr" defTabSz="622300">
              <a:spcBef>
                <a:spcPct val="0"/>
              </a:spcBef>
              <a:defRPr sz="1050" b="1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r>
              <a:rPr lang="en-US" altLang="zh-TW" sz="1600" dirty="0" err="1">
                <a:solidFill>
                  <a:srgbClr val="C00000"/>
                </a:solidFill>
              </a:rPr>
              <a:t>GerbTooL</a:t>
            </a:r>
            <a:endParaRPr lang="en-US" altLang="zh-TW" sz="1600" dirty="0">
              <a:solidFill>
                <a:srgbClr val="C00000"/>
              </a:solidFill>
            </a:endParaRPr>
          </a:p>
          <a:p>
            <a:r>
              <a:rPr lang="zh-TW" altLang="en-US" sz="1400" dirty="0">
                <a:solidFill>
                  <a:schemeClr val="accent1"/>
                </a:solidFill>
              </a:rPr>
              <a:t>基礎</a:t>
            </a:r>
            <a:r>
              <a:rPr lang="en-US" altLang="zh-TW" sz="1400" dirty="0">
                <a:solidFill>
                  <a:schemeClr val="accent1"/>
                </a:solidFill>
              </a:rPr>
              <a:t>DRC</a:t>
            </a:r>
            <a:r>
              <a:rPr lang="zh-TW" altLang="en-US" sz="1400" dirty="0">
                <a:solidFill>
                  <a:schemeClr val="accent1"/>
                </a:solidFill>
              </a:rPr>
              <a:t>檢查</a:t>
            </a:r>
            <a:endParaRPr lang="en-US" altLang="zh-TW" sz="1400" dirty="0">
              <a:solidFill>
                <a:schemeClr val="accent1"/>
              </a:solidFill>
            </a:endParaRPr>
          </a:p>
        </p:txBody>
      </p:sp>
      <p:cxnSp>
        <p:nvCxnSpPr>
          <p:cNvPr id="298" name="接點: 弧形 297">
            <a:extLst>
              <a:ext uri="{FF2B5EF4-FFF2-40B4-BE49-F238E27FC236}">
                <a16:creationId xmlns:a16="http://schemas.microsoft.com/office/drawing/2014/main" id="{A5A43525-A9B5-AA8C-2E08-931F4F42FF99}"/>
              </a:ext>
            </a:extLst>
          </p:cNvPr>
          <p:cNvCxnSpPr>
            <a:cxnSpLocks/>
          </p:cNvCxnSpPr>
          <p:nvPr/>
        </p:nvCxnSpPr>
        <p:spPr>
          <a:xfrm rot="10800000" flipV="1">
            <a:off x="5964242" y="4956347"/>
            <a:ext cx="137272" cy="1"/>
          </a:xfrm>
          <a:prstGeom prst="curvedConnector3">
            <a:avLst>
              <a:gd name="adj1" fmla="val 50000"/>
            </a:avLst>
          </a:prstGeom>
          <a:ln>
            <a:solidFill>
              <a:srgbClr val="37415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7" name="矩形 336">
            <a:extLst>
              <a:ext uri="{FF2B5EF4-FFF2-40B4-BE49-F238E27FC236}">
                <a16:creationId xmlns:a16="http://schemas.microsoft.com/office/drawing/2014/main" id="{48378CAE-3C77-FB8F-7306-C1F78C4EC9A2}"/>
              </a:ext>
            </a:extLst>
          </p:cNvPr>
          <p:cNvSpPr/>
          <p:nvPr/>
        </p:nvSpPr>
        <p:spPr>
          <a:xfrm>
            <a:off x="1093818" y="6383642"/>
            <a:ext cx="10127914" cy="480708"/>
          </a:xfrm>
          <a:prstGeom prst="rect">
            <a:avLst/>
          </a:prstGeom>
          <a:solidFill>
            <a:srgbClr val="2880A1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bIns="108000" rtlCol="0" anchor="b"/>
          <a:lstStyle/>
          <a:p>
            <a:r>
              <a:rPr lang="zh-TW" altLang="en-US" sz="1800" b="1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機械設計與產品開發</a:t>
            </a:r>
          </a:p>
        </p:txBody>
      </p:sp>
      <p:cxnSp>
        <p:nvCxnSpPr>
          <p:cNvPr id="338" name="接點: 弧形 285">
            <a:extLst>
              <a:ext uri="{FF2B5EF4-FFF2-40B4-BE49-F238E27FC236}">
                <a16:creationId xmlns:a16="http://schemas.microsoft.com/office/drawing/2014/main" id="{736A9411-B5C9-0A0C-441E-FA682391711A}"/>
              </a:ext>
            </a:extLst>
          </p:cNvPr>
          <p:cNvCxnSpPr>
            <a:cxnSpLocks/>
            <a:stCxn id="255" idx="2"/>
          </p:cNvCxnSpPr>
          <p:nvPr/>
        </p:nvCxnSpPr>
        <p:spPr>
          <a:xfrm>
            <a:off x="10573341" y="5257857"/>
            <a:ext cx="0" cy="1568393"/>
          </a:xfrm>
          <a:prstGeom prst="straightConnector1">
            <a:avLst/>
          </a:prstGeom>
          <a:ln w="38100">
            <a:solidFill>
              <a:schemeClr val="bg1"/>
            </a:solidFill>
            <a:prstDash val="sysDot"/>
            <a:headEnd type="triangl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接點: 弧形 340">
            <a:extLst>
              <a:ext uri="{FF2B5EF4-FFF2-40B4-BE49-F238E27FC236}">
                <a16:creationId xmlns:a16="http://schemas.microsoft.com/office/drawing/2014/main" id="{6941C29D-5BED-D7D9-7DD1-E2C9877746FE}"/>
              </a:ext>
            </a:extLst>
          </p:cNvPr>
          <p:cNvCxnSpPr>
            <a:cxnSpLocks/>
            <a:stCxn id="243" idx="3"/>
          </p:cNvCxnSpPr>
          <p:nvPr/>
        </p:nvCxnSpPr>
        <p:spPr>
          <a:xfrm>
            <a:off x="970268" y="4125720"/>
            <a:ext cx="325289" cy="2732280"/>
          </a:xfrm>
          <a:prstGeom prst="curvedConnector2">
            <a:avLst/>
          </a:prstGeom>
          <a:ln w="38100">
            <a:solidFill>
              <a:schemeClr val="bg1"/>
            </a:solidFill>
            <a:prstDash val="sysDot"/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0" name="文字方塊 359">
            <a:extLst>
              <a:ext uri="{FF2B5EF4-FFF2-40B4-BE49-F238E27FC236}">
                <a16:creationId xmlns:a16="http://schemas.microsoft.com/office/drawing/2014/main" id="{BA5A34DF-7F81-771D-F9AC-124160E56B5E}"/>
              </a:ext>
            </a:extLst>
          </p:cNvPr>
          <p:cNvSpPr txBox="1"/>
          <p:nvPr/>
        </p:nvSpPr>
        <p:spPr>
          <a:xfrm>
            <a:off x="4410851" y="2461998"/>
            <a:ext cx="1551714" cy="3316498"/>
          </a:xfrm>
          <a:prstGeom prst="round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zh-TW"/>
            </a:defPPr>
            <a:lvl1pPr algn="ctr" defTabSz="622300">
              <a:spcBef>
                <a:spcPct val="0"/>
              </a:spcBef>
              <a:defRPr sz="1050" b="1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r>
              <a:rPr lang="en-US" altLang="zh-TW" sz="20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HyperLynx</a:t>
            </a:r>
          </a:p>
          <a:p>
            <a:r>
              <a:rPr lang="zh-TW" altLang="en-US" sz="1800" dirty="0">
                <a:solidFill>
                  <a:schemeClr val="accent1"/>
                </a:solidFill>
              </a:rPr>
              <a:t>電氣特性</a:t>
            </a:r>
            <a:endParaRPr lang="en-US" altLang="zh-TW" sz="1800" dirty="0">
              <a:solidFill>
                <a:schemeClr val="accent1"/>
              </a:solidFill>
            </a:endParaRPr>
          </a:p>
          <a:p>
            <a:r>
              <a:rPr lang="zh-TW" altLang="en-US" sz="1800" dirty="0">
                <a:solidFill>
                  <a:schemeClr val="accent1"/>
                </a:solidFill>
              </a:rPr>
              <a:t>驗証模擬</a:t>
            </a:r>
          </a:p>
        </p:txBody>
      </p:sp>
    </p:spTree>
    <p:extLst>
      <p:ext uri="{BB962C8B-B14F-4D97-AF65-F5344CB8AC3E}">
        <p14:creationId xmlns:p14="http://schemas.microsoft.com/office/powerpoint/2010/main" val="22906259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39DE0-801D-7C25-AC26-9AC2CF8EC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84A79C4-04F4-B8C2-1D4F-924B0F9A7A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750255"/>
              </p:ext>
            </p:extLst>
          </p:nvPr>
        </p:nvGraphicFramePr>
        <p:xfrm>
          <a:off x="0" y="674725"/>
          <a:ext cx="12196800" cy="4589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0220">
                  <a:extLst>
                    <a:ext uri="{9D8B030D-6E8A-4147-A177-3AD203B41FA5}">
                      <a16:colId xmlns:a16="http://schemas.microsoft.com/office/drawing/2014/main" val="3579286966"/>
                    </a:ext>
                  </a:extLst>
                </a:gridCol>
                <a:gridCol w="2682384">
                  <a:extLst>
                    <a:ext uri="{9D8B030D-6E8A-4147-A177-3AD203B41FA5}">
                      <a16:colId xmlns:a16="http://schemas.microsoft.com/office/drawing/2014/main" val="4097209183"/>
                    </a:ext>
                  </a:extLst>
                </a:gridCol>
                <a:gridCol w="3976777">
                  <a:extLst>
                    <a:ext uri="{9D8B030D-6E8A-4147-A177-3AD203B41FA5}">
                      <a16:colId xmlns:a16="http://schemas.microsoft.com/office/drawing/2014/main" val="3055200445"/>
                    </a:ext>
                  </a:extLst>
                </a:gridCol>
                <a:gridCol w="1846053">
                  <a:extLst>
                    <a:ext uri="{9D8B030D-6E8A-4147-A177-3AD203B41FA5}">
                      <a16:colId xmlns:a16="http://schemas.microsoft.com/office/drawing/2014/main" val="719720565"/>
                    </a:ext>
                  </a:extLst>
                </a:gridCol>
                <a:gridCol w="1931366">
                  <a:extLst>
                    <a:ext uri="{9D8B030D-6E8A-4147-A177-3AD203B41FA5}">
                      <a16:colId xmlns:a16="http://schemas.microsoft.com/office/drawing/2014/main" val="1912016547"/>
                    </a:ext>
                  </a:extLst>
                </a:gridCol>
              </a:tblGrid>
              <a:tr h="28280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專案發起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設計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設計驗証與模擬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製造驗証與生產準備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協同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3823"/>
                  </a:ext>
                </a:extLst>
              </a:tr>
              <a:tr h="4284408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427877"/>
                  </a:ext>
                </a:extLst>
              </a:tr>
            </a:tbl>
          </a:graphicData>
        </a:graphic>
      </p:graphicFrame>
      <p:sp>
        <p:nvSpPr>
          <p:cNvPr id="14" name="箭號: 向右 13">
            <a:extLst>
              <a:ext uri="{FF2B5EF4-FFF2-40B4-BE49-F238E27FC236}">
                <a16:creationId xmlns:a16="http://schemas.microsoft.com/office/drawing/2014/main" id="{53039813-85D5-D647-8849-92BD8191C0FF}"/>
              </a:ext>
            </a:extLst>
          </p:cNvPr>
          <p:cNvSpPr/>
          <p:nvPr/>
        </p:nvSpPr>
        <p:spPr>
          <a:xfrm>
            <a:off x="4103583" y="5017710"/>
            <a:ext cx="6312643" cy="275455"/>
          </a:xfrm>
          <a:prstGeom prst="rightArrow">
            <a:avLst/>
          </a:prstGeom>
          <a:solidFill>
            <a:srgbClr val="3741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66DA922-7D27-65BE-68CB-76C9FB9EB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67" y="5130980"/>
            <a:ext cx="1703331" cy="1705959"/>
          </a:xfrm>
          <a:prstGeom prst="rect">
            <a:avLst/>
          </a:prstGeom>
        </p:spPr>
      </p:pic>
      <p:sp>
        <p:nvSpPr>
          <p:cNvPr id="155" name="矩形: 圓角 154">
            <a:extLst>
              <a:ext uri="{FF2B5EF4-FFF2-40B4-BE49-F238E27FC236}">
                <a16:creationId xmlns:a16="http://schemas.microsoft.com/office/drawing/2014/main" id="{70C1B8C5-6805-A6AB-47A4-401CD7BDFF23}"/>
              </a:ext>
            </a:extLst>
          </p:cNvPr>
          <p:cNvSpPr/>
          <p:nvPr/>
        </p:nvSpPr>
        <p:spPr>
          <a:xfrm>
            <a:off x="8499635" y="1169448"/>
            <a:ext cx="1657592" cy="1177211"/>
          </a:xfrm>
          <a:prstGeom prst="roundRect">
            <a:avLst>
              <a:gd name="adj" fmla="val 9499"/>
            </a:avLst>
          </a:prstGeom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2000" bIns="71631" numCol="1" spcCol="1270" anchor="t" anchorCtr="0">
            <a:noAutofit/>
          </a:bodyPr>
          <a:lstStyle/>
          <a:p>
            <a:pPr algn="ctr" defTabSz="622300">
              <a:spcBef>
                <a:spcPct val="0"/>
              </a:spcBef>
            </a:pPr>
            <a:r>
              <a:rPr lang="en-US" altLang="zh-TW" sz="105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DFM</a:t>
            </a:r>
          </a:p>
          <a:p>
            <a:pPr algn="ctr" defTabSz="622300">
              <a:spcBef>
                <a:spcPct val="0"/>
              </a:spcBef>
            </a:pPr>
            <a:r>
              <a:rPr lang="it-IT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Valor NPI</a:t>
            </a:r>
          </a:p>
          <a:p>
            <a:pPr algn="ctr" defTabSz="622300">
              <a:spcBef>
                <a:spcPct val="0"/>
              </a:spcBef>
            </a:pPr>
            <a:endParaRPr lang="it-IT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spcBef>
                <a:spcPct val="0"/>
              </a:spcBef>
              <a:defRPr/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檢查設計可製造性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spcBef>
                <a:spcPct val="0"/>
              </a:spcBef>
              <a:defRPr/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確保符合製造需求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spcBef>
                <a:spcPct val="0"/>
              </a:spcBef>
              <a:defRPr/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降低生產問題與成本</a:t>
            </a:r>
          </a:p>
        </p:txBody>
      </p:sp>
      <p:sp>
        <p:nvSpPr>
          <p:cNvPr id="156" name="矩形: 圓角 155">
            <a:extLst>
              <a:ext uri="{FF2B5EF4-FFF2-40B4-BE49-F238E27FC236}">
                <a16:creationId xmlns:a16="http://schemas.microsoft.com/office/drawing/2014/main" id="{DE26921A-C6A5-35E8-9E1E-939F7390037F}"/>
              </a:ext>
            </a:extLst>
          </p:cNvPr>
          <p:cNvSpPr/>
          <p:nvPr/>
        </p:nvSpPr>
        <p:spPr>
          <a:xfrm>
            <a:off x="1956229" y="1007507"/>
            <a:ext cx="1912954" cy="1394307"/>
          </a:xfrm>
          <a:prstGeom prst="roundRect">
            <a:avLst>
              <a:gd name="adj" fmla="val 6232"/>
            </a:avLst>
          </a:prstGeom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1631" bIns="71631" numCol="1" spcCol="1270" anchor="t" anchorCtr="0">
            <a:noAutofit/>
          </a:bodyPr>
          <a:lstStyle/>
          <a:p>
            <a:pPr algn="ctr" defTabSz="622300">
              <a:spcBef>
                <a:spcPct val="0"/>
              </a:spcBef>
            </a:pPr>
            <a:r>
              <a:rPr lang="en-US" altLang="zh-TW" sz="105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Concurrent Design Enter</a:t>
            </a:r>
          </a:p>
          <a:p>
            <a:pPr algn="ctr" defTabSz="622300">
              <a:spcBef>
                <a:spcPct val="0"/>
              </a:spcBef>
            </a:pPr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PADS /</a:t>
            </a:r>
          </a:p>
          <a:p>
            <a:pPr algn="ctr" defTabSz="622300">
              <a:spcBef>
                <a:spcPct val="0"/>
              </a:spcBef>
            </a:pPr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Xpedition Designer</a:t>
            </a:r>
          </a:p>
          <a:p>
            <a:pPr algn="ctr" defTabSz="622300">
              <a:spcBef>
                <a:spcPct val="0"/>
              </a:spcBef>
            </a:pPr>
            <a:endParaRPr lang="en-US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設計與繪製原理圖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確保元件選擇與連接準確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提供</a:t>
            </a:r>
            <a:r>
              <a:rPr lang="en-US" altLang="zh-TW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PCB</a:t>
            </a: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佈局基礎</a:t>
            </a:r>
          </a:p>
        </p:txBody>
      </p:sp>
      <p:sp>
        <p:nvSpPr>
          <p:cNvPr id="162" name="矩形: 圓角 161">
            <a:extLst>
              <a:ext uri="{FF2B5EF4-FFF2-40B4-BE49-F238E27FC236}">
                <a16:creationId xmlns:a16="http://schemas.microsoft.com/office/drawing/2014/main" id="{20B9F4E4-58C5-528E-CFF2-889E5CA45A6F}"/>
              </a:ext>
            </a:extLst>
          </p:cNvPr>
          <p:cNvSpPr/>
          <p:nvPr/>
        </p:nvSpPr>
        <p:spPr>
          <a:xfrm>
            <a:off x="6482410" y="1948894"/>
            <a:ext cx="1781698" cy="1635605"/>
          </a:xfrm>
          <a:prstGeom prst="roundRect">
            <a:avLst>
              <a:gd name="adj" fmla="val 6206"/>
            </a:avLst>
          </a:prstGeom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6000" tIns="71631" rIns="36000" bIns="71631" numCol="1" spcCol="1270" anchor="t" anchorCtr="0">
            <a:noAutofit/>
          </a:bodyPr>
          <a:lstStyle/>
          <a:p>
            <a:pPr algn="ctr" defTabSz="622300">
              <a:spcBef>
                <a:spcPct val="0"/>
              </a:spcBef>
            </a:pPr>
            <a:r>
              <a:rPr lang="en-US" altLang="zh-TW" sz="105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Simulation</a:t>
            </a:r>
          </a:p>
          <a:p>
            <a:pPr algn="ctr" defTabSz="622300">
              <a:spcBef>
                <a:spcPct val="0"/>
              </a:spcBef>
            </a:pPr>
            <a:r>
              <a:rPr lang="it-IT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HyperLynx</a:t>
            </a:r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DRC / </a:t>
            </a:r>
            <a:r>
              <a:rPr lang="it-IT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SI/PI/AMS/Thermal</a:t>
            </a:r>
          </a:p>
          <a:p>
            <a:pPr algn="ctr" defTabSz="622300">
              <a:spcBef>
                <a:spcPct val="0"/>
              </a:spcBef>
            </a:pPr>
            <a:endParaRPr lang="it-IT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模擬信號與電源完整性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提前發現設計問題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優化性能提升可靠性</a:t>
            </a:r>
            <a:endParaRPr lang="it-IT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4" name="矩形: 圓角 163">
            <a:extLst>
              <a:ext uri="{FF2B5EF4-FFF2-40B4-BE49-F238E27FC236}">
                <a16:creationId xmlns:a16="http://schemas.microsoft.com/office/drawing/2014/main" id="{B1752F54-C76E-126B-BE01-346F0FD10294}"/>
              </a:ext>
            </a:extLst>
          </p:cNvPr>
          <p:cNvSpPr/>
          <p:nvPr/>
        </p:nvSpPr>
        <p:spPr>
          <a:xfrm>
            <a:off x="4550136" y="1005478"/>
            <a:ext cx="1804771" cy="1359890"/>
          </a:xfrm>
          <a:prstGeom prst="roundRect">
            <a:avLst>
              <a:gd name="adj" fmla="val 4923"/>
            </a:avLst>
          </a:prstGeom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1631" bIns="71631" numCol="1" spcCol="1270" anchor="t" anchorCtr="0">
            <a:noAutofit/>
          </a:bodyPr>
          <a:lstStyle/>
          <a:p>
            <a:pPr algn="ctr"/>
            <a:r>
              <a:rPr lang="en-US" altLang="zh-TW" sz="105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Verification</a:t>
            </a:r>
          </a:p>
          <a:p>
            <a:pPr algn="ctr"/>
            <a:r>
              <a:rPr lang="en-US" altLang="zh-TW" sz="1050" b="1" dirty="0" err="1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HyperLynx</a:t>
            </a:r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  <a:p>
            <a:pPr algn="ctr"/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Schematic Analysis </a:t>
            </a:r>
          </a:p>
          <a:p>
            <a:pPr algn="ctr"/>
            <a:endParaRPr lang="en-US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驗證原理圖電氣連接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檢查元件規格與設計錯誤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確保設計準確符合規範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5" name="矩形: 圓角 164">
            <a:extLst>
              <a:ext uri="{FF2B5EF4-FFF2-40B4-BE49-F238E27FC236}">
                <a16:creationId xmlns:a16="http://schemas.microsoft.com/office/drawing/2014/main" id="{CE9C1DF2-5A13-B520-984F-EC26D6B013ED}"/>
              </a:ext>
            </a:extLst>
          </p:cNvPr>
          <p:cNvSpPr/>
          <p:nvPr/>
        </p:nvSpPr>
        <p:spPr>
          <a:xfrm>
            <a:off x="6723061" y="5357727"/>
            <a:ext cx="1944660" cy="1077442"/>
          </a:xfrm>
          <a:prstGeom prst="roundRect">
            <a:avLst/>
          </a:prstGeom>
          <a:solidFill>
            <a:srgbClr val="69E9C6"/>
          </a:solidFill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2000" bIns="71631" numCol="1" spcCol="1270" anchor="ctr" anchorCtr="0">
            <a:noAutofit/>
          </a:bodyPr>
          <a:lstStyle/>
          <a:p>
            <a:pPr lvl="0" algn="ctr" defTabSz="622300">
              <a:spcBef>
                <a:spcPct val="0"/>
              </a:spcBef>
            </a:pPr>
            <a:r>
              <a:rPr lang="zh-TW" altLang="en-US" sz="105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約束定義和檢查</a:t>
            </a:r>
            <a:endParaRPr lang="en-US" altLang="zh-TW" sz="1050" b="1" dirty="0">
              <a:solidFill>
                <a:srgbClr val="37415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 algn="ctr" defTabSz="622300">
              <a:spcBef>
                <a:spcPct val="0"/>
              </a:spcBef>
            </a:pPr>
            <a:r>
              <a:rPr lang="en-US" altLang="en-US" sz="1050" b="1" kern="12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Constraint Manager</a:t>
            </a:r>
          </a:p>
          <a:p>
            <a:pPr lvl="0" algn="ctr" defTabSz="622300">
              <a:spcBef>
                <a:spcPct val="0"/>
              </a:spcBef>
            </a:pPr>
            <a:endParaRPr lang="en-US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設置設計規則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自動檢查設計錯誤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確保符合電氣與製造要求</a:t>
            </a:r>
          </a:p>
        </p:txBody>
      </p:sp>
      <p:sp>
        <p:nvSpPr>
          <p:cNvPr id="166" name="矩形: 圓角 165">
            <a:extLst>
              <a:ext uri="{FF2B5EF4-FFF2-40B4-BE49-F238E27FC236}">
                <a16:creationId xmlns:a16="http://schemas.microsoft.com/office/drawing/2014/main" id="{051D65B1-3298-5495-C6BB-622F84F3807D}"/>
              </a:ext>
            </a:extLst>
          </p:cNvPr>
          <p:cNvSpPr/>
          <p:nvPr/>
        </p:nvSpPr>
        <p:spPr>
          <a:xfrm>
            <a:off x="1956229" y="5357727"/>
            <a:ext cx="2779236" cy="1077442"/>
          </a:xfrm>
          <a:prstGeom prst="roundRect">
            <a:avLst/>
          </a:prstGeom>
          <a:solidFill>
            <a:srgbClr val="69E9C6"/>
          </a:solidFill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2000" bIns="71631" numCol="1" spcCol="1270" anchor="ctr" anchorCtr="0">
            <a:noAutofit/>
          </a:bodyPr>
          <a:lstStyle/>
          <a:p>
            <a:pPr algn="ctr" defTabSz="622300">
              <a:spcBef>
                <a:spcPct val="0"/>
              </a:spcBef>
            </a:pPr>
            <a:r>
              <a:rPr lang="en-US" altLang="zh-TW" sz="105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TEAMCENTER PLM</a:t>
            </a:r>
          </a:p>
          <a:p>
            <a:pPr algn="ctr" defTabSz="622300">
              <a:spcBef>
                <a:spcPct val="0"/>
              </a:spcBef>
            </a:pPr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Library/ECAD-BOM</a:t>
            </a:r>
          </a:p>
          <a:p>
            <a:pPr algn="ctr" defTabSz="622300">
              <a:spcBef>
                <a:spcPct val="0"/>
              </a:spcBef>
            </a:pPr>
            <a:endParaRPr lang="en-US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電子料件管理 </a:t>
            </a:r>
            <a:r>
              <a:rPr lang="en-US" altLang="zh-TW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 BOM</a:t>
            </a: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管理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確保標準化與版本控制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支持資料交換</a:t>
            </a:r>
          </a:p>
        </p:txBody>
      </p:sp>
      <p:sp>
        <p:nvSpPr>
          <p:cNvPr id="167" name="矩形: 圓角 166">
            <a:extLst>
              <a:ext uri="{FF2B5EF4-FFF2-40B4-BE49-F238E27FC236}">
                <a16:creationId xmlns:a16="http://schemas.microsoft.com/office/drawing/2014/main" id="{1E171611-FA78-63B1-7323-43789A85BC35}"/>
              </a:ext>
            </a:extLst>
          </p:cNvPr>
          <p:cNvSpPr/>
          <p:nvPr/>
        </p:nvSpPr>
        <p:spPr>
          <a:xfrm>
            <a:off x="8689188" y="5357727"/>
            <a:ext cx="1511722" cy="1077442"/>
          </a:xfrm>
          <a:prstGeom prst="roundRect">
            <a:avLst/>
          </a:prstGeom>
          <a:solidFill>
            <a:srgbClr val="69E9C6"/>
          </a:solidFill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2000" bIns="71631" numCol="1" spcCol="1270" anchor="ctr" anchorCtr="0">
            <a:noAutofit/>
          </a:bodyPr>
          <a:lstStyle/>
          <a:p>
            <a:pPr algn="ctr" defTabSz="622300">
              <a:spcBef>
                <a:spcPct val="0"/>
              </a:spcBef>
            </a:pPr>
            <a:r>
              <a:rPr lang="en-US" altLang="zh-TW" sz="105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Customization</a:t>
            </a:r>
          </a:p>
          <a:p>
            <a:pPr algn="ctr" defTabSz="622300">
              <a:spcBef>
                <a:spcPct val="0"/>
              </a:spcBef>
            </a:pPr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Automation</a:t>
            </a:r>
          </a:p>
          <a:p>
            <a:pPr algn="ctr" defTabSz="622300">
              <a:spcBef>
                <a:spcPct val="0"/>
              </a:spcBef>
            </a:pPr>
            <a:endParaRPr lang="en-US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自動化設計流程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客製化腳本與工具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提高效率與精度</a:t>
            </a:r>
          </a:p>
        </p:txBody>
      </p:sp>
      <p:sp>
        <p:nvSpPr>
          <p:cNvPr id="173" name="矩形: 圓角 172">
            <a:extLst>
              <a:ext uri="{FF2B5EF4-FFF2-40B4-BE49-F238E27FC236}">
                <a16:creationId xmlns:a16="http://schemas.microsoft.com/office/drawing/2014/main" id="{F751215E-C178-0FC3-307B-324E190415CC}"/>
              </a:ext>
            </a:extLst>
          </p:cNvPr>
          <p:cNvSpPr/>
          <p:nvPr/>
        </p:nvSpPr>
        <p:spPr>
          <a:xfrm>
            <a:off x="2429579" y="2787114"/>
            <a:ext cx="1815134" cy="2450193"/>
          </a:xfrm>
          <a:prstGeom prst="roundRect">
            <a:avLst>
              <a:gd name="adj" fmla="val 3231"/>
            </a:avLst>
          </a:prstGeom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1631" bIns="71631" numCol="1" spcCol="1270" anchor="t" anchorCtr="0">
            <a:noAutofit/>
          </a:bodyPr>
          <a:lstStyle/>
          <a:p>
            <a:pPr algn="ctr" defTabSz="622300">
              <a:spcBef>
                <a:spcPct val="0"/>
              </a:spcBef>
            </a:pPr>
            <a:r>
              <a:rPr lang="en-US" altLang="zh-TW" sz="105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Concurrent PCB Layout</a:t>
            </a:r>
          </a:p>
          <a:p>
            <a:pPr algn="ctr"/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PADS / Xpedition PCB</a:t>
            </a:r>
          </a:p>
          <a:p>
            <a:pPr algn="ctr"/>
            <a:endParaRPr lang="en-US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原理圖轉換為</a:t>
            </a:r>
            <a:r>
              <a:rPr lang="en-US" altLang="zh-TW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PCB</a:t>
            </a: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佈局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完成元件放置與走線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確保電氣性能與可製造性</a:t>
            </a:r>
          </a:p>
        </p:txBody>
      </p:sp>
      <p:sp>
        <p:nvSpPr>
          <p:cNvPr id="174" name="矩形: 圓角 173">
            <a:extLst>
              <a:ext uri="{FF2B5EF4-FFF2-40B4-BE49-F238E27FC236}">
                <a16:creationId xmlns:a16="http://schemas.microsoft.com/office/drawing/2014/main" id="{FD4E3229-F83A-17A8-1B59-3488359DA806}"/>
              </a:ext>
            </a:extLst>
          </p:cNvPr>
          <p:cNvSpPr/>
          <p:nvPr/>
        </p:nvSpPr>
        <p:spPr>
          <a:xfrm>
            <a:off x="10437693" y="4512809"/>
            <a:ext cx="1647767" cy="618171"/>
          </a:xfrm>
          <a:prstGeom prst="roundRect">
            <a:avLst/>
          </a:prstGeom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1631" bIns="71631" numCol="1" spcCol="1270" anchor="ctr" anchorCtr="0">
            <a:noAutofit/>
          </a:bodyPr>
          <a:lstStyle/>
          <a:p>
            <a:pPr algn="ctr"/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ECAD/ MCAD </a:t>
            </a:r>
            <a:r>
              <a:rPr lang="zh-TW" altLang="en-US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協作</a:t>
            </a:r>
          </a:p>
        </p:txBody>
      </p:sp>
      <p:sp>
        <p:nvSpPr>
          <p:cNvPr id="175" name="矩形: 圓角 174">
            <a:extLst>
              <a:ext uri="{FF2B5EF4-FFF2-40B4-BE49-F238E27FC236}">
                <a16:creationId xmlns:a16="http://schemas.microsoft.com/office/drawing/2014/main" id="{C19A8B1C-0797-33A1-A0D1-A35B2E660D76}"/>
              </a:ext>
            </a:extLst>
          </p:cNvPr>
          <p:cNvSpPr/>
          <p:nvPr/>
        </p:nvSpPr>
        <p:spPr>
          <a:xfrm>
            <a:off x="10437693" y="5174026"/>
            <a:ext cx="1647767" cy="61817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1631" bIns="71631" numCol="1" spcCol="1270" anchor="ctr" anchorCtr="0">
            <a:noAutofit/>
          </a:bodyPr>
          <a:lstStyle/>
          <a:p>
            <a:pPr algn="ctr"/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Siemens NX</a:t>
            </a:r>
          </a:p>
        </p:txBody>
      </p:sp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29E75682-2FDD-73E8-29B7-61E962ECB8BD}"/>
              </a:ext>
            </a:extLst>
          </p:cNvPr>
          <p:cNvSpPr/>
          <p:nvPr/>
        </p:nvSpPr>
        <p:spPr>
          <a:xfrm>
            <a:off x="8499635" y="3870792"/>
            <a:ext cx="1657592" cy="1155553"/>
          </a:xfrm>
          <a:prstGeom prst="roundRect">
            <a:avLst>
              <a:gd name="adj" fmla="val 7981"/>
            </a:avLst>
          </a:prstGeom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1631" bIns="71631" numCol="1" spcCol="1270" anchor="t" anchorCtr="0">
            <a:noAutofit/>
          </a:bodyPr>
          <a:lstStyle/>
          <a:p>
            <a:pPr algn="ctr"/>
            <a:r>
              <a:rPr lang="en-US" altLang="zh-TW" sz="105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MFG Data Generation</a:t>
            </a:r>
          </a:p>
          <a:p>
            <a:pPr algn="ctr"/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Valor PP</a:t>
            </a:r>
          </a:p>
          <a:p>
            <a:pPr algn="ctr"/>
            <a:endParaRPr lang="en-US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生成製造數據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確保符合製造標準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支持快速投產</a:t>
            </a: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17FD1AEB-320B-376D-F570-AA09D6A83999}"/>
              </a:ext>
            </a:extLst>
          </p:cNvPr>
          <p:cNvGrpSpPr/>
          <p:nvPr/>
        </p:nvGrpSpPr>
        <p:grpSpPr>
          <a:xfrm>
            <a:off x="105236" y="1015821"/>
            <a:ext cx="1460407" cy="1992443"/>
            <a:chOff x="254093" y="2460495"/>
            <a:chExt cx="1460407" cy="1992443"/>
          </a:xfrm>
        </p:grpSpPr>
        <p:sp>
          <p:nvSpPr>
            <p:cNvPr id="176" name="矩形: 圓角 175">
              <a:extLst>
                <a:ext uri="{FF2B5EF4-FFF2-40B4-BE49-F238E27FC236}">
                  <a16:creationId xmlns:a16="http://schemas.microsoft.com/office/drawing/2014/main" id="{8C6BB7F6-E333-4808-B947-5F16E38949A0}"/>
                </a:ext>
              </a:extLst>
            </p:cNvPr>
            <p:cNvSpPr/>
            <p:nvPr/>
          </p:nvSpPr>
          <p:spPr>
            <a:xfrm>
              <a:off x="254093" y="2460495"/>
              <a:ext cx="1460407" cy="1992443"/>
            </a:xfrm>
            <a:prstGeom prst="roundRect">
              <a:avLst>
                <a:gd name="adj" fmla="val 6479"/>
              </a:avLst>
            </a:prstGeom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1631" tIns="71631" rIns="71631" bIns="71631" numCol="1" spcCol="1270" anchor="t" anchorCtr="0">
              <a:noAutofit/>
            </a:bodyPr>
            <a:lstStyle/>
            <a:p>
              <a:pPr algn="ctr" defTabSz="622300">
                <a:spcBef>
                  <a:spcPct val="0"/>
                </a:spcBef>
              </a:pPr>
              <a:r>
                <a:rPr lang="zh-TW" altLang="en-US" sz="1050" b="1" dirty="0">
                  <a:solidFill>
                    <a:srgbClr val="37415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系統設計師</a:t>
              </a:r>
              <a:endParaRPr lang="en-US" altLang="zh-TW" sz="105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 defTabSz="622300">
                <a:spcBef>
                  <a:spcPct val="0"/>
                </a:spcBef>
              </a:pPr>
              <a:r>
                <a:rPr lang="en-US" altLang="zh-TW" sz="1050" b="1" dirty="0">
                  <a:solidFill>
                    <a:schemeClr val="accent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System Designer</a:t>
              </a:r>
            </a:p>
            <a:p>
              <a:pPr algn="ctr" defTabSz="622300">
                <a:spcBef>
                  <a:spcPct val="0"/>
                </a:spcBef>
              </a:pPr>
              <a:endPara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>
                <a:defRPr/>
              </a:pPr>
              <a:r>
                <a:rPr lang="zh-TW" altLang="en-US" sz="1200" spc="-50" dirty="0">
                  <a:solidFill>
                    <a:srgbClr val="E8E8E8">
                      <a:lumMod val="25000"/>
                    </a:srgb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進行系統前期規劃</a:t>
              </a:r>
              <a:endParaRPr lang="en-US" altLang="zh-TW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>
                <a:defRPr/>
              </a:pPr>
              <a:r>
                <a:rPr lang="zh-TW" altLang="en-US" sz="1200" spc="-50" dirty="0">
                  <a:solidFill>
                    <a:srgbClr val="E8E8E8">
                      <a:lumMod val="25000"/>
                    </a:srgb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確保設計同步進行</a:t>
              </a:r>
            </a:p>
          </p:txBody>
        </p:sp>
        <p:grpSp>
          <p:nvGrpSpPr>
            <p:cNvPr id="189" name="群組 188">
              <a:extLst>
                <a:ext uri="{FF2B5EF4-FFF2-40B4-BE49-F238E27FC236}">
                  <a16:creationId xmlns:a16="http://schemas.microsoft.com/office/drawing/2014/main" id="{352E131C-D093-8671-66D2-6864B018B56E}"/>
                </a:ext>
              </a:extLst>
            </p:cNvPr>
            <p:cNvGrpSpPr/>
            <p:nvPr/>
          </p:nvGrpSpPr>
          <p:grpSpPr>
            <a:xfrm>
              <a:off x="353968" y="3574906"/>
              <a:ext cx="1260656" cy="756473"/>
              <a:chOff x="3665776" y="2106154"/>
              <a:chExt cx="5417264" cy="325070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190" name="直線接點 189">
                <a:extLst>
                  <a:ext uri="{FF2B5EF4-FFF2-40B4-BE49-F238E27FC236}">
                    <a16:creationId xmlns:a16="http://schemas.microsoft.com/office/drawing/2014/main" id="{21DAD3B7-383B-17B2-5766-C335702B1231}"/>
                  </a:ext>
                </a:extLst>
              </p:cNvPr>
              <p:cNvCxnSpPr>
                <a:stCxn id="192" idx="2"/>
                <a:endCxn id="201" idx="0"/>
              </p:cNvCxnSpPr>
              <p:nvPr/>
            </p:nvCxnSpPr>
            <p:spPr>
              <a:xfrm flipH="1">
                <a:off x="6431002" y="2331580"/>
                <a:ext cx="4" cy="2818370"/>
              </a:xfrm>
              <a:prstGeom prst="line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1" name="直線接點 190">
                <a:extLst>
                  <a:ext uri="{FF2B5EF4-FFF2-40B4-BE49-F238E27FC236}">
                    <a16:creationId xmlns:a16="http://schemas.microsoft.com/office/drawing/2014/main" id="{FF73C95D-F7D2-7DD0-2536-5E729BCBAD14}"/>
                  </a:ext>
                </a:extLst>
              </p:cNvPr>
              <p:cNvCxnSpPr>
                <a:stCxn id="197" idx="3"/>
                <a:endCxn id="194" idx="1"/>
              </p:cNvCxnSpPr>
              <p:nvPr/>
            </p:nvCxnSpPr>
            <p:spPr>
              <a:xfrm>
                <a:off x="4779407" y="3451860"/>
                <a:ext cx="3190002" cy="0"/>
              </a:xfrm>
              <a:prstGeom prst="line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2" name="矩形 191">
                <a:extLst>
                  <a:ext uri="{FF2B5EF4-FFF2-40B4-BE49-F238E27FC236}">
                    <a16:creationId xmlns:a16="http://schemas.microsoft.com/office/drawing/2014/main" id="{9D950062-8F57-8948-37AE-F5337560E27A}"/>
                  </a:ext>
                </a:extLst>
              </p:cNvPr>
              <p:cNvSpPr/>
              <p:nvPr/>
            </p:nvSpPr>
            <p:spPr>
              <a:xfrm>
                <a:off x="5665829" y="2106154"/>
                <a:ext cx="1530350" cy="22542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3" name="矩形 192">
                <a:extLst>
                  <a:ext uri="{FF2B5EF4-FFF2-40B4-BE49-F238E27FC236}">
                    <a16:creationId xmlns:a16="http://schemas.microsoft.com/office/drawing/2014/main" id="{A138579A-FDE0-03F9-86AF-928B0C7C24D2}"/>
                  </a:ext>
                </a:extLst>
              </p:cNvPr>
              <p:cNvSpPr/>
              <p:nvPr/>
            </p:nvSpPr>
            <p:spPr>
              <a:xfrm>
                <a:off x="7672229" y="2535897"/>
                <a:ext cx="1113631" cy="2730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4" name="矩形 193">
                <a:extLst>
                  <a:ext uri="{FF2B5EF4-FFF2-40B4-BE49-F238E27FC236}">
                    <a16:creationId xmlns:a16="http://schemas.microsoft.com/office/drawing/2014/main" id="{B7ED175C-58C5-DC81-BC82-84C37BB047AF}"/>
                  </a:ext>
                </a:extLst>
              </p:cNvPr>
              <p:cNvSpPr/>
              <p:nvPr/>
            </p:nvSpPr>
            <p:spPr>
              <a:xfrm>
                <a:off x="7969409" y="3315335"/>
                <a:ext cx="1113631" cy="2730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5" name="矩形 194">
                <a:extLst>
                  <a:ext uri="{FF2B5EF4-FFF2-40B4-BE49-F238E27FC236}">
                    <a16:creationId xmlns:a16="http://schemas.microsoft.com/office/drawing/2014/main" id="{39BB9C94-87BE-DBB7-9BE8-B15A4DB90EA3}"/>
                  </a:ext>
                </a:extLst>
              </p:cNvPr>
              <p:cNvSpPr/>
              <p:nvPr/>
            </p:nvSpPr>
            <p:spPr>
              <a:xfrm>
                <a:off x="7679849" y="4114850"/>
                <a:ext cx="1113631" cy="2730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6" name="矩形 195">
                <a:extLst>
                  <a:ext uri="{FF2B5EF4-FFF2-40B4-BE49-F238E27FC236}">
                    <a16:creationId xmlns:a16="http://schemas.microsoft.com/office/drawing/2014/main" id="{047E8406-F27F-3438-EDDE-6C0C123CEDFA}"/>
                  </a:ext>
                </a:extLst>
              </p:cNvPr>
              <p:cNvSpPr/>
              <p:nvPr/>
            </p:nvSpPr>
            <p:spPr>
              <a:xfrm>
                <a:off x="3932481" y="2535897"/>
                <a:ext cx="1113631" cy="2730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7" name="矩形 196">
                <a:extLst>
                  <a:ext uri="{FF2B5EF4-FFF2-40B4-BE49-F238E27FC236}">
                    <a16:creationId xmlns:a16="http://schemas.microsoft.com/office/drawing/2014/main" id="{3BFDB730-B4C0-41AC-5A35-5D8C619B5955}"/>
                  </a:ext>
                </a:extLst>
              </p:cNvPr>
              <p:cNvSpPr/>
              <p:nvPr/>
            </p:nvSpPr>
            <p:spPr>
              <a:xfrm>
                <a:off x="3665776" y="3315335"/>
                <a:ext cx="1113631" cy="2730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8" name="矩形 197">
                <a:extLst>
                  <a:ext uri="{FF2B5EF4-FFF2-40B4-BE49-F238E27FC236}">
                    <a16:creationId xmlns:a16="http://schemas.microsoft.com/office/drawing/2014/main" id="{30BACDE2-81ED-EF52-3896-4019F82ACE24}"/>
                  </a:ext>
                </a:extLst>
              </p:cNvPr>
              <p:cNvSpPr/>
              <p:nvPr/>
            </p:nvSpPr>
            <p:spPr>
              <a:xfrm>
                <a:off x="4113689" y="4114850"/>
                <a:ext cx="1113631" cy="2730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9" name="矩形 198">
                <a:extLst>
                  <a:ext uri="{FF2B5EF4-FFF2-40B4-BE49-F238E27FC236}">
                    <a16:creationId xmlns:a16="http://schemas.microsoft.com/office/drawing/2014/main" id="{41CACE85-326C-A4B5-5221-EA5A0EDEF779}"/>
                  </a:ext>
                </a:extLst>
              </p:cNvPr>
              <p:cNvSpPr/>
              <p:nvPr/>
            </p:nvSpPr>
            <p:spPr>
              <a:xfrm>
                <a:off x="5654397" y="2811780"/>
                <a:ext cx="1553210" cy="124206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0" name="矩形 199">
                <a:extLst>
                  <a:ext uri="{FF2B5EF4-FFF2-40B4-BE49-F238E27FC236}">
                    <a16:creationId xmlns:a16="http://schemas.microsoft.com/office/drawing/2014/main" id="{6A155D1F-3612-4567-71CD-7056AC36C82F}"/>
                  </a:ext>
                </a:extLst>
              </p:cNvPr>
              <p:cNvSpPr/>
              <p:nvPr/>
            </p:nvSpPr>
            <p:spPr>
              <a:xfrm>
                <a:off x="5654397" y="4457700"/>
                <a:ext cx="1553210" cy="39623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1" name="矩形 200">
                <a:extLst>
                  <a:ext uri="{FF2B5EF4-FFF2-40B4-BE49-F238E27FC236}">
                    <a16:creationId xmlns:a16="http://schemas.microsoft.com/office/drawing/2014/main" id="{1B38F363-0159-6F06-5F47-74799B78D694}"/>
                  </a:ext>
                </a:extLst>
              </p:cNvPr>
              <p:cNvSpPr/>
              <p:nvPr/>
            </p:nvSpPr>
            <p:spPr>
              <a:xfrm>
                <a:off x="5824657" y="5149950"/>
                <a:ext cx="1212691" cy="2069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2" name="矩形 201">
                <a:extLst>
                  <a:ext uri="{FF2B5EF4-FFF2-40B4-BE49-F238E27FC236}">
                    <a16:creationId xmlns:a16="http://schemas.microsoft.com/office/drawing/2014/main" id="{82E88243-ED41-58FE-1A0E-B11E6219220B}"/>
                  </a:ext>
                </a:extLst>
              </p:cNvPr>
              <p:cNvSpPr/>
              <p:nvPr/>
            </p:nvSpPr>
            <p:spPr>
              <a:xfrm>
                <a:off x="5539184" y="2682874"/>
                <a:ext cx="1783636" cy="2285365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203" name="接點: 肘形 202">
                <a:extLst>
                  <a:ext uri="{FF2B5EF4-FFF2-40B4-BE49-F238E27FC236}">
                    <a16:creationId xmlns:a16="http://schemas.microsoft.com/office/drawing/2014/main" id="{F4B76859-C57F-9064-BAB7-500CAAB20EC0}"/>
                  </a:ext>
                </a:extLst>
              </p:cNvPr>
              <p:cNvCxnSpPr>
                <a:stCxn id="196" idx="3"/>
              </p:cNvCxnSpPr>
              <p:nvPr/>
            </p:nvCxnSpPr>
            <p:spPr>
              <a:xfrm>
                <a:off x="5046112" y="2672422"/>
                <a:ext cx="608285" cy="444158"/>
              </a:xfrm>
              <a:prstGeom prst="bentConnector3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4" name="接點: 肘形 203">
                <a:extLst>
                  <a:ext uri="{FF2B5EF4-FFF2-40B4-BE49-F238E27FC236}">
                    <a16:creationId xmlns:a16="http://schemas.microsoft.com/office/drawing/2014/main" id="{E60B5F27-3139-A4E8-603A-661A1B91AB2A}"/>
                  </a:ext>
                </a:extLst>
              </p:cNvPr>
              <p:cNvCxnSpPr>
                <a:stCxn id="198" idx="3"/>
                <a:endCxn id="200" idx="1"/>
              </p:cNvCxnSpPr>
              <p:nvPr/>
            </p:nvCxnSpPr>
            <p:spPr>
              <a:xfrm>
                <a:off x="5227320" y="4251375"/>
                <a:ext cx="427077" cy="404445"/>
              </a:xfrm>
              <a:prstGeom prst="bentConnector3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5" name="接點: 肘形 204">
                <a:extLst>
                  <a:ext uri="{FF2B5EF4-FFF2-40B4-BE49-F238E27FC236}">
                    <a16:creationId xmlns:a16="http://schemas.microsoft.com/office/drawing/2014/main" id="{64A9FDAF-FFDA-95C4-5C41-2E0870F12FE0}"/>
                  </a:ext>
                </a:extLst>
              </p:cNvPr>
              <p:cNvCxnSpPr>
                <a:cxnSpLocks/>
                <a:stCxn id="195" idx="1"/>
                <a:endCxn id="200" idx="3"/>
              </p:cNvCxnSpPr>
              <p:nvPr/>
            </p:nvCxnSpPr>
            <p:spPr>
              <a:xfrm rot="10800000" flipV="1">
                <a:off x="7207607" y="4251374"/>
                <a:ext cx="472242" cy="404445"/>
              </a:xfrm>
              <a:prstGeom prst="bentConnector3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6" name="接點: 肘形 205">
                <a:extLst>
                  <a:ext uri="{FF2B5EF4-FFF2-40B4-BE49-F238E27FC236}">
                    <a16:creationId xmlns:a16="http://schemas.microsoft.com/office/drawing/2014/main" id="{8CBDF652-973D-D09D-C292-97BD8D61D774}"/>
                  </a:ext>
                </a:extLst>
              </p:cNvPr>
              <p:cNvCxnSpPr>
                <a:stCxn id="193" idx="1"/>
              </p:cNvCxnSpPr>
              <p:nvPr/>
            </p:nvCxnSpPr>
            <p:spPr>
              <a:xfrm rot="10800000" flipV="1">
                <a:off x="7207607" y="2672422"/>
                <a:ext cx="464623" cy="444158"/>
              </a:xfrm>
              <a:prstGeom prst="bentConnector3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6" name="箭號: 上-下雙向 5">
            <a:extLst>
              <a:ext uri="{FF2B5EF4-FFF2-40B4-BE49-F238E27FC236}">
                <a16:creationId xmlns:a16="http://schemas.microsoft.com/office/drawing/2014/main" id="{C0AC3D80-2B42-7957-4E9B-FAE36579B241}"/>
              </a:ext>
            </a:extLst>
          </p:cNvPr>
          <p:cNvSpPr/>
          <p:nvPr/>
        </p:nvSpPr>
        <p:spPr>
          <a:xfrm>
            <a:off x="2480611" y="2406290"/>
            <a:ext cx="279031" cy="376349"/>
          </a:xfrm>
          <a:prstGeom prst="upDownArrow">
            <a:avLst/>
          </a:prstGeom>
          <a:solidFill>
            <a:srgbClr val="3741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箭號: 向右 7">
            <a:extLst>
              <a:ext uri="{FF2B5EF4-FFF2-40B4-BE49-F238E27FC236}">
                <a16:creationId xmlns:a16="http://schemas.microsoft.com/office/drawing/2014/main" id="{8EDB82C3-F8C1-1330-7A32-F298DBA58023}"/>
              </a:ext>
            </a:extLst>
          </p:cNvPr>
          <p:cNvSpPr/>
          <p:nvPr/>
        </p:nvSpPr>
        <p:spPr>
          <a:xfrm>
            <a:off x="4254004" y="2950343"/>
            <a:ext cx="2206058" cy="275455"/>
          </a:xfrm>
          <a:prstGeom prst="rightArrow">
            <a:avLst/>
          </a:prstGeom>
          <a:solidFill>
            <a:srgbClr val="3741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箭號: 上-下雙向 10">
            <a:extLst>
              <a:ext uri="{FF2B5EF4-FFF2-40B4-BE49-F238E27FC236}">
                <a16:creationId xmlns:a16="http://schemas.microsoft.com/office/drawing/2014/main" id="{FC57CA9A-831A-B30E-52F9-08C89F194B9A}"/>
              </a:ext>
            </a:extLst>
          </p:cNvPr>
          <p:cNvSpPr/>
          <p:nvPr/>
        </p:nvSpPr>
        <p:spPr>
          <a:xfrm>
            <a:off x="2083699" y="2406289"/>
            <a:ext cx="279031" cy="2951438"/>
          </a:xfrm>
          <a:prstGeom prst="upDownArrow">
            <a:avLst/>
          </a:prstGeom>
          <a:solidFill>
            <a:srgbClr val="3741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箭號: 上-下雙向 11">
            <a:extLst>
              <a:ext uri="{FF2B5EF4-FFF2-40B4-BE49-F238E27FC236}">
                <a16:creationId xmlns:a16="http://schemas.microsoft.com/office/drawing/2014/main" id="{7EFCE680-C708-63BB-D3C5-6D984AC1B1C9}"/>
              </a:ext>
            </a:extLst>
          </p:cNvPr>
          <p:cNvSpPr/>
          <p:nvPr/>
        </p:nvSpPr>
        <p:spPr>
          <a:xfrm>
            <a:off x="2490200" y="4876044"/>
            <a:ext cx="279031" cy="478422"/>
          </a:xfrm>
          <a:prstGeom prst="upDownArrow">
            <a:avLst/>
          </a:prstGeom>
          <a:solidFill>
            <a:srgbClr val="3741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箭號: 上-下雙向 15">
            <a:extLst>
              <a:ext uri="{FF2B5EF4-FFF2-40B4-BE49-F238E27FC236}">
                <a16:creationId xmlns:a16="http://schemas.microsoft.com/office/drawing/2014/main" id="{83ADAFFC-B80E-CB65-F08C-9B7680B5E7F3}"/>
              </a:ext>
            </a:extLst>
          </p:cNvPr>
          <p:cNvSpPr/>
          <p:nvPr/>
        </p:nvSpPr>
        <p:spPr>
          <a:xfrm rot="5400000">
            <a:off x="1621420" y="1484691"/>
            <a:ext cx="279031" cy="390586"/>
          </a:xfrm>
          <a:prstGeom prst="upDownArrow">
            <a:avLst/>
          </a:prstGeom>
          <a:solidFill>
            <a:srgbClr val="3741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標題 1">
            <a:extLst>
              <a:ext uri="{FF2B5EF4-FFF2-40B4-BE49-F238E27FC236}">
                <a16:creationId xmlns:a16="http://schemas.microsoft.com/office/drawing/2014/main" id="{2C99D296-84FA-DE18-94A8-0407A34AF015}"/>
              </a:ext>
            </a:extLst>
          </p:cNvPr>
          <p:cNvSpPr txBox="1">
            <a:spLocks/>
          </p:cNvSpPr>
          <p:nvPr/>
        </p:nvSpPr>
        <p:spPr>
          <a:xfrm>
            <a:off x="838200" y="88522"/>
            <a:ext cx="10515600" cy="69836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TW" altLang="en-US" sz="2400" b="1" kern="1200" dirty="0"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</a:lstStyle>
          <a:p>
            <a:r>
              <a:rPr lang="en-US" altLang="zh-TW" dirty="0"/>
              <a:t>EDA </a:t>
            </a:r>
            <a:r>
              <a:rPr lang="zh-TW" altLang="en-US" dirty="0"/>
              <a:t>整合設計執行展開圖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91036CF-DBB8-5AD3-F095-80DD2C43427C}"/>
              </a:ext>
            </a:extLst>
          </p:cNvPr>
          <p:cNvSpPr/>
          <p:nvPr/>
        </p:nvSpPr>
        <p:spPr>
          <a:xfrm>
            <a:off x="0" y="293128"/>
            <a:ext cx="711200" cy="261257"/>
          </a:xfrm>
          <a:prstGeom prst="rect">
            <a:avLst/>
          </a:prstGeom>
          <a:gradFill flip="none" rotWithShape="1">
            <a:gsLst>
              <a:gs pos="0">
                <a:srgbClr val="6BEBC8"/>
              </a:gs>
              <a:gs pos="50000">
                <a:srgbClr val="66E6C3"/>
              </a:gs>
              <a:gs pos="100000">
                <a:srgbClr val="66E6C3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 altLang="en-US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6ECB6530-EA07-A837-EA45-F07B65E1D5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040" y="238004"/>
            <a:ext cx="3916320" cy="443033"/>
          </a:xfrm>
          <a:prstGeom prst="rect">
            <a:avLst/>
          </a:prstGeom>
        </p:spPr>
      </p:pic>
      <p:sp>
        <p:nvSpPr>
          <p:cNvPr id="9" name="矩形: 圓角 8">
            <a:extLst>
              <a:ext uri="{FF2B5EF4-FFF2-40B4-BE49-F238E27FC236}">
                <a16:creationId xmlns:a16="http://schemas.microsoft.com/office/drawing/2014/main" id="{AF55D442-7E3C-A6BB-7C7A-F7FD14529058}"/>
              </a:ext>
            </a:extLst>
          </p:cNvPr>
          <p:cNvSpPr/>
          <p:nvPr/>
        </p:nvSpPr>
        <p:spPr>
          <a:xfrm>
            <a:off x="8499635" y="2389771"/>
            <a:ext cx="1657592" cy="1177211"/>
          </a:xfrm>
          <a:prstGeom prst="roundRect">
            <a:avLst>
              <a:gd name="adj" fmla="val 9499"/>
            </a:avLst>
          </a:prstGeom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2000" bIns="71631" numCol="1" spcCol="1270" anchor="t" anchorCtr="0">
            <a:noAutofit/>
          </a:bodyPr>
          <a:lstStyle/>
          <a:p>
            <a:pPr algn="ctr" defTabSz="622300">
              <a:spcBef>
                <a:spcPct val="0"/>
              </a:spcBef>
            </a:pPr>
            <a:r>
              <a:rPr lang="en-US" altLang="zh-TW" sz="105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DFM</a:t>
            </a:r>
          </a:p>
          <a:p>
            <a:pPr algn="ctr" defTabSz="622300">
              <a:spcBef>
                <a:spcPct val="0"/>
              </a:spcBef>
            </a:pPr>
            <a:r>
              <a:rPr lang="it-IT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GerbTooL</a:t>
            </a:r>
          </a:p>
          <a:p>
            <a:pPr algn="ctr" defTabSz="622300">
              <a:spcBef>
                <a:spcPct val="0"/>
              </a:spcBef>
            </a:pPr>
            <a:endParaRPr lang="it-IT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spcBef>
                <a:spcPct val="0"/>
              </a:spcBef>
              <a:defRPr/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檢視製造資料</a:t>
            </a:r>
          </a:p>
          <a:p>
            <a:pPr algn="ctr">
              <a:spcBef>
                <a:spcPct val="0"/>
              </a:spcBef>
              <a:defRPr/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提前發現風險</a:t>
            </a:r>
          </a:p>
          <a:p>
            <a:pPr algn="ctr">
              <a:spcBef>
                <a:spcPct val="0"/>
              </a:spcBef>
              <a:defRPr/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降低溝通與返工成本</a:t>
            </a:r>
          </a:p>
        </p:txBody>
      </p:sp>
      <p:sp>
        <p:nvSpPr>
          <p:cNvPr id="7" name="箭號: 向右 6">
            <a:extLst>
              <a:ext uri="{FF2B5EF4-FFF2-40B4-BE49-F238E27FC236}">
                <a16:creationId xmlns:a16="http://schemas.microsoft.com/office/drawing/2014/main" id="{A546B2A2-68A1-2BA0-E036-5A00487D065B}"/>
              </a:ext>
            </a:extLst>
          </p:cNvPr>
          <p:cNvSpPr/>
          <p:nvPr/>
        </p:nvSpPr>
        <p:spPr>
          <a:xfrm>
            <a:off x="3879913" y="1511706"/>
            <a:ext cx="670223" cy="275455"/>
          </a:xfrm>
          <a:prstGeom prst="rightArrow">
            <a:avLst/>
          </a:prstGeom>
          <a:solidFill>
            <a:srgbClr val="3741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9A5AD6D3-CD53-1C7E-71B0-F1C36290CC9C}"/>
              </a:ext>
            </a:extLst>
          </p:cNvPr>
          <p:cNvSpPr/>
          <p:nvPr/>
        </p:nvSpPr>
        <p:spPr>
          <a:xfrm>
            <a:off x="8264108" y="3050832"/>
            <a:ext cx="301923" cy="275455"/>
          </a:xfrm>
          <a:prstGeom prst="rightArrow">
            <a:avLst/>
          </a:prstGeom>
          <a:solidFill>
            <a:srgbClr val="3741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B8498BCB-99A1-992B-D65D-385BCDD0B5C2}"/>
              </a:ext>
            </a:extLst>
          </p:cNvPr>
          <p:cNvSpPr/>
          <p:nvPr/>
        </p:nvSpPr>
        <p:spPr>
          <a:xfrm>
            <a:off x="8281360" y="2019433"/>
            <a:ext cx="284671" cy="275455"/>
          </a:xfrm>
          <a:prstGeom prst="rightArrow">
            <a:avLst/>
          </a:prstGeom>
          <a:solidFill>
            <a:srgbClr val="3741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箭號: 向右 14">
            <a:extLst>
              <a:ext uri="{FF2B5EF4-FFF2-40B4-BE49-F238E27FC236}">
                <a16:creationId xmlns:a16="http://schemas.microsoft.com/office/drawing/2014/main" id="{91136A7E-3132-BF7D-45B3-1B48A0159BC8}"/>
              </a:ext>
            </a:extLst>
          </p:cNvPr>
          <p:cNvSpPr/>
          <p:nvPr/>
        </p:nvSpPr>
        <p:spPr>
          <a:xfrm rot="5400000">
            <a:off x="9177469" y="3581990"/>
            <a:ext cx="301923" cy="275455"/>
          </a:xfrm>
          <a:prstGeom prst="rightArrow">
            <a:avLst/>
          </a:prstGeom>
          <a:solidFill>
            <a:srgbClr val="3741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128B654C-F46D-E279-3610-093AE56B8596}"/>
              </a:ext>
            </a:extLst>
          </p:cNvPr>
          <p:cNvSpPr/>
          <p:nvPr/>
        </p:nvSpPr>
        <p:spPr>
          <a:xfrm>
            <a:off x="4756933" y="5354466"/>
            <a:ext cx="1944660" cy="1077442"/>
          </a:xfrm>
          <a:prstGeom prst="roundRect">
            <a:avLst/>
          </a:prstGeom>
          <a:solidFill>
            <a:srgbClr val="69E9C6"/>
          </a:solidFill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2000" bIns="71631" numCol="1" spcCol="127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22300">
              <a:spcBef>
                <a:spcPct val="0"/>
              </a:spcBef>
            </a:pPr>
            <a:r>
              <a:rPr lang="zh-TW" altLang="en-US" sz="105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供應鏈智慧平台</a:t>
            </a:r>
            <a:r>
              <a:rPr lang="en-US" altLang="zh-TW" sz="1050" b="1" dirty="0" err="1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Supplyframe</a:t>
            </a:r>
            <a:endParaRPr lang="en-US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 algn="ctr" defTabSz="622300">
              <a:spcBef>
                <a:spcPct val="0"/>
              </a:spcBef>
            </a:pPr>
            <a:endParaRPr lang="en-US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整合設計與供應鏈數據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降低供應風險與成本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加速產品上市時程</a:t>
            </a:r>
          </a:p>
        </p:txBody>
      </p:sp>
    </p:spTree>
    <p:extLst>
      <p:ext uri="{BB962C8B-B14F-4D97-AF65-F5344CB8AC3E}">
        <p14:creationId xmlns:p14="http://schemas.microsoft.com/office/powerpoint/2010/main" val="3759547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B71F2-426C-55B3-EAF9-C040AC203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群組 107">
            <a:extLst>
              <a:ext uri="{FF2B5EF4-FFF2-40B4-BE49-F238E27FC236}">
                <a16:creationId xmlns:a16="http://schemas.microsoft.com/office/drawing/2014/main" id="{BBF442F9-C49D-85D0-4681-115E020AE746}"/>
              </a:ext>
            </a:extLst>
          </p:cNvPr>
          <p:cNvGrpSpPr/>
          <p:nvPr/>
        </p:nvGrpSpPr>
        <p:grpSpPr>
          <a:xfrm>
            <a:off x="6553973" y="4557842"/>
            <a:ext cx="2152800" cy="1898761"/>
            <a:chOff x="6553973" y="4726932"/>
            <a:chExt cx="2152800" cy="1898761"/>
          </a:xfrm>
        </p:grpSpPr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FC74D1AE-0DA7-007E-0D78-39B81C4F4EA1}"/>
                </a:ext>
              </a:extLst>
            </p:cNvPr>
            <p:cNvSpPr/>
            <p:nvPr/>
          </p:nvSpPr>
          <p:spPr>
            <a:xfrm>
              <a:off x="6553974" y="5678495"/>
              <a:ext cx="677593" cy="38209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TW" altLang="en-US" sz="500" b="1" dirty="0">
                  <a:solidFill>
                    <a:schemeClr val="accent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設備供應商介面</a:t>
              </a:r>
              <a:endParaRPr lang="en-US" altLang="zh-TW" sz="50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en-US" altLang="zh-TW" sz="600" dirty="0">
                  <a:solidFill>
                    <a:schemeClr val="tx1"/>
                  </a:solidFill>
                </a:rPr>
                <a:t>Machine Vendor</a:t>
              </a:r>
            </a:p>
            <a:p>
              <a:pPr algn="ctr"/>
              <a:r>
                <a:rPr lang="en-US" altLang="zh-TW" sz="600" dirty="0">
                  <a:solidFill>
                    <a:schemeClr val="tx1"/>
                  </a:solidFill>
                </a:rPr>
                <a:t>Interface</a:t>
              </a:r>
              <a:endParaRPr lang="zh-TW" altLang="en-US" sz="600" dirty="0">
                <a:solidFill>
                  <a:schemeClr val="tx1"/>
                </a:solidFill>
              </a:endParaRPr>
            </a:p>
          </p:txBody>
        </p:sp>
        <p:pic>
          <p:nvPicPr>
            <p:cNvPr id="59" name="內容版面配置區 39">
              <a:extLst>
                <a:ext uri="{FF2B5EF4-FFF2-40B4-BE49-F238E27FC236}">
                  <a16:creationId xmlns:a16="http://schemas.microsoft.com/office/drawing/2014/main" id="{FB44AF2D-EA69-78B1-E088-4922668E3B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805" t="28161" r="83317" b="59623"/>
            <a:stretch/>
          </p:blipFill>
          <p:spPr>
            <a:xfrm>
              <a:off x="6562967" y="5281573"/>
              <a:ext cx="659606" cy="283368"/>
            </a:xfrm>
            <a:prstGeom prst="rect">
              <a:avLst/>
            </a:prstGeom>
          </p:spPr>
        </p:pic>
        <p:pic>
          <p:nvPicPr>
            <p:cNvPr id="63" name="內容版面配置區 39">
              <a:extLst>
                <a:ext uri="{FF2B5EF4-FFF2-40B4-BE49-F238E27FC236}">
                  <a16:creationId xmlns:a16="http://schemas.microsoft.com/office/drawing/2014/main" id="{22FACCC7-FCCE-5C2C-1875-6DC3173225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759" t="71803" r="83363" b="8651"/>
            <a:stretch/>
          </p:blipFill>
          <p:spPr>
            <a:xfrm>
              <a:off x="6563370" y="6172875"/>
              <a:ext cx="658800" cy="452818"/>
            </a:xfrm>
            <a:prstGeom prst="rect">
              <a:avLst/>
            </a:prstGeom>
          </p:spPr>
        </p:pic>
        <p:cxnSp>
          <p:nvCxnSpPr>
            <p:cNvPr id="89" name="直線單箭頭接點 88">
              <a:extLst>
                <a:ext uri="{FF2B5EF4-FFF2-40B4-BE49-F238E27FC236}">
                  <a16:creationId xmlns:a16="http://schemas.microsoft.com/office/drawing/2014/main" id="{9B97CF5A-8491-F5FF-0DB1-3F367FE23702}"/>
                </a:ext>
              </a:extLst>
            </p:cNvPr>
            <p:cNvCxnSpPr>
              <a:cxnSpLocks/>
              <a:endCxn id="59" idx="0"/>
            </p:cNvCxnSpPr>
            <p:nvPr/>
          </p:nvCxnSpPr>
          <p:spPr>
            <a:xfrm>
              <a:off x="6892770" y="5062214"/>
              <a:ext cx="0" cy="219359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線單箭頭接點 92">
              <a:extLst>
                <a:ext uri="{FF2B5EF4-FFF2-40B4-BE49-F238E27FC236}">
                  <a16:creationId xmlns:a16="http://schemas.microsoft.com/office/drawing/2014/main" id="{556D3D9F-E96C-DA92-1289-5402A334B475}"/>
                </a:ext>
              </a:extLst>
            </p:cNvPr>
            <p:cNvCxnSpPr>
              <a:cxnSpLocks/>
              <a:stCxn id="59" idx="2"/>
            </p:cNvCxnSpPr>
            <p:nvPr/>
          </p:nvCxnSpPr>
          <p:spPr>
            <a:xfrm>
              <a:off x="6892770" y="5564941"/>
              <a:ext cx="0" cy="113554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線單箭頭接點 95">
              <a:extLst>
                <a:ext uri="{FF2B5EF4-FFF2-40B4-BE49-F238E27FC236}">
                  <a16:creationId xmlns:a16="http://schemas.microsoft.com/office/drawing/2014/main" id="{C6B33D94-2643-BCC9-A2D3-7F5816A856CF}"/>
                </a:ext>
              </a:extLst>
            </p:cNvPr>
            <p:cNvCxnSpPr>
              <a:cxnSpLocks/>
              <a:stCxn id="47" idx="2"/>
              <a:endCxn id="63" idx="0"/>
            </p:cNvCxnSpPr>
            <p:nvPr/>
          </p:nvCxnSpPr>
          <p:spPr>
            <a:xfrm flipH="1">
              <a:off x="6892770" y="6060590"/>
              <a:ext cx="1" cy="112285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711D3233-507C-BB85-A3B3-171DFEFCB06B}"/>
                </a:ext>
              </a:extLst>
            </p:cNvPr>
            <p:cNvSpPr/>
            <p:nvPr/>
          </p:nvSpPr>
          <p:spPr>
            <a:xfrm>
              <a:off x="7290977" y="5678495"/>
              <a:ext cx="677593" cy="38209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TW" altLang="en-US" sz="500" b="1" dirty="0">
                  <a:solidFill>
                    <a:schemeClr val="accent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設備供應商介面</a:t>
              </a:r>
              <a:endParaRPr lang="en-US" altLang="zh-TW" sz="50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en-US" altLang="zh-TW" sz="600" dirty="0">
                  <a:solidFill>
                    <a:schemeClr val="tx1"/>
                  </a:solidFill>
                </a:rPr>
                <a:t>Machine Vendor</a:t>
              </a:r>
            </a:p>
            <a:p>
              <a:pPr algn="ctr"/>
              <a:r>
                <a:rPr lang="en-US" altLang="zh-TW" sz="600" dirty="0">
                  <a:solidFill>
                    <a:schemeClr val="tx1"/>
                  </a:solidFill>
                </a:rPr>
                <a:t>Interface</a:t>
              </a:r>
              <a:endParaRPr lang="zh-TW" altLang="en-US" sz="600" dirty="0">
                <a:solidFill>
                  <a:schemeClr val="tx1"/>
                </a:solidFill>
              </a:endParaRPr>
            </a:p>
          </p:txBody>
        </p:sp>
        <p:pic>
          <p:nvPicPr>
            <p:cNvPr id="60" name="內容版面配置區 39">
              <a:extLst>
                <a:ext uri="{FF2B5EF4-FFF2-40B4-BE49-F238E27FC236}">
                  <a16:creationId xmlns:a16="http://schemas.microsoft.com/office/drawing/2014/main" id="{E321A9A4-61B0-893F-4538-8C03D02E34DE}"/>
                </a:ext>
              </a:extLst>
            </p:cNvPr>
            <p:cNvPicPr>
              <a:picLocks/>
            </p:cNvPicPr>
            <p:nvPr/>
          </p:nvPicPr>
          <p:blipFill>
            <a:blip r:embed="rId3"/>
            <a:srcRect l="18295" t="28394" r="68827" b="59390"/>
            <a:stretch/>
          </p:blipFill>
          <p:spPr>
            <a:xfrm>
              <a:off x="7300373" y="5281573"/>
              <a:ext cx="658800" cy="284400"/>
            </a:xfrm>
            <a:prstGeom prst="rect">
              <a:avLst/>
            </a:prstGeom>
          </p:spPr>
        </p:pic>
        <p:pic>
          <p:nvPicPr>
            <p:cNvPr id="64" name="內容版面配置區 39">
              <a:extLst>
                <a:ext uri="{FF2B5EF4-FFF2-40B4-BE49-F238E27FC236}">
                  <a16:creationId xmlns:a16="http://schemas.microsoft.com/office/drawing/2014/main" id="{F2057198-C590-016E-811A-5ABDBFE369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8235" t="71803" r="68887" b="8651"/>
            <a:stretch/>
          </p:blipFill>
          <p:spPr>
            <a:xfrm>
              <a:off x="7300373" y="6172875"/>
              <a:ext cx="658800" cy="452818"/>
            </a:xfrm>
            <a:prstGeom prst="rect">
              <a:avLst/>
            </a:prstGeom>
          </p:spPr>
        </p:pic>
        <p:cxnSp>
          <p:nvCxnSpPr>
            <p:cNvPr id="91" name="直線單箭頭接點 90">
              <a:extLst>
                <a:ext uri="{FF2B5EF4-FFF2-40B4-BE49-F238E27FC236}">
                  <a16:creationId xmlns:a16="http://schemas.microsoft.com/office/drawing/2014/main" id="{6D64F404-5458-A018-3E6D-26C3E49954A0}"/>
                </a:ext>
              </a:extLst>
            </p:cNvPr>
            <p:cNvCxnSpPr>
              <a:cxnSpLocks/>
              <a:endCxn id="60" idx="0"/>
            </p:cNvCxnSpPr>
            <p:nvPr/>
          </p:nvCxnSpPr>
          <p:spPr>
            <a:xfrm>
              <a:off x="7629773" y="5062214"/>
              <a:ext cx="0" cy="219359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線單箭頭接點 93">
              <a:extLst>
                <a:ext uri="{FF2B5EF4-FFF2-40B4-BE49-F238E27FC236}">
                  <a16:creationId xmlns:a16="http://schemas.microsoft.com/office/drawing/2014/main" id="{8A9AE952-1CF3-8EA2-9226-5F48DF077F24}"/>
                </a:ext>
              </a:extLst>
            </p:cNvPr>
            <p:cNvCxnSpPr>
              <a:cxnSpLocks/>
              <a:stCxn id="60" idx="2"/>
              <a:endCxn id="57" idx="0"/>
            </p:cNvCxnSpPr>
            <p:nvPr/>
          </p:nvCxnSpPr>
          <p:spPr>
            <a:xfrm>
              <a:off x="7629773" y="5565973"/>
              <a:ext cx="1" cy="112522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線單箭頭接點 96">
              <a:extLst>
                <a:ext uri="{FF2B5EF4-FFF2-40B4-BE49-F238E27FC236}">
                  <a16:creationId xmlns:a16="http://schemas.microsoft.com/office/drawing/2014/main" id="{1BC0FD03-DEC5-9E4A-65F8-C6D2AE22ED19}"/>
                </a:ext>
              </a:extLst>
            </p:cNvPr>
            <p:cNvCxnSpPr>
              <a:cxnSpLocks/>
              <a:stCxn id="57" idx="2"/>
              <a:endCxn id="64" idx="0"/>
            </p:cNvCxnSpPr>
            <p:nvPr/>
          </p:nvCxnSpPr>
          <p:spPr>
            <a:xfrm flipH="1">
              <a:off x="7629773" y="6060590"/>
              <a:ext cx="1" cy="112285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8AA83F03-1274-404A-68E8-C0611C618579}"/>
                </a:ext>
              </a:extLst>
            </p:cNvPr>
            <p:cNvSpPr/>
            <p:nvPr/>
          </p:nvSpPr>
          <p:spPr>
            <a:xfrm>
              <a:off x="8027979" y="5678495"/>
              <a:ext cx="677593" cy="38209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TW" altLang="en-US" sz="500" b="1" dirty="0">
                  <a:solidFill>
                    <a:schemeClr val="accent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設備供應商介面</a:t>
              </a:r>
              <a:endParaRPr lang="en-US" altLang="zh-TW" sz="50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en-US" altLang="zh-TW" sz="600" dirty="0">
                  <a:solidFill>
                    <a:schemeClr val="tx1"/>
                  </a:solidFill>
                </a:rPr>
                <a:t>Machine Vendor</a:t>
              </a:r>
            </a:p>
            <a:p>
              <a:pPr algn="ctr"/>
              <a:r>
                <a:rPr lang="en-US" altLang="zh-TW" sz="600" dirty="0">
                  <a:solidFill>
                    <a:schemeClr val="tx1"/>
                  </a:solidFill>
                </a:rPr>
                <a:t>Interface</a:t>
              </a:r>
              <a:endParaRPr lang="zh-TW" altLang="en-US" sz="600" dirty="0">
                <a:solidFill>
                  <a:schemeClr val="tx1"/>
                </a:solidFill>
              </a:endParaRPr>
            </a:p>
          </p:txBody>
        </p:sp>
        <p:pic>
          <p:nvPicPr>
            <p:cNvPr id="62" name="內容版面配置區 39">
              <a:extLst>
                <a:ext uri="{FF2B5EF4-FFF2-40B4-BE49-F238E27FC236}">
                  <a16:creationId xmlns:a16="http://schemas.microsoft.com/office/drawing/2014/main" id="{584A7F77-4D64-9190-294D-CDD6E0D0F4BA}"/>
                </a:ext>
              </a:extLst>
            </p:cNvPr>
            <p:cNvPicPr>
              <a:picLocks/>
            </p:cNvPicPr>
            <p:nvPr/>
          </p:nvPicPr>
          <p:blipFill>
            <a:blip r:embed="rId3"/>
            <a:srcRect l="33063" t="28290" r="54267" b="59494"/>
            <a:stretch/>
          </p:blipFill>
          <p:spPr>
            <a:xfrm>
              <a:off x="8037375" y="5281573"/>
              <a:ext cx="668197" cy="284400"/>
            </a:xfrm>
            <a:prstGeom prst="rect">
              <a:avLst/>
            </a:prstGeom>
          </p:spPr>
        </p:pic>
        <p:pic>
          <p:nvPicPr>
            <p:cNvPr id="65" name="內容版面配置區 39">
              <a:extLst>
                <a:ext uri="{FF2B5EF4-FFF2-40B4-BE49-F238E27FC236}">
                  <a16:creationId xmlns:a16="http://schemas.microsoft.com/office/drawing/2014/main" id="{0BD7555F-F7AC-A1D8-0498-BDBA00F6B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2888" t="71910" r="54234" b="8545"/>
            <a:stretch/>
          </p:blipFill>
          <p:spPr>
            <a:xfrm>
              <a:off x="8037375" y="6172875"/>
              <a:ext cx="658800" cy="452818"/>
            </a:xfrm>
            <a:prstGeom prst="rect">
              <a:avLst/>
            </a:prstGeom>
          </p:spPr>
        </p:pic>
        <p:grpSp>
          <p:nvGrpSpPr>
            <p:cNvPr id="103" name="群組 102">
              <a:extLst>
                <a:ext uri="{FF2B5EF4-FFF2-40B4-BE49-F238E27FC236}">
                  <a16:creationId xmlns:a16="http://schemas.microsoft.com/office/drawing/2014/main" id="{ECAA721A-F06F-56B4-0E8A-208D2A32D106}"/>
                </a:ext>
              </a:extLst>
            </p:cNvPr>
            <p:cNvGrpSpPr/>
            <p:nvPr/>
          </p:nvGrpSpPr>
          <p:grpSpPr>
            <a:xfrm>
              <a:off x="6553973" y="4726932"/>
              <a:ext cx="2152800" cy="428217"/>
              <a:chOff x="6553973" y="4726932"/>
              <a:chExt cx="2152800" cy="428217"/>
            </a:xfrm>
          </p:grpSpPr>
          <p:pic>
            <p:nvPicPr>
              <p:cNvPr id="66" name="內容版面配置區 39">
                <a:extLst>
                  <a:ext uri="{FF2B5EF4-FFF2-40B4-BE49-F238E27FC236}">
                    <a16:creationId xmlns:a16="http://schemas.microsoft.com/office/drawing/2014/main" id="{D36A78BF-F414-6CEC-77BF-F3D486D08C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3935" t="11657" r="54496" b="79622"/>
              <a:stretch/>
            </p:blipFill>
            <p:spPr>
              <a:xfrm>
                <a:off x="6553973" y="4955546"/>
                <a:ext cx="2152800" cy="199603"/>
              </a:xfrm>
              <a:prstGeom prst="rect">
                <a:avLst/>
              </a:prstGeom>
            </p:spPr>
          </p:pic>
          <p:pic>
            <p:nvPicPr>
              <p:cNvPr id="68" name="圖形 67" descr="使用者 以實心填滿">
                <a:extLst>
                  <a:ext uri="{FF2B5EF4-FFF2-40B4-BE49-F238E27FC236}">
                    <a16:creationId xmlns:a16="http://schemas.microsoft.com/office/drawing/2014/main" id="{53131D36-0BF0-73DD-7886-81323C9ECB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792969" y="4726932"/>
                <a:ext cx="199603" cy="199603"/>
              </a:xfrm>
              <a:prstGeom prst="rect">
                <a:avLst/>
              </a:prstGeom>
            </p:spPr>
          </p:pic>
          <p:pic>
            <p:nvPicPr>
              <p:cNvPr id="69" name="圖形 68" descr="使用者 以實心填滿">
                <a:extLst>
                  <a:ext uri="{FF2B5EF4-FFF2-40B4-BE49-F238E27FC236}">
                    <a16:creationId xmlns:a16="http://schemas.microsoft.com/office/drawing/2014/main" id="{7672E4D4-A73C-1211-526C-55E48CC9F5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7529972" y="4726932"/>
                <a:ext cx="199603" cy="199603"/>
              </a:xfrm>
              <a:prstGeom prst="rect">
                <a:avLst/>
              </a:prstGeom>
            </p:spPr>
          </p:pic>
          <p:pic>
            <p:nvPicPr>
              <p:cNvPr id="70" name="圖形 69" descr="使用者 以實心填滿">
                <a:extLst>
                  <a:ext uri="{FF2B5EF4-FFF2-40B4-BE49-F238E27FC236}">
                    <a16:creationId xmlns:a16="http://schemas.microsoft.com/office/drawing/2014/main" id="{1DE60651-2208-FD5A-4498-88AC243960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266974" y="4726932"/>
                <a:ext cx="199603" cy="199603"/>
              </a:xfrm>
              <a:prstGeom prst="rect">
                <a:avLst/>
              </a:prstGeom>
            </p:spPr>
          </p:pic>
        </p:grpSp>
        <p:cxnSp>
          <p:nvCxnSpPr>
            <p:cNvPr id="92" name="直線單箭頭接點 91">
              <a:extLst>
                <a:ext uri="{FF2B5EF4-FFF2-40B4-BE49-F238E27FC236}">
                  <a16:creationId xmlns:a16="http://schemas.microsoft.com/office/drawing/2014/main" id="{7B5D5800-9177-BACB-2AD5-81DA78EDC21B}"/>
                </a:ext>
              </a:extLst>
            </p:cNvPr>
            <p:cNvCxnSpPr>
              <a:cxnSpLocks/>
              <a:endCxn id="62" idx="0"/>
            </p:cNvCxnSpPr>
            <p:nvPr/>
          </p:nvCxnSpPr>
          <p:spPr>
            <a:xfrm>
              <a:off x="8366775" y="5062214"/>
              <a:ext cx="4699" cy="219359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線單箭頭接點 94">
              <a:extLst>
                <a:ext uri="{FF2B5EF4-FFF2-40B4-BE49-F238E27FC236}">
                  <a16:creationId xmlns:a16="http://schemas.microsoft.com/office/drawing/2014/main" id="{30C5E3B2-9D1B-823D-7646-3DB511FB3777}"/>
                </a:ext>
              </a:extLst>
            </p:cNvPr>
            <p:cNvCxnSpPr>
              <a:cxnSpLocks/>
              <a:endCxn id="58" idx="0"/>
            </p:cNvCxnSpPr>
            <p:nvPr/>
          </p:nvCxnSpPr>
          <p:spPr>
            <a:xfrm>
              <a:off x="8366776" y="5507791"/>
              <a:ext cx="0" cy="170704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線單箭頭接點 97">
              <a:extLst>
                <a:ext uri="{FF2B5EF4-FFF2-40B4-BE49-F238E27FC236}">
                  <a16:creationId xmlns:a16="http://schemas.microsoft.com/office/drawing/2014/main" id="{16EB5A6A-7EEA-4766-25C6-E1EAF10A48A2}"/>
                </a:ext>
              </a:extLst>
            </p:cNvPr>
            <p:cNvCxnSpPr>
              <a:cxnSpLocks/>
              <a:stCxn id="58" idx="2"/>
              <a:endCxn id="65" idx="0"/>
            </p:cNvCxnSpPr>
            <p:nvPr/>
          </p:nvCxnSpPr>
          <p:spPr>
            <a:xfrm flipH="1">
              <a:off x="8366775" y="6060590"/>
              <a:ext cx="1" cy="112285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" name="群組 105">
            <a:extLst>
              <a:ext uri="{FF2B5EF4-FFF2-40B4-BE49-F238E27FC236}">
                <a16:creationId xmlns:a16="http://schemas.microsoft.com/office/drawing/2014/main" id="{89404665-4158-9CFA-35F0-A250B2067B03}"/>
              </a:ext>
            </a:extLst>
          </p:cNvPr>
          <p:cNvGrpSpPr/>
          <p:nvPr/>
        </p:nvGrpSpPr>
        <p:grpSpPr>
          <a:xfrm>
            <a:off x="9605979" y="4557842"/>
            <a:ext cx="2159136" cy="1900862"/>
            <a:chOff x="9605979" y="4726932"/>
            <a:chExt cx="2159136" cy="1900862"/>
          </a:xfrm>
        </p:grpSpPr>
        <p:cxnSp>
          <p:nvCxnSpPr>
            <p:cNvPr id="105" name="直線單箭頭接點 104">
              <a:extLst>
                <a:ext uri="{FF2B5EF4-FFF2-40B4-BE49-F238E27FC236}">
                  <a16:creationId xmlns:a16="http://schemas.microsoft.com/office/drawing/2014/main" id="{783A22C7-4D8F-67E9-DE87-AF9B761F4438}"/>
                </a:ext>
              </a:extLst>
            </p:cNvPr>
            <p:cNvCxnSpPr>
              <a:cxnSpLocks/>
            </p:cNvCxnSpPr>
            <p:nvPr/>
          </p:nvCxnSpPr>
          <p:spPr>
            <a:xfrm>
              <a:off x="10001500" y="5523709"/>
              <a:ext cx="0" cy="64800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線單箭頭接點 106">
              <a:extLst>
                <a:ext uri="{FF2B5EF4-FFF2-40B4-BE49-F238E27FC236}">
                  <a16:creationId xmlns:a16="http://schemas.microsoft.com/office/drawing/2014/main" id="{CAB7DE6E-75F0-C7F8-EFCA-C527D15744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58837" y="5523709"/>
              <a:ext cx="1" cy="64800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線單箭頭接點 110">
              <a:extLst>
                <a:ext uri="{FF2B5EF4-FFF2-40B4-BE49-F238E27FC236}">
                  <a16:creationId xmlns:a16="http://schemas.microsoft.com/office/drawing/2014/main" id="{155C5D0E-F956-B1F3-40ED-9F83A934795E}"/>
                </a:ext>
              </a:extLst>
            </p:cNvPr>
            <p:cNvCxnSpPr>
              <a:cxnSpLocks/>
            </p:cNvCxnSpPr>
            <p:nvPr/>
          </p:nvCxnSpPr>
          <p:spPr>
            <a:xfrm>
              <a:off x="11031750" y="5523709"/>
              <a:ext cx="0" cy="64800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線單箭頭接點 112">
              <a:extLst>
                <a:ext uri="{FF2B5EF4-FFF2-40B4-BE49-F238E27FC236}">
                  <a16:creationId xmlns:a16="http://schemas.microsoft.com/office/drawing/2014/main" id="{FF845642-FB19-D457-7C97-DC0892E3B8CE}"/>
                </a:ext>
              </a:extLst>
            </p:cNvPr>
            <p:cNvCxnSpPr>
              <a:cxnSpLocks/>
            </p:cNvCxnSpPr>
            <p:nvPr/>
          </p:nvCxnSpPr>
          <p:spPr>
            <a:xfrm>
              <a:off x="11359085" y="5523709"/>
              <a:ext cx="0" cy="64800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線單箭頭接點 108">
              <a:extLst>
                <a:ext uri="{FF2B5EF4-FFF2-40B4-BE49-F238E27FC236}">
                  <a16:creationId xmlns:a16="http://schemas.microsoft.com/office/drawing/2014/main" id="{63BAE3C6-066C-4C3D-C3A2-2C96C9C5BB66}"/>
                </a:ext>
              </a:extLst>
            </p:cNvPr>
            <p:cNvCxnSpPr>
              <a:cxnSpLocks/>
            </p:cNvCxnSpPr>
            <p:nvPr/>
          </p:nvCxnSpPr>
          <p:spPr>
            <a:xfrm>
              <a:off x="10686172" y="5523709"/>
              <a:ext cx="0" cy="64800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線單箭頭接點 114">
              <a:extLst>
                <a:ext uri="{FF2B5EF4-FFF2-40B4-BE49-F238E27FC236}">
                  <a16:creationId xmlns:a16="http://schemas.microsoft.com/office/drawing/2014/main" id="{C36E79D8-46E8-596D-0399-B4F6CED9AD9D}"/>
                </a:ext>
              </a:extLst>
            </p:cNvPr>
            <p:cNvCxnSpPr>
              <a:cxnSpLocks/>
              <a:stCxn id="76" idx="2"/>
              <a:endCxn id="78" idx="0"/>
            </p:cNvCxnSpPr>
            <p:nvPr/>
          </p:nvCxnSpPr>
          <p:spPr>
            <a:xfrm>
              <a:off x="10680293" y="5157842"/>
              <a:ext cx="0" cy="209456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78" name="內容版面配置區 39">
              <a:extLst>
                <a:ext uri="{FF2B5EF4-FFF2-40B4-BE49-F238E27FC236}">
                  <a16:creationId xmlns:a16="http://schemas.microsoft.com/office/drawing/2014/main" id="{E792DE8F-AA60-0B50-AB17-356DE5E4A1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8888" t="28820" r="4327" b="55404"/>
            <a:stretch/>
          </p:blipFill>
          <p:spPr>
            <a:xfrm>
              <a:off x="9738242" y="5367298"/>
              <a:ext cx="1884102" cy="365961"/>
            </a:xfrm>
            <a:prstGeom prst="rect">
              <a:avLst/>
            </a:prstGeom>
          </p:spPr>
        </p:pic>
        <p:grpSp>
          <p:nvGrpSpPr>
            <p:cNvPr id="104" name="群組 103">
              <a:extLst>
                <a:ext uri="{FF2B5EF4-FFF2-40B4-BE49-F238E27FC236}">
                  <a16:creationId xmlns:a16="http://schemas.microsoft.com/office/drawing/2014/main" id="{58AFCCB6-0958-A34C-F020-7C811DC16BFA}"/>
                </a:ext>
              </a:extLst>
            </p:cNvPr>
            <p:cNvGrpSpPr/>
            <p:nvPr/>
          </p:nvGrpSpPr>
          <p:grpSpPr>
            <a:xfrm>
              <a:off x="9738242" y="4726932"/>
              <a:ext cx="1884102" cy="430910"/>
              <a:chOff x="9738242" y="4758682"/>
              <a:chExt cx="1884102" cy="430910"/>
            </a:xfrm>
          </p:grpSpPr>
          <p:pic>
            <p:nvPicPr>
              <p:cNvPr id="71" name="圖形 70" descr="使用者 以實心填滿">
                <a:extLst>
                  <a:ext uri="{FF2B5EF4-FFF2-40B4-BE49-F238E27FC236}">
                    <a16:creationId xmlns:a16="http://schemas.microsoft.com/office/drawing/2014/main" id="{A13E5EA0-5AAF-D815-ABF1-9CCF08A8FC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9901699" y="4758682"/>
                <a:ext cx="199603" cy="199603"/>
              </a:xfrm>
              <a:prstGeom prst="rect">
                <a:avLst/>
              </a:prstGeom>
            </p:spPr>
          </p:pic>
          <p:pic>
            <p:nvPicPr>
              <p:cNvPr id="72" name="圖形 71" descr="使用者 以實心填滿">
                <a:extLst>
                  <a:ext uri="{FF2B5EF4-FFF2-40B4-BE49-F238E27FC236}">
                    <a16:creationId xmlns:a16="http://schemas.microsoft.com/office/drawing/2014/main" id="{503078B0-1322-5C22-5C71-305796CF8D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241095" y="4758682"/>
                <a:ext cx="199603" cy="199603"/>
              </a:xfrm>
              <a:prstGeom prst="rect">
                <a:avLst/>
              </a:prstGeom>
            </p:spPr>
          </p:pic>
          <p:pic>
            <p:nvPicPr>
              <p:cNvPr id="74" name="圖形 73" descr="使用者 以實心填滿">
                <a:extLst>
                  <a:ext uri="{FF2B5EF4-FFF2-40B4-BE49-F238E27FC236}">
                    <a16:creationId xmlns:a16="http://schemas.microsoft.com/office/drawing/2014/main" id="{6C3C07F3-026C-6A7C-CE34-EAFEEAC785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919887" y="4758682"/>
                <a:ext cx="199603" cy="199603"/>
              </a:xfrm>
              <a:prstGeom prst="rect">
                <a:avLst/>
              </a:prstGeom>
            </p:spPr>
          </p:pic>
          <p:pic>
            <p:nvPicPr>
              <p:cNvPr id="75" name="圖形 74" descr="使用者 以實心填滿">
                <a:extLst>
                  <a:ext uri="{FF2B5EF4-FFF2-40B4-BE49-F238E27FC236}">
                    <a16:creationId xmlns:a16="http://schemas.microsoft.com/office/drawing/2014/main" id="{FC89BA3B-1F6C-67C4-BB0F-1DA89F5361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1259284" y="4758682"/>
                <a:ext cx="199603" cy="199603"/>
              </a:xfrm>
              <a:prstGeom prst="rect">
                <a:avLst/>
              </a:prstGeom>
            </p:spPr>
          </p:pic>
          <p:pic>
            <p:nvPicPr>
              <p:cNvPr id="73" name="圖形 72" descr="使用者 以實心填滿">
                <a:extLst>
                  <a:ext uri="{FF2B5EF4-FFF2-40B4-BE49-F238E27FC236}">
                    <a16:creationId xmlns:a16="http://schemas.microsoft.com/office/drawing/2014/main" id="{145FEEDF-F1EA-CFB9-A45D-DE7B0F96B3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580491" y="4758682"/>
                <a:ext cx="199603" cy="199603"/>
              </a:xfrm>
              <a:prstGeom prst="rect">
                <a:avLst/>
              </a:prstGeom>
            </p:spPr>
          </p:pic>
          <p:pic>
            <p:nvPicPr>
              <p:cNvPr id="76" name="內容版面配置區 39">
                <a:extLst>
                  <a:ext uri="{FF2B5EF4-FFF2-40B4-BE49-F238E27FC236}">
                    <a16:creationId xmlns:a16="http://schemas.microsoft.com/office/drawing/2014/main" id="{8859DCED-5D77-7CDC-C558-1E75B7D169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3935" t="11657" r="59280" b="79622"/>
              <a:stretch/>
            </p:blipFill>
            <p:spPr>
              <a:xfrm>
                <a:off x="9738242" y="4987296"/>
                <a:ext cx="1884102" cy="202296"/>
              </a:xfrm>
              <a:prstGeom prst="rect">
                <a:avLst/>
              </a:prstGeom>
            </p:spPr>
          </p:pic>
        </p:grpSp>
        <p:pic>
          <p:nvPicPr>
            <p:cNvPr id="39" name="圖片 38">
              <a:extLst>
                <a:ext uri="{FF2B5EF4-FFF2-40B4-BE49-F238E27FC236}">
                  <a16:creationId xmlns:a16="http://schemas.microsoft.com/office/drawing/2014/main" id="{94035842-80DD-CDA5-53DC-1034B55846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605979" y="6172872"/>
              <a:ext cx="2159136" cy="454922"/>
            </a:xfrm>
            <a:prstGeom prst="rect">
              <a:avLst/>
            </a:prstGeom>
          </p:spPr>
        </p:pic>
      </p:grpSp>
      <p:graphicFrame>
        <p:nvGraphicFramePr>
          <p:cNvPr id="144" name="表格 143">
            <a:extLst>
              <a:ext uri="{FF2B5EF4-FFF2-40B4-BE49-F238E27FC236}">
                <a16:creationId xmlns:a16="http://schemas.microsoft.com/office/drawing/2014/main" id="{DE46609B-686A-B534-440A-557E1E0161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67429"/>
              </p:ext>
            </p:extLst>
          </p:nvPr>
        </p:nvGraphicFramePr>
        <p:xfrm>
          <a:off x="6096001" y="1641719"/>
          <a:ext cx="6103999" cy="505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9999">
                  <a:extLst>
                    <a:ext uri="{9D8B030D-6E8A-4147-A177-3AD203B41FA5}">
                      <a16:colId xmlns:a16="http://schemas.microsoft.com/office/drawing/2014/main" val="3579286966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022139836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49264001"/>
                    </a:ext>
                  </a:extLst>
                </a:gridCol>
                <a:gridCol w="2772000">
                  <a:extLst>
                    <a:ext uri="{9D8B030D-6E8A-4147-A177-3AD203B41FA5}">
                      <a16:colId xmlns:a16="http://schemas.microsoft.com/office/drawing/2014/main" val="4097209183"/>
                    </a:ext>
                  </a:extLst>
                </a:gridCol>
              </a:tblGrid>
              <a:tr h="23717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rgbClr val="31739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傳統流程</a:t>
                      </a: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31739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vs</a:t>
                      </a:r>
                      <a:endParaRPr lang="zh-TW" altLang="en-US" sz="1400" dirty="0">
                        <a:solidFill>
                          <a:srgbClr val="31739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31739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Valor PP</a:t>
                      </a:r>
                      <a:r>
                        <a:rPr lang="zh-TW" altLang="en-US" sz="1400" dirty="0">
                          <a:solidFill>
                            <a:srgbClr val="31739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流程</a:t>
                      </a:r>
                    </a:p>
                  </a:txBody>
                  <a:tcPr marL="0" marR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382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需多種工具處理，格式多樣，易出錯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Font typeface="+mj-lt"/>
                        <a:buNone/>
                      </a:pPr>
                      <a:r>
                        <a:rPr kumimoji="0" lang="zh-TW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37415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數據源處理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智能識別 </a:t>
                      </a:r>
                      <a:r>
                        <a:rPr kumimoji="0" lang="en-US" altLang="zh-TW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PCB </a:t>
                      </a:r>
                      <a:r>
                        <a:rPr kumimoji="0" lang="zh-TW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數據格式，統一數據源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998408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需手動比對 </a:t>
                      </a:r>
                      <a:r>
                        <a:rPr kumimoji="0" lang="en-US" altLang="zh-TW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BOM </a:t>
                      </a:r>
                      <a:r>
                        <a:rPr kumimoji="0" lang="zh-TW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與 </a:t>
                      </a:r>
                      <a:r>
                        <a:rPr kumimoji="0" lang="en-US" altLang="zh-TW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CAD</a:t>
                      </a:r>
                      <a:r>
                        <a:rPr kumimoji="0" lang="zh-TW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，錯誤難發現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Font typeface="+mj-lt"/>
                        <a:buNone/>
                      </a:pPr>
                      <a:r>
                        <a:rPr kumimoji="0" lang="en-US" altLang="zh-TW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37415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BOM </a:t>
                      </a:r>
                      <a:r>
                        <a:rPr kumimoji="0" lang="zh-TW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37415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處理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自動比對 </a:t>
                      </a:r>
                      <a:r>
                        <a:rPr kumimoji="0" lang="en-US" altLang="zh-TW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BOM </a:t>
                      </a:r>
                      <a:r>
                        <a:rPr kumimoji="0" lang="zh-TW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與 </a:t>
                      </a:r>
                      <a:r>
                        <a:rPr kumimoji="0" lang="en-US" altLang="zh-TW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CAD</a:t>
                      </a:r>
                      <a:r>
                        <a:rPr kumimoji="0" lang="zh-TW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，提前檢測錯誤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33557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手動設計拼板方案，板材利用率低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Font typeface="+mj-lt"/>
                        <a:buNone/>
                      </a:pPr>
                      <a:r>
                        <a:rPr kumimoji="0" lang="zh-TW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37415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拼板設計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自動優化拼板方案，最大化板材利用率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70767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無標準規範，試錯成本高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Font typeface="+mj-lt"/>
                        <a:buNone/>
                      </a:pPr>
                      <a:r>
                        <a:rPr kumimoji="0" lang="zh-TW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37415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鋼網設計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內建鋼網設計規範，支持經驗庫累積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743844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需手動處理不同設備格式，混線編程困難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Font typeface="+mj-lt"/>
                        <a:buNone/>
                      </a:pPr>
                      <a:r>
                        <a:rPr kumimoji="0" lang="zh-TW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37415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設備編程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支持 </a:t>
                      </a:r>
                      <a:r>
                        <a:rPr kumimoji="0" lang="en-US" altLang="zh-TW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SMT </a:t>
                      </a:r>
                      <a:r>
                        <a:rPr kumimoji="0" lang="zh-TW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設備模型，程式可互轉，混線離線編程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62553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需上線測試，試錯成本高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Font typeface="+mj-lt"/>
                        <a:buNone/>
                      </a:pPr>
                      <a:r>
                        <a:rPr kumimoji="0" lang="zh-TW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37415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虛擬貼裝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VPL </a:t>
                      </a:r>
                      <a:r>
                        <a:rPr kumimoji="0" lang="zh-TW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庫支持虛擬貼裝，減少上機調試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075428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手動製作作業指導書，依賴 </a:t>
                      </a:r>
                      <a:r>
                        <a:rPr kumimoji="0" lang="en-US" altLang="zh-TW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Excel</a:t>
                      </a:r>
                      <a:r>
                        <a:rPr kumimoji="0" lang="zh-TW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，費時費力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Font typeface="+mj-lt"/>
                        <a:buNone/>
                      </a:pPr>
                      <a:r>
                        <a:rPr kumimoji="0" lang="en-US" altLang="zh-TW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37415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EWI</a:t>
                      </a:r>
                      <a:endParaRPr kumimoji="0" lang="zh-TW" altLang="en-US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374151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一鍵生成所有工位 </a:t>
                      </a:r>
                      <a:r>
                        <a:rPr kumimoji="0" lang="en-US" altLang="zh-TW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EWI</a:t>
                      </a:r>
                      <a:r>
                        <a:rPr kumimoji="0" lang="zh-TW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，支持多媒體內容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7957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測試點與探針選擇需人工設定</a:t>
                      </a:r>
                      <a:endParaRPr kumimoji="0" lang="en-US" altLang="zh-TW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ctr"/>
                      <a:r>
                        <a:rPr kumimoji="0" lang="en-US" altLang="zh-TW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ICT/</a:t>
                      </a:r>
                      <a:r>
                        <a:rPr kumimoji="0" lang="zh-TW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飛針測試需單獨編程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Font typeface="+mj-lt"/>
                        <a:buNone/>
                      </a:pPr>
                      <a:r>
                        <a:rPr kumimoji="0" lang="zh-TW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37415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測試與檢測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自動 </a:t>
                      </a:r>
                      <a:r>
                        <a:rPr kumimoji="0" lang="en-US" altLang="zh-TW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DFT </a:t>
                      </a:r>
                      <a:r>
                        <a:rPr kumimoji="0" lang="zh-TW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分析，最佳化測試點配置</a:t>
                      </a:r>
                      <a:endParaRPr kumimoji="0" lang="en-US" altLang="zh-TW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ctr"/>
                      <a:r>
                        <a:rPr kumimoji="0" lang="zh-TW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生成 </a:t>
                      </a:r>
                      <a:r>
                        <a:rPr kumimoji="0" lang="en-US" altLang="zh-TW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ICT/</a:t>
                      </a:r>
                      <a:r>
                        <a:rPr kumimoji="0" lang="zh-TW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飛針</a:t>
                      </a:r>
                      <a:r>
                        <a:rPr kumimoji="0" lang="en-US" altLang="zh-TW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/X-Ray/AOI </a:t>
                      </a:r>
                      <a:r>
                        <a:rPr kumimoji="0" lang="zh-TW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測試程式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9955343"/>
                  </a:ext>
                </a:extLst>
              </a:tr>
              <a:tr h="2340000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導入前：產品模型被多次重復使用，效率低下</a:t>
                      </a:r>
                    </a:p>
                  </a:txBody>
                  <a:tcPr marL="0" marR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000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b">
                    <a:lnL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導入後：生產準備的時間縮減</a:t>
                      </a:r>
                      <a:r>
                        <a:rPr lang="en-US" altLang="zh-TW" sz="1000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20%</a:t>
                      </a:r>
                      <a:r>
                        <a:rPr lang="zh-TW" altLang="en-US" sz="1000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以上 </a:t>
                      </a:r>
                    </a:p>
                  </a:txBody>
                  <a:tcPr marL="0" marR="0" anchor="b">
                    <a:lnL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b">
                    <a:lnL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427877"/>
                  </a:ext>
                </a:extLst>
              </a:tr>
            </a:tbl>
          </a:graphicData>
        </a:graphic>
      </p:graphicFrame>
      <p:sp>
        <p:nvSpPr>
          <p:cNvPr id="34" name="標題 33">
            <a:extLst>
              <a:ext uri="{FF2B5EF4-FFF2-40B4-BE49-F238E27FC236}">
                <a16:creationId xmlns:a16="http://schemas.microsoft.com/office/drawing/2014/main" id="{F0CCED1E-2185-A293-B9AC-CF298A8F5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Valor PP</a:t>
            </a:r>
            <a:endParaRPr lang="zh-TW" altLang="en-US" dirty="0"/>
          </a:p>
        </p:txBody>
      </p:sp>
      <p:sp>
        <p:nvSpPr>
          <p:cNvPr id="36" name="文字版面配置區 35">
            <a:extLst>
              <a:ext uri="{FF2B5EF4-FFF2-40B4-BE49-F238E27FC236}">
                <a16:creationId xmlns:a16="http://schemas.microsoft.com/office/drawing/2014/main" id="{872E495C-2049-8A61-05A4-56157249EEA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TW" dirty="0"/>
              <a:t>Valor NPI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BDB6F8B-289B-D2CB-44D7-B46E8EBE15E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39857"/>
            <a:ext cx="1219200" cy="685800"/>
          </a:xfrm>
          <a:prstGeom prst="rect">
            <a:avLst/>
          </a:prstGeom>
        </p:spPr>
      </p:pic>
      <p:grpSp>
        <p:nvGrpSpPr>
          <p:cNvPr id="7" name="群組 6">
            <a:extLst>
              <a:ext uri="{FF2B5EF4-FFF2-40B4-BE49-F238E27FC236}">
                <a16:creationId xmlns:a16="http://schemas.microsoft.com/office/drawing/2014/main" id="{AA2D9AA3-58F9-E240-C666-B0651A42B8B0}"/>
              </a:ext>
            </a:extLst>
          </p:cNvPr>
          <p:cNvGrpSpPr/>
          <p:nvPr/>
        </p:nvGrpSpPr>
        <p:grpSpPr>
          <a:xfrm>
            <a:off x="-456496" y="151715"/>
            <a:ext cx="5784634" cy="1069361"/>
            <a:chOff x="-456496" y="151715"/>
            <a:chExt cx="5784634" cy="1069361"/>
          </a:xfrm>
        </p:grpSpPr>
        <p:sp>
          <p:nvSpPr>
            <p:cNvPr id="8" name="內容版面配置區 12">
              <a:extLst>
                <a:ext uri="{FF2B5EF4-FFF2-40B4-BE49-F238E27FC236}">
                  <a16:creationId xmlns:a16="http://schemas.microsoft.com/office/drawing/2014/main" id="{013F0A7C-EA23-AE8B-D5C5-82E0D12B4A2B}"/>
                </a:ext>
              </a:extLst>
            </p:cNvPr>
            <p:cNvSpPr txBox="1">
              <a:spLocks/>
            </p:cNvSpPr>
            <p:nvPr/>
          </p:nvSpPr>
          <p:spPr>
            <a:xfrm>
              <a:off x="-456496" y="151715"/>
              <a:ext cx="2414165" cy="106936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buNone/>
              </a:pPr>
              <a:r>
                <a:rPr lang="en-US" altLang="zh-TW" sz="1200" b="1" u="sng" dirty="0">
                  <a:solidFill>
                    <a:srgbClr val="374151"/>
                  </a:solidFill>
                </a:rPr>
                <a:t>NPI </a:t>
              </a:r>
              <a:r>
                <a:rPr lang="zh-TW" altLang="en-US" sz="1200" b="1" u="sng" dirty="0">
                  <a:solidFill>
                    <a:srgbClr val="374151"/>
                  </a:solidFill>
                </a:rPr>
                <a:t>設計製造銜接優化</a:t>
              </a:r>
            </a:p>
            <a:p>
              <a:pPr marL="219075" lvl="1" indent="0" algn="r">
                <a:buNone/>
              </a:pPr>
              <a:r>
                <a:rPr lang="zh-TW" altLang="en-US" sz="1000" dirty="0">
                  <a:solidFill>
                    <a:schemeClr val="tx1"/>
                  </a:solidFill>
                </a:rPr>
                <a:t>了解 </a:t>
              </a:r>
              <a:r>
                <a:rPr lang="en-US" altLang="zh-TW" sz="1000" dirty="0">
                  <a:solidFill>
                    <a:schemeClr val="tx1"/>
                  </a:solidFill>
                </a:rPr>
                <a:t>PCB </a:t>
              </a:r>
              <a:r>
                <a:rPr lang="zh-TW" altLang="en-US" sz="1000" dirty="0">
                  <a:solidFill>
                    <a:schemeClr val="tx1"/>
                  </a:solidFill>
                </a:rPr>
                <a:t>設計對製造的影響 </a:t>
              </a:r>
              <a:r>
                <a:rPr lang="en-US" altLang="zh-TW" sz="1000" dirty="0">
                  <a:solidFill>
                    <a:schemeClr val="tx1"/>
                  </a:solidFill>
                </a:rPr>
                <a:t>-</a:t>
              </a:r>
              <a:r>
                <a:rPr lang="zh-TW" altLang="en-US" sz="1000" dirty="0">
                  <a:solidFill>
                    <a:schemeClr val="tx1"/>
                  </a:solidFill>
                </a:rPr>
                <a:t> </a:t>
              </a:r>
            </a:p>
            <a:p>
              <a:pPr marL="219075" lvl="1" indent="0" algn="r">
                <a:buNone/>
              </a:pPr>
              <a:r>
                <a:rPr lang="zh-TW" altLang="en-US" sz="1000" dirty="0">
                  <a:solidFill>
                    <a:schemeClr val="tx1"/>
                  </a:solidFill>
                </a:rPr>
                <a:t>優化 </a:t>
              </a:r>
              <a:r>
                <a:rPr lang="en-US" altLang="zh-TW" sz="1000" dirty="0">
                  <a:solidFill>
                    <a:schemeClr val="tx1"/>
                  </a:solidFill>
                </a:rPr>
                <a:t>PCB </a:t>
              </a:r>
              <a:r>
                <a:rPr lang="zh-TW" altLang="en-US" sz="1000" dirty="0">
                  <a:solidFill>
                    <a:schemeClr val="tx1"/>
                  </a:solidFill>
                </a:rPr>
                <a:t>設計以利生產 </a:t>
              </a:r>
              <a:r>
                <a:rPr lang="en-US" altLang="zh-TW" sz="1000" dirty="0">
                  <a:solidFill>
                    <a:schemeClr val="tx1"/>
                  </a:solidFill>
                </a:rPr>
                <a:t>- </a:t>
              </a:r>
            </a:p>
            <a:p>
              <a:pPr marL="219075" lvl="1" indent="0" algn="r">
                <a:buNone/>
              </a:pPr>
              <a:r>
                <a:rPr lang="zh-TW" altLang="en-US" sz="1000" dirty="0">
                  <a:solidFill>
                    <a:schemeClr val="tx1"/>
                  </a:solidFill>
                </a:rPr>
                <a:t>完整傳遞 </a:t>
              </a:r>
              <a:r>
                <a:rPr lang="en-US" altLang="zh-TW" sz="1000" dirty="0">
                  <a:solidFill>
                    <a:schemeClr val="tx1"/>
                  </a:solidFill>
                </a:rPr>
                <a:t>PCB </a:t>
              </a:r>
              <a:r>
                <a:rPr lang="zh-TW" altLang="en-US" sz="1000" dirty="0">
                  <a:solidFill>
                    <a:schemeClr val="tx1"/>
                  </a:solidFill>
                </a:rPr>
                <a:t>設計數據至製造 </a:t>
              </a:r>
              <a:r>
                <a:rPr lang="en-US" altLang="zh-TW" sz="1000" dirty="0">
                  <a:solidFill>
                    <a:schemeClr val="tx1"/>
                  </a:solidFill>
                </a:rPr>
                <a:t>-</a:t>
              </a:r>
              <a:endParaRPr lang="zh-TW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9" name="內容版面配置區 12">
              <a:extLst>
                <a:ext uri="{FF2B5EF4-FFF2-40B4-BE49-F238E27FC236}">
                  <a16:creationId xmlns:a16="http://schemas.microsoft.com/office/drawing/2014/main" id="{79838B6E-6E79-DD88-95C3-7F5A996D7913}"/>
                </a:ext>
              </a:extLst>
            </p:cNvPr>
            <p:cNvSpPr txBox="1">
              <a:spLocks/>
            </p:cNvSpPr>
            <p:nvPr/>
          </p:nvSpPr>
          <p:spPr>
            <a:xfrm>
              <a:off x="1929093" y="151715"/>
              <a:ext cx="3399045" cy="106920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altLang="zh-TW" sz="1200" b="1" u="sng" dirty="0">
                  <a:solidFill>
                    <a:srgbClr val="374151"/>
                  </a:solidFill>
                </a:rPr>
                <a:t>PP </a:t>
              </a:r>
              <a:r>
                <a:rPr lang="zh-TW" altLang="en-US" sz="1200" b="1" u="sng" dirty="0">
                  <a:solidFill>
                    <a:srgbClr val="374151"/>
                  </a:solidFill>
                </a:rPr>
                <a:t>單一工程工具實現協調化流程</a:t>
              </a:r>
            </a:p>
            <a:p>
              <a:pPr marL="0" lvl="1" indent="0">
                <a:buNone/>
              </a:pPr>
              <a:r>
                <a:rPr lang="en-US" altLang="zh-TW" sz="1000" dirty="0">
                  <a:solidFill>
                    <a:schemeClr val="tx1"/>
                  </a:solidFill>
                </a:rPr>
                <a:t>- </a:t>
              </a:r>
              <a:r>
                <a:rPr lang="zh-TW" altLang="en-US" sz="1000" dirty="0">
                  <a:solidFill>
                    <a:schemeClr val="tx1"/>
                  </a:solidFill>
                </a:rPr>
                <a:t>提升製程精度與效率</a:t>
              </a:r>
              <a:endParaRPr lang="en-US" altLang="zh-TW" sz="1000" dirty="0">
                <a:solidFill>
                  <a:schemeClr val="tx1"/>
                </a:solidFill>
              </a:endParaRPr>
            </a:p>
            <a:p>
              <a:pPr marL="0" lvl="1" indent="0">
                <a:buNone/>
              </a:pPr>
              <a:r>
                <a:rPr lang="en-US" altLang="zh-TW" sz="1000" dirty="0">
                  <a:solidFill>
                    <a:schemeClr val="tx1"/>
                  </a:solidFill>
                </a:rPr>
                <a:t>- </a:t>
              </a:r>
              <a:r>
                <a:rPr lang="zh-TW" altLang="en-US" sz="1000" dirty="0">
                  <a:solidFill>
                    <a:schemeClr val="tx1"/>
                  </a:solidFill>
                </a:rPr>
                <a:t>精確工藝路徑設計</a:t>
              </a:r>
            </a:p>
            <a:p>
              <a:pPr marL="0" lvl="1" indent="0">
                <a:buNone/>
              </a:pPr>
              <a:r>
                <a:rPr lang="en-US" altLang="zh-TW" sz="1000" dirty="0">
                  <a:solidFill>
                    <a:schemeClr val="tx1"/>
                  </a:solidFill>
                </a:rPr>
                <a:t>- </a:t>
              </a:r>
              <a:r>
                <a:rPr lang="zh-TW" altLang="en-US" sz="1000" dirty="0">
                  <a:solidFill>
                    <a:schemeClr val="tx1"/>
                  </a:solidFill>
                </a:rPr>
                <a:t>生產流程優化</a:t>
              </a:r>
              <a:endParaRPr lang="en-US" altLang="zh-TW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A6759606-A509-A980-F0FF-0CB5889950F9}"/>
                </a:ext>
              </a:extLst>
            </p:cNvPr>
            <p:cNvCxnSpPr>
              <a:cxnSpLocks/>
            </p:cNvCxnSpPr>
            <p:nvPr/>
          </p:nvCxnSpPr>
          <p:spPr>
            <a:xfrm>
              <a:off x="1943381" y="151715"/>
              <a:ext cx="0" cy="106920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D60D9C03-4C50-F72D-5F3D-393E8A191EEF}"/>
              </a:ext>
            </a:extLst>
          </p:cNvPr>
          <p:cNvSpPr txBox="1"/>
          <p:nvPr/>
        </p:nvSpPr>
        <p:spPr>
          <a:xfrm>
            <a:off x="6938520" y="1372216"/>
            <a:ext cx="5253479" cy="307777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生成製造數據，確保符合製造標準，支持快速投產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C4CCB95E-66A7-2D98-644A-A219813EF692}"/>
              </a:ext>
            </a:extLst>
          </p:cNvPr>
          <p:cNvSpPr txBox="1"/>
          <p:nvPr/>
        </p:nvSpPr>
        <p:spPr>
          <a:xfrm>
            <a:off x="-1" y="1372216"/>
            <a:ext cx="4633914" cy="307777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r>
              <a:rPr lang="zh-TW" altLang="en-US" sz="140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銜接設計與製造的橋樑 </a:t>
            </a:r>
            <a:r>
              <a:rPr lang="en-US" altLang="zh-TW" sz="140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 </a:t>
            </a:r>
            <a:r>
              <a:rPr lang="zh-TW" altLang="en-US" sz="140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可製造性驗證與優化解決方案</a:t>
            </a:r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94B1C55E-50C9-7D50-3E7A-56D5B60FB3DF}"/>
              </a:ext>
            </a:extLst>
          </p:cNvPr>
          <p:cNvSpPr txBox="1"/>
          <p:nvPr/>
        </p:nvSpPr>
        <p:spPr>
          <a:xfrm>
            <a:off x="8181356" y="930811"/>
            <a:ext cx="25374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b="1" dirty="0">
                <a:solidFill>
                  <a:schemeClr val="bg1"/>
                </a:solidFill>
                <a:latin typeface="Source Sans Pro" pitchFamily="34" charset="0"/>
                <a:ea typeface="Source Sans Pro" pitchFamily="34" charset="-122"/>
              </a:rPr>
              <a:t>Valor Process Preparation</a:t>
            </a:r>
            <a:endParaRPr lang="zh-TW" altLang="en-US" sz="1200" b="1" dirty="0">
              <a:solidFill>
                <a:schemeClr val="bg1"/>
              </a:solidFill>
              <a:latin typeface="Source Sans Pro" pitchFamily="34" charset="0"/>
            </a:endParaRPr>
          </a:p>
        </p:txBody>
      </p: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1C4F9EF4-332B-85CA-FF29-FA36E1720EE3}"/>
              </a:ext>
            </a:extLst>
          </p:cNvPr>
          <p:cNvSpPr txBox="1"/>
          <p:nvPr/>
        </p:nvSpPr>
        <p:spPr>
          <a:xfrm>
            <a:off x="3883026" y="1035418"/>
            <a:ext cx="22129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TW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</a:rPr>
              <a:t>Valor New Product Introduction</a:t>
            </a:r>
            <a:endParaRPr lang="zh-TW" altLang="en-US" sz="11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urce Sans Pro" pitchFamily="34" charset="0"/>
            </a:endParaRPr>
          </a:p>
        </p:txBody>
      </p:sp>
      <p:sp>
        <p:nvSpPr>
          <p:cNvPr id="83" name="文字方塊 82">
            <a:extLst>
              <a:ext uri="{FF2B5EF4-FFF2-40B4-BE49-F238E27FC236}">
                <a16:creationId xmlns:a16="http://schemas.microsoft.com/office/drawing/2014/main" id="{D0C537AA-1869-7886-0A6C-B9BA85E0F415}"/>
              </a:ext>
            </a:extLst>
          </p:cNvPr>
          <p:cNvSpPr txBox="1"/>
          <p:nvPr/>
        </p:nvSpPr>
        <p:spPr>
          <a:xfrm>
            <a:off x="6244121" y="797073"/>
            <a:ext cx="3722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</a:rPr>
              <a:t>&amp;</a:t>
            </a:r>
            <a:endParaRPr lang="zh-TW" alt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urce Sans Pro" pitchFamily="34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1808168-06FE-867A-F815-B3A9A23ADA2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117" y="5957529"/>
            <a:ext cx="863175" cy="861686"/>
          </a:xfrm>
          <a:prstGeom prst="rect">
            <a:avLst/>
          </a:prstGeom>
        </p:spPr>
      </p:pic>
      <p:grpSp>
        <p:nvGrpSpPr>
          <p:cNvPr id="11" name="群組 10">
            <a:extLst>
              <a:ext uri="{FF2B5EF4-FFF2-40B4-BE49-F238E27FC236}">
                <a16:creationId xmlns:a16="http://schemas.microsoft.com/office/drawing/2014/main" id="{2B589BDA-B91C-E196-269A-3C7A46B2DD05}"/>
              </a:ext>
            </a:extLst>
          </p:cNvPr>
          <p:cNvGrpSpPr/>
          <p:nvPr/>
        </p:nvGrpSpPr>
        <p:grpSpPr>
          <a:xfrm>
            <a:off x="-538268" y="1429378"/>
            <a:ext cx="7172792" cy="980447"/>
            <a:chOff x="-538268" y="1429378"/>
            <a:chExt cx="7172792" cy="980447"/>
          </a:xfrm>
        </p:grpSpPr>
        <p:grpSp>
          <p:nvGrpSpPr>
            <p:cNvPr id="33" name="群組 32">
              <a:extLst>
                <a:ext uri="{FF2B5EF4-FFF2-40B4-BE49-F238E27FC236}">
                  <a16:creationId xmlns:a16="http://schemas.microsoft.com/office/drawing/2014/main" id="{2831AE05-D536-6C77-EDB7-C25BEF52D932}"/>
                </a:ext>
              </a:extLst>
            </p:cNvPr>
            <p:cNvGrpSpPr/>
            <p:nvPr/>
          </p:nvGrpSpPr>
          <p:grpSpPr>
            <a:xfrm>
              <a:off x="-538268" y="1429378"/>
              <a:ext cx="7172792" cy="878053"/>
              <a:chOff x="-538268" y="1429378"/>
              <a:chExt cx="7172792" cy="878053"/>
            </a:xfrm>
          </p:grpSpPr>
          <p:sp>
            <p:nvSpPr>
              <p:cNvPr id="5" name="弧形 4">
                <a:extLst>
                  <a:ext uri="{FF2B5EF4-FFF2-40B4-BE49-F238E27FC236}">
                    <a16:creationId xmlns:a16="http://schemas.microsoft.com/office/drawing/2014/main" id="{727826DA-B2F8-816E-F0A2-CE42B20F5077}"/>
                  </a:ext>
                </a:extLst>
              </p:cNvPr>
              <p:cNvSpPr/>
              <p:nvPr/>
            </p:nvSpPr>
            <p:spPr>
              <a:xfrm>
                <a:off x="2018419" y="1623017"/>
                <a:ext cx="2041612" cy="489278"/>
              </a:xfrm>
              <a:prstGeom prst="arc">
                <a:avLst>
                  <a:gd name="adj1" fmla="val 22713"/>
                  <a:gd name="adj2" fmla="val 10732727"/>
                </a:avLst>
              </a:prstGeom>
              <a:ln w="38100">
                <a:solidFill>
                  <a:srgbClr val="37415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4" name="直線接點 13">
                <a:extLst>
                  <a:ext uri="{FF2B5EF4-FFF2-40B4-BE49-F238E27FC236}">
                    <a16:creationId xmlns:a16="http://schemas.microsoft.com/office/drawing/2014/main" id="{245E76AE-A03A-9B76-FAD9-8E1C143379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0250" y="2307431"/>
                <a:ext cx="4597888" cy="0"/>
              </a:xfrm>
              <a:prstGeom prst="line">
                <a:avLst/>
              </a:prstGeom>
              <a:ln w="38100">
                <a:solidFill>
                  <a:srgbClr val="37415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弧形 29">
                <a:extLst>
                  <a:ext uri="{FF2B5EF4-FFF2-40B4-BE49-F238E27FC236}">
                    <a16:creationId xmlns:a16="http://schemas.microsoft.com/office/drawing/2014/main" id="{0DB450D8-8A10-44A8-A352-475B0DCB0E17}"/>
                  </a:ext>
                </a:extLst>
              </p:cNvPr>
              <p:cNvSpPr/>
              <p:nvPr/>
            </p:nvSpPr>
            <p:spPr>
              <a:xfrm>
                <a:off x="-538268" y="1429378"/>
                <a:ext cx="2568682" cy="877817"/>
              </a:xfrm>
              <a:prstGeom prst="arc">
                <a:avLst>
                  <a:gd name="adj1" fmla="val 22713"/>
                  <a:gd name="adj2" fmla="val 5370600"/>
                </a:avLst>
              </a:prstGeom>
              <a:ln w="38100">
                <a:solidFill>
                  <a:srgbClr val="37415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" name="弧形 30">
                <a:extLst>
                  <a:ext uri="{FF2B5EF4-FFF2-40B4-BE49-F238E27FC236}">
                    <a16:creationId xmlns:a16="http://schemas.microsoft.com/office/drawing/2014/main" id="{7A20A15E-7DCE-9EB0-16B6-55B21021128F}"/>
                  </a:ext>
                </a:extLst>
              </p:cNvPr>
              <p:cNvSpPr/>
              <p:nvPr/>
            </p:nvSpPr>
            <p:spPr>
              <a:xfrm>
                <a:off x="4065842" y="1429378"/>
                <a:ext cx="2568682" cy="877817"/>
              </a:xfrm>
              <a:prstGeom prst="arc">
                <a:avLst>
                  <a:gd name="adj1" fmla="val 5313254"/>
                  <a:gd name="adj2" fmla="val 10777948"/>
                </a:avLst>
              </a:prstGeom>
              <a:ln w="38100">
                <a:solidFill>
                  <a:srgbClr val="37415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2" name="矩形: 圓角 1">
              <a:extLst>
                <a:ext uri="{FF2B5EF4-FFF2-40B4-BE49-F238E27FC236}">
                  <a16:creationId xmlns:a16="http://schemas.microsoft.com/office/drawing/2014/main" id="{317D2B1F-4899-8E93-A762-3D5137B279F1}"/>
                </a:ext>
              </a:extLst>
            </p:cNvPr>
            <p:cNvSpPr/>
            <p:nvPr/>
          </p:nvSpPr>
          <p:spPr>
            <a:xfrm>
              <a:off x="1990725" y="1812131"/>
              <a:ext cx="82006" cy="597694"/>
            </a:xfrm>
            <a:prstGeom prst="roundRect">
              <a:avLst>
                <a:gd name="adj" fmla="val 25379"/>
              </a:avLst>
            </a:prstGeom>
            <a:solidFill>
              <a:srgbClr val="3741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" name="矩形: 圓角 2">
              <a:extLst>
                <a:ext uri="{FF2B5EF4-FFF2-40B4-BE49-F238E27FC236}">
                  <a16:creationId xmlns:a16="http://schemas.microsoft.com/office/drawing/2014/main" id="{8562648E-45B5-39E4-8BDE-DAC0BE86FDDD}"/>
                </a:ext>
              </a:extLst>
            </p:cNvPr>
            <p:cNvSpPr/>
            <p:nvPr/>
          </p:nvSpPr>
          <p:spPr>
            <a:xfrm>
              <a:off x="4024622" y="1812131"/>
              <a:ext cx="82006" cy="597694"/>
            </a:xfrm>
            <a:prstGeom prst="roundRect">
              <a:avLst>
                <a:gd name="adj" fmla="val 28283"/>
              </a:avLst>
            </a:prstGeom>
            <a:solidFill>
              <a:srgbClr val="3741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2" name="直線接點 11">
              <a:extLst>
                <a:ext uri="{FF2B5EF4-FFF2-40B4-BE49-F238E27FC236}">
                  <a16:creationId xmlns:a16="http://schemas.microsoft.com/office/drawing/2014/main" id="{F650C9CC-6C17-70BE-99FE-48EC1BAAF585}"/>
                </a:ext>
              </a:extLst>
            </p:cNvPr>
            <p:cNvCxnSpPr/>
            <p:nvPr/>
          </p:nvCxnSpPr>
          <p:spPr>
            <a:xfrm>
              <a:off x="2721769" y="2088356"/>
              <a:ext cx="0" cy="219075"/>
            </a:xfrm>
            <a:prstGeom prst="line">
              <a:avLst/>
            </a:prstGeom>
            <a:ln w="38100">
              <a:solidFill>
                <a:srgbClr val="37415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接點 12">
              <a:extLst>
                <a:ext uri="{FF2B5EF4-FFF2-40B4-BE49-F238E27FC236}">
                  <a16:creationId xmlns:a16="http://schemas.microsoft.com/office/drawing/2014/main" id="{3EE4C876-C9D6-5D4C-B7FA-72B9D1EE634D}"/>
                </a:ext>
              </a:extLst>
            </p:cNvPr>
            <p:cNvCxnSpPr/>
            <p:nvPr/>
          </p:nvCxnSpPr>
          <p:spPr>
            <a:xfrm>
              <a:off x="3400425" y="2088356"/>
              <a:ext cx="0" cy="219075"/>
            </a:xfrm>
            <a:prstGeom prst="line">
              <a:avLst/>
            </a:prstGeom>
            <a:ln w="38100">
              <a:solidFill>
                <a:srgbClr val="37415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6" name="表格 45">
            <a:extLst>
              <a:ext uri="{FF2B5EF4-FFF2-40B4-BE49-F238E27FC236}">
                <a16:creationId xmlns:a16="http://schemas.microsoft.com/office/drawing/2014/main" id="{130F332C-7AA3-2701-2C47-6FFE42E1DC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1081576"/>
              </p:ext>
            </p:extLst>
          </p:nvPr>
        </p:nvGraphicFramePr>
        <p:xfrm>
          <a:off x="0" y="2352943"/>
          <a:ext cx="6096000" cy="350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57928696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9720918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417771139"/>
                    </a:ext>
                  </a:extLst>
                </a:gridCol>
              </a:tblGrid>
              <a:tr h="25199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rgbClr val="31739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新產品設計流程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31739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Valor NPI</a:t>
                      </a:r>
                      <a:r>
                        <a:rPr lang="zh-TW" altLang="en-US" sz="1400" dirty="0">
                          <a:solidFill>
                            <a:srgbClr val="31739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驗証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rgbClr val="31739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製造生產與出貨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3823"/>
                  </a:ext>
                </a:extLst>
              </a:tr>
              <a:tr h="320400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427877"/>
                  </a:ext>
                </a:extLst>
              </a:tr>
            </a:tbl>
          </a:graphicData>
        </a:graphic>
      </p:graphicFrame>
      <p:sp>
        <p:nvSpPr>
          <p:cNvPr id="20" name="Rounded Rectangle 27">
            <a:extLst>
              <a:ext uri="{FF2B5EF4-FFF2-40B4-BE49-F238E27FC236}">
                <a16:creationId xmlns:a16="http://schemas.microsoft.com/office/drawing/2014/main" id="{3B6A5F81-5C59-B61B-B76D-B77AE242F6F0}"/>
              </a:ext>
            </a:extLst>
          </p:cNvPr>
          <p:cNvSpPr/>
          <p:nvPr/>
        </p:nvSpPr>
        <p:spPr>
          <a:xfrm>
            <a:off x="4372708" y="5388910"/>
            <a:ext cx="1512000" cy="360000"/>
          </a:xfrm>
          <a:prstGeom prst="roundRect">
            <a:avLst/>
          </a:prstGeom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algn="ctr" defTabSz="622300">
              <a:spcBef>
                <a:spcPct val="0"/>
              </a:spcBef>
            </a:pPr>
            <a:r>
              <a:rPr lang="zh-TW" altLang="en-US" sz="1050" b="1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供應商審核</a:t>
            </a:r>
            <a:endParaRPr lang="en-US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Down Arrow 5">
            <a:extLst>
              <a:ext uri="{FF2B5EF4-FFF2-40B4-BE49-F238E27FC236}">
                <a16:creationId xmlns:a16="http://schemas.microsoft.com/office/drawing/2014/main" id="{9E5662AF-69E6-C03E-AA0D-01489D9D0A17}"/>
              </a:ext>
            </a:extLst>
          </p:cNvPr>
          <p:cNvSpPr/>
          <p:nvPr/>
        </p:nvSpPr>
        <p:spPr>
          <a:xfrm>
            <a:off x="796911" y="2948876"/>
            <a:ext cx="478910" cy="2415018"/>
          </a:xfrm>
          <a:prstGeom prst="downArrow">
            <a:avLst>
              <a:gd name="adj1" fmla="val 38685"/>
              <a:gd name="adj2" fmla="val 47184"/>
            </a:avLst>
          </a:prstGeom>
          <a:solidFill>
            <a:srgbClr val="3741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l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Rounded Rectangle 6">
            <a:extLst>
              <a:ext uri="{FF2B5EF4-FFF2-40B4-BE49-F238E27FC236}">
                <a16:creationId xmlns:a16="http://schemas.microsoft.com/office/drawing/2014/main" id="{C0E9AF1D-EA54-25AB-2372-57E3A99AA94B}"/>
              </a:ext>
            </a:extLst>
          </p:cNvPr>
          <p:cNvSpPr/>
          <p:nvPr/>
        </p:nvSpPr>
        <p:spPr>
          <a:xfrm>
            <a:off x="244366" y="5388910"/>
            <a:ext cx="1512000" cy="360000"/>
          </a:xfrm>
          <a:prstGeom prst="roundRect">
            <a:avLst/>
          </a:prstGeom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algn="ctr" defTabSz="622300">
              <a:spcBef>
                <a:spcPct val="0"/>
              </a:spcBef>
            </a:pPr>
            <a:r>
              <a:rPr lang="zh-TW" altLang="en-US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發佈至製造</a:t>
            </a:r>
            <a:endParaRPr lang="en-US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Rounded Rectangle 7">
            <a:extLst>
              <a:ext uri="{FF2B5EF4-FFF2-40B4-BE49-F238E27FC236}">
                <a16:creationId xmlns:a16="http://schemas.microsoft.com/office/drawing/2014/main" id="{54D135D1-2E7E-9939-4863-01B2A68D1839}"/>
              </a:ext>
            </a:extLst>
          </p:cNvPr>
          <p:cNvSpPr/>
          <p:nvPr/>
        </p:nvSpPr>
        <p:spPr>
          <a:xfrm>
            <a:off x="244366" y="2737119"/>
            <a:ext cx="1512000" cy="360000"/>
          </a:xfrm>
          <a:prstGeom prst="roundRect">
            <a:avLst/>
          </a:prstGeom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algn="ctr" defTabSz="622300">
              <a:spcBef>
                <a:spcPct val="0"/>
              </a:spcBef>
            </a:pPr>
            <a:r>
              <a:rPr lang="zh-TW" altLang="en-US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生成</a:t>
            </a:r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Library</a:t>
            </a:r>
            <a:r>
              <a:rPr lang="zh-TW" altLang="en-US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元件</a:t>
            </a:r>
            <a:endParaRPr lang="en-US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Rounded Rectangle 8">
            <a:extLst>
              <a:ext uri="{FF2B5EF4-FFF2-40B4-BE49-F238E27FC236}">
                <a16:creationId xmlns:a16="http://schemas.microsoft.com/office/drawing/2014/main" id="{8C913FFB-3C67-084F-BD35-0F0B0DB395D4}"/>
              </a:ext>
            </a:extLst>
          </p:cNvPr>
          <p:cNvSpPr/>
          <p:nvPr/>
        </p:nvSpPr>
        <p:spPr>
          <a:xfrm>
            <a:off x="244366" y="3222234"/>
            <a:ext cx="1512000" cy="360000"/>
          </a:xfrm>
          <a:prstGeom prst="roundRect">
            <a:avLst/>
          </a:prstGeom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algn="ctr" defTabSz="622300">
              <a:spcBef>
                <a:spcPct val="0"/>
              </a:spcBef>
            </a:pPr>
            <a:r>
              <a:rPr lang="zh-TW" altLang="en-US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元件佈局</a:t>
            </a:r>
            <a:endParaRPr lang="en-US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Rounded Rectangle 9">
            <a:extLst>
              <a:ext uri="{FF2B5EF4-FFF2-40B4-BE49-F238E27FC236}">
                <a16:creationId xmlns:a16="http://schemas.microsoft.com/office/drawing/2014/main" id="{B7A71718-2249-7B73-A903-4438FFBEEDDF}"/>
              </a:ext>
            </a:extLst>
          </p:cNvPr>
          <p:cNvSpPr/>
          <p:nvPr/>
        </p:nvSpPr>
        <p:spPr>
          <a:xfrm>
            <a:off x="244366" y="3707349"/>
            <a:ext cx="1512000" cy="360000"/>
          </a:xfrm>
          <a:prstGeom prst="roundRect">
            <a:avLst/>
          </a:prstGeom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algn="ctr" defTabSz="622300">
              <a:spcBef>
                <a:spcPct val="0"/>
              </a:spcBef>
            </a:pPr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PCB</a:t>
            </a:r>
            <a:r>
              <a:rPr lang="zh-TW" altLang="en-US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佈線</a:t>
            </a:r>
            <a:endParaRPr lang="en-US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Rounded Rectangle 10">
            <a:extLst>
              <a:ext uri="{FF2B5EF4-FFF2-40B4-BE49-F238E27FC236}">
                <a16:creationId xmlns:a16="http://schemas.microsoft.com/office/drawing/2014/main" id="{578B52E1-53F7-0A0F-FB3B-0D260562FF83}"/>
              </a:ext>
            </a:extLst>
          </p:cNvPr>
          <p:cNvSpPr/>
          <p:nvPr/>
        </p:nvSpPr>
        <p:spPr>
          <a:xfrm>
            <a:off x="244366" y="4192464"/>
            <a:ext cx="1512000" cy="360000"/>
          </a:xfrm>
          <a:prstGeom prst="roundRect">
            <a:avLst/>
          </a:prstGeom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algn="ctr" defTabSz="622300">
              <a:spcBef>
                <a:spcPct val="0"/>
              </a:spcBef>
            </a:pPr>
            <a:r>
              <a:rPr lang="zh-TW" altLang="en-US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生成製造用料清單</a:t>
            </a:r>
            <a:endParaRPr lang="en-US" sz="105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Rounded Rectangle 11">
            <a:extLst>
              <a:ext uri="{FF2B5EF4-FFF2-40B4-BE49-F238E27FC236}">
                <a16:creationId xmlns:a16="http://schemas.microsoft.com/office/drawing/2014/main" id="{A81464D5-30F5-4908-3C10-73089BA4E0CC}"/>
              </a:ext>
            </a:extLst>
          </p:cNvPr>
          <p:cNvSpPr/>
          <p:nvPr/>
        </p:nvSpPr>
        <p:spPr>
          <a:xfrm>
            <a:off x="244366" y="4677578"/>
            <a:ext cx="1512000" cy="360000"/>
          </a:xfrm>
          <a:prstGeom prst="roundRect">
            <a:avLst/>
          </a:prstGeom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algn="ctr" defTabSz="622300">
              <a:spcBef>
                <a:spcPct val="0"/>
              </a:spcBef>
            </a:pPr>
            <a:r>
              <a:rPr lang="zh-TW" altLang="en-US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創建</a:t>
            </a:r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審核製造輸出文件</a:t>
            </a:r>
            <a:endParaRPr lang="en-US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箭號: 上-下雙向 31">
            <a:extLst>
              <a:ext uri="{FF2B5EF4-FFF2-40B4-BE49-F238E27FC236}">
                <a16:creationId xmlns:a16="http://schemas.microsoft.com/office/drawing/2014/main" id="{EE687723-C0DD-BA4C-3FD1-78EC85BBA542}"/>
              </a:ext>
            </a:extLst>
          </p:cNvPr>
          <p:cNvSpPr/>
          <p:nvPr/>
        </p:nvSpPr>
        <p:spPr>
          <a:xfrm rot="5400000">
            <a:off x="2924358" y="4289386"/>
            <a:ext cx="279031" cy="2559049"/>
          </a:xfrm>
          <a:prstGeom prst="up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Rounded Rectangle 27">
            <a:extLst>
              <a:ext uri="{FF2B5EF4-FFF2-40B4-BE49-F238E27FC236}">
                <a16:creationId xmlns:a16="http://schemas.microsoft.com/office/drawing/2014/main" id="{CED2B864-5EEB-5A13-8F14-89A3F599F715}"/>
              </a:ext>
            </a:extLst>
          </p:cNvPr>
          <p:cNvSpPr/>
          <p:nvPr/>
        </p:nvSpPr>
        <p:spPr>
          <a:xfrm>
            <a:off x="2296154" y="4677578"/>
            <a:ext cx="1512000" cy="360000"/>
          </a:xfrm>
          <a:prstGeom prst="roundRect">
            <a:avLst/>
          </a:prstGeom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algn="ctr" defTabSz="622300">
              <a:spcBef>
                <a:spcPct val="0"/>
              </a:spcBef>
            </a:pPr>
            <a:r>
              <a:rPr lang="zh-TW" altLang="en-US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製造包審核</a:t>
            </a:r>
          </a:p>
        </p:txBody>
      </p:sp>
      <p:sp>
        <p:nvSpPr>
          <p:cNvPr id="42" name="Rounded Rectangle 27">
            <a:extLst>
              <a:ext uri="{FF2B5EF4-FFF2-40B4-BE49-F238E27FC236}">
                <a16:creationId xmlns:a16="http://schemas.microsoft.com/office/drawing/2014/main" id="{FB99FA57-8C2F-AB57-6297-39B268C83AFF}"/>
              </a:ext>
            </a:extLst>
          </p:cNvPr>
          <p:cNvSpPr/>
          <p:nvPr/>
        </p:nvSpPr>
        <p:spPr>
          <a:xfrm>
            <a:off x="2296154" y="4192464"/>
            <a:ext cx="1512000" cy="360000"/>
          </a:xfrm>
          <a:prstGeom prst="roundRect">
            <a:avLst/>
          </a:prstGeom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algn="ctr" defTabSz="622300">
              <a:spcBef>
                <a:spcPct val="0"/>
              </a:spcBef>
            </a:pPr>
            <a:r>
              <a:rPr lang="zh-TW" altLang="en-US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製造用料清單審核</a:t>
            </a:r>
          </a:p>
        </p:txBody>
      </p:sp>
      <p:sp>
        <p:nvSpPr>
          <p:cNvPr id="43" name="Rounded Rectangle 27">
            <a:extLst>
              <a:ext uri="{FF2B5EF4-FFF2-40B4-BE49-F238E27FC236}">
                <a16:creationId xmlns:a16="http://schemas.microsoft.com/office/drawing/2014/main" id="{FB320B68-8948-63A6-FBBA-82F9364CC89E}"/>
              </a:ext>
            </a:extLst>
          </p:cNvPr>
          <p:cNvSpPr/>
          <p:nvPr/>
        </p:nvSpPr>
        <p:spPr>
          <a:xfrm>
            <a:off x="2296154" y="3707349"/>
            <a:ext cx="1512000" cy="360000"/>
          </a:xfrm>
          <a:prstGeom prst="roundRect">
            <a:avLst/>
          </a:prstGeom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algn="ctr" defTabSz="622300">
              <a:spcBef>
                <a:spcPct val="0"/>
              </a:spcBef>
            </a:pPr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PCB </a:t>
            </a:r>
            <a:r>
              <a:rPr lang="zh-TW" altLang="en-US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設計審核</a:t>
            </a:r>
          </a:p>
        </p:txBody>
      </p:sp>
      <p:sp>
        <p:nvSpPr>
          <p:cNvPr id="44" name="Rounded Rectangle 27">
            <a:extLst>
              <a:ext uri="{FF2B5EF4-FFF2-40B4-BE49-F238E27FC236}">
                <a16:creationId xmlns:a16="http://schemas.microsoft.com/office/drawing/2014/main" id="{4289D611-DEBA-6362-8C3E-E080619A3915}"/>
              </a:ext>
            </a:extLst>
          </p:cNvPr>
          <p:cNvSpPr/>
          <p:nvPr/>
        </p:nvSpPr>
        <p:spPr>
          <a:xfrm>
            <a:off x="2296154" y="3222234"/>
            <a:ext cx="1512000" cy="360000"/>
          </a:xfrm>
          <a:prstGeom prst="roundRect">
            <a:avLst/>
          </a:prstGeom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algn="ctr" defTabSz="622300">
              <a:spcBef>
                <a:spcPct val="0"/>
              </a:spcBef>
            </a:pPr>
            <a:r>
              <a:rPr lang="zh-TW" altLang="en-US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元件佈局審核</a:t>
            </a:r>
          </a:p>
        </p:txBody>
      </p:sp>
      <p:sp>
        <p:nvSpPr>
          <p:cNvPr id="45" name="Rounded Rectangle 27">
            <a:extLst>
              <a:ext uri="{FF2B5EF4-FFF2-40B4-BE49-F238E27FC236}">
                <a16:creationId xmlns:a16="http://schemas.microsoft.com/office/drawing/2014/main" id="{920F4B29-FBDC-10E7-D5C8-275ACABD2DE0}"/>
              </a:ext>
            </a:extLst>
          </p:cNvPr>
          <p:cNvSpPr/>
          <p:nvPr/>
        </p:nvSpPr>
        <p:spPr>
          <a:xfrm>
            <a:off x="2296154" y="2737119"/>
            <a:ext cx="1512000" cy="360000"/>
          </a:xfrm>
          <a:prstGeom prst="roundRect">
            <a:avLst/>
          </a:prstGeom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algn="ctr" defTabSz="622300">
              <a:spcBef>
                <a:spcPct val="0"/>
              </a:spcBef>
            </a:pPr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Library</a:t>
            </a:r>
            <a:r>
              <a:rPr lang="zh-TW" altLang="en-US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元件審核</a:t>
            </a:r>
          </a:p>
        </p:txBody>
      </p:sp>
      <p:sp>
        <p:nvSpPr>
          <p:cNvPr id="48" name="箭號: 上-下雙向 47">
            <a:extLst>
              <a:ext uri="{FF2B5EF4-FFF2-40B4-BE49-F238E27FC236}">
                <a16:creationId xmlns:a16="http://schemas.microsoft.com/office/drawing/2014/main" id="{E16110E5-F57F-9899-2394-9B38B201F8B7}"/>
              </a:ext>
            </a:extLst>
          </p:cNvPr>
          <p:cNvSpPr/>
          <p:nvPr/>
        </p:nvSpPr>
        <p:spPr>
          <a:xfrm rot="5400000">
            <a:off x="1886744" y="4609128"/>
            <a:ext cx="279031" cy="496900"/>
          </a:xfrm>
          <a:prstGeom prst="upDownArrow">
            <a:avLst/>
          </a:prstGeom>
          <a:solidFill>
            <a:srgbClr val="3741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箭號: 上-下雙向 48">
            <a:extLst>
              <a:ext uri="{FF2B5EF4-FFF2-40B4-BE49-F238E27FC236}">
                <a16:creationId xmlns:a16="http://schemas.microsoft.com/office/drawing/2014/main" id="{E171D688-B3F5-7EFB-340E-9BB2CF6C7F6A}"/>
              </a:ext>
            </a:extLst>
          </p:cNvPr>
          <p:cNvSpPr/>
          <p:nvPr/>
        </p:nvSpPr>
        <p:spPr>
          <a:xfrm rot="5400000">
            <a:off x="1886744" y="4124014"/>
            <a:ext cx="279031" cy="496900"/>
          </a:xfrm>
          <a:prstGeom prst="upDownArrow">
            <a:avLst/>
          </a:prstGeom>
          <a:solidFill>
            <a:srgbClr val="3741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箭號: 上-下雙向 49">
            <a:extLst>
              <a:ext uri="{FF2B5EF4-FFF2-40B4-BE49-F238E27FC236}">
                <a16:creationId xmlns:a16="http://schemas.microsoft.com/office/drawing/2014/main" id="{26987D94-86DF-D6D7-0AD8-D95CB2F1258B}"/>
              </a:ext>
            </a:extLst>
          </p:cNvPr>
          <p:cNvSpPr/>
          <p:nvPr/>
        </p:nvSpPr>
        <p:spPr>
          <a:xfrm rot="5400000">
            <a:off x="1886744" y="3638899"/>
            <a:ext cx="279031" cy="496900"/>
          </a:xfrm>
          <a:prstGeom prst="upDownArrow">
            <a:avLst/>
          </a:prstGeom>
          <a:solidFill>
            <a:srgbClr val="3741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箭號: 上-下雙向 50">
            <a:extLst>
              <a:ext uri="{FF2B5EF4-FFF2-40B4-BE49-F238E27FC236}">
                <a16:creationId xmlns:a16="http://schemas.microsoft.com/office/drawing/2014/main" id="{263EB407-DA3C-BC52-F156-DC8ED83E09C0}"/>
              </a:ext>
            </a:extLst>
          </p:cNvPr>
          <p:cNvSpPr/>
          <p:nvPr/>
        </p:nvSpPr>
        <p:spPr>
          <a:xfrm rot="5400000">
            <a:off x="1886744" y="3153784"/>
            <a:ext cx="279031" cy="496900"/>
          </a:xfrm>
          <a:prstGeom prst="upDownArrow">
            <a:avLst/>
          </a:prstGeom>
          <a:solidFill>
            <a:srgbClr val="3741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箭號: 上-下雙向 51">
            <a:extLst>
              <a:ext uri="{FF2B5EF4-FFF2-40B4-BE49-F238E27FC236}">
                <a16:creationId xmlns:a16="http://schemas.microsoft.com/office/drawing/2014/main" id="{8A93C53D-0E93-8752-B221-B8BCBF93B96A}"/>
              </a:ext>
            </a:extLst>
          </p:cNvPr>
          <p:cNvSpPr/>
          <p:nvPr/>
        </p:nvSpPr>
        <p:spPr>
          <a:xfrm rot="5400000">
            <a:off x="1886744" y="2668669"/>
            <a:ext cx="279031" cy="496900"/>
          </a:xfrm>
          <a:prstGeom prst="upDownArrow">
            <a:avLst/>
          </a:prstGeom>
          <a:solidFill>
            <a:srgbClr val="3741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5" name="Picture 18">
            <a:extLst>
              <a:ext uri="{FF2B5EF4-FFF2-40B4-BE49-F238E27FC236}">
                <a16:creationId xmlns:a16="http://schemas.microsoft.com/office/drawing/2014/main" id="{5EE62EDF-22C3-B00B-F989-D181D85E21EE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778" y="1670336"/>
            <a:ext cx="863175" cy="690540"/>
          </a:xfrm>
          <a:prstGeom prst="rect">
            <a:avLst/>
          </a:prstGeom>
          <a:ln>
            <a:noFill/>
          </a:ln>
        </p:spPr>
      </p:pic>
      <p:pic>
        <p:nvPicPr>
          <p:cNvPr id="16" name="Picture 17">
            <a:extLst>
              <a:ext uri="{FF2B5EF4-FFF2-40B4-BE49-F238E27FC236}">
                <a16:creationId xmlns:a16="http://schemas.microsoft.com/office/drawing/2014/main" id="{4F89FAB6-3302-EFBA-0C28-1236433DE33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7120" y="1670336"/>
            <a:ext cx="863175" cy="69054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7036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3952B-5B15-0A19-B67C-28494AAA2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文字版面配置區 35">
            <a:extLst>
              <a:ext uri="{FF2B5EF4-FFF2-40B4-BE49-F238E27FC236}">
                <a16:creationId xmlns:a16="http://schemas.microsoft.com/office/drawing/2014/main" id="{54EAA469-3683-E2C7-228A-6945AB35CF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43259" y="678706"/>
            <a:ext cx="3914916" cy="698400"/>
          </a:xfrm>
        </p:spPr>
        <p:txBody>
          <a:bodyPr>
            <a:normAutofit/>
          </a:bodyPr>
          <a:lstStyle/>
          <a:p>
            <a:r>
              <a:rPr lang="en-US" altLang="zh-TW" i="1" dirty="0"/>
              <a:t>GerbTool</a:t>
            </a: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D8E7D60F-CC48-B617-7F4C-3CDBE48CE9F8}"/>
              </a:ext>
            </a:extLst>
          </p:cNvPr>
          <p:cNvGrpSpPr/>
          <p:nvPr/>
        </p:nvGrpSpPr>
        <p:grpSpPr>
          <a:xfrm>
            <a:off x="-456496" y="151715"/>
            <a:ext cx="5784634" cy="1069361"/>
            <a:chOff x="-456496" y="151715"/>
            <a:chExt cx="5784634" cy="1069361"/>
          </a:xfrm>
        </p:grpSpPr>
        <p:sp>
          <p:nvSpPr>
            <p:cNvPr id="8" name="內容版面配置區 12">
              <a:extLst>
                <a:ext uri="{FF2B5EF4-FFF2-40B4-BE49-F238E27FC236}">
                  <a16:creationId xmlns:a16="http://schemas.microsoft.com/office/drawing/2014/main" id="{793ECB28-4AFB-4D20-A9D6-6741D63E6A87}"/>
                </a:ext>
              </a:extLst>
            </p:cNvPr>
            <p:cNvSpPr txBox="1">
              <a:spLocks/>
            </p:cNvSpPr>
            <p:nvPr/>
          </p:nvSpPr>
          <p:spPr>
            <a:xfrm>
              <a:off x="-456496" y="151715"/>
              <a:ext cx="2414165" cy="106936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buNone/>
              </a:pPr>
              <a:r>
                <a:rPr lang="zh-TW" altLang="en-US" sz="1200" b="1" u="sng" dirty="0">
                  <a:solidFill>
                    <a:srgbClr val="374151"/>
                  </a:solidFill>
                </a:rPr>
                <a:t>提供給客戶的服務  </a:t>
              </a:r>
            </a:p>
            <a:p>
              <a:pPr marL="219075" lvl="1" indent="0" algn="r">
                <a:buNone/>
              </a:pPr>
              <a:r>
                <a:rPr lang="zh-TW" altLang="en-US" sz="1000" dirty="0">
                  <a:solidFill>
                    <a:schemeClr val="tx1"/>
                  </a:solidFill>
                </a:rPr>
                <a:t>完整的產品展示與教育訓練 </a:t>
              </a:r>
              <a:r>
                <a:rPr lang="en-US" altLang="zh-TW" sz="1000" dirty="0">
                  <a:solidFill>
                    <a:schemeClr val="tx1"/>
                  </a:solidFill>
                </a:rPr>
                <a:t>-</a:t>
              </a:r>
              <a:r>
                <a:rPr lang="zh-TW" altLang="en-US" sz="1000" dirty="0">
                  <a:solidFill>
                    <a:schemeClr val="tx1"/>
                  </a:solidFill>
                </a:rPr>
                <a:t> </a:t>
              </a:r>
            </a:p>
            <a:p>
              <a:pPr marL="219075" lvl="1" indent="0" algn="r">
                <a:buNone/>
              </a:pPr>
              <a:r>
                <a:rPr lang="zh-TW" altLang="en-US" sz="1000" dirty="0">
                  <a:solidFill>
                    <a:schemeClr val="tx1"/>
                  </a:solidFill>
                </a:rPr>
                <a:t>客戶設計問題解析與建議 </a:t>
              </a:r>
              <a:r>
                <a:rPr lang="en-US" altLang="zh-TW" sz="1000" dirty="0">
                  <a:solidFill>
                    <a:schemeClr val="tx1"/>
                  </a:solidFill>
                </a:rPr>
                <a:t>-          </a:t>
              </a:r>
            </a:p>
            <a:p>
              <a:pPr marL="219075" lvl="1" indent="0" algn="r">
                <a:buNone/>
              </a:pPr>
              <a:r>
                <a:rPr lang="zh-TW" altLang="en-US" sz="1000" dirty="0">
                  <a:solidFill>
                    <a:schemeClr val="tx1"/>
                  </a:solidFill>
                </a:rPr>
                <a:t>軟體技術支援與專案輔導 </a:t>
              </a:r>
              <a:r>
                <a:rPr lang="en-US" altLang="zh-TW" sz="1000" dirty="0">
                  <a:solidFill>
                    <a:schemeClr val="tx1"/>
                  </a:solidFill>
                </a:rPr>
                <a:t>-</a:t>
              </a:r>
              <a:endParaRPr lang="zh-TW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9" name="內容版面配置區 12">
              <a:extLst>
                <a:ext uri="{FF2B5EF4-FFF2-40B4-BE49-F238E27FC236}">
                  <a16:creationId xmlns:a16="http://schemas.microsoft.com/office/drawing/2014/main" id="{F4610DBF-D1C5-6EC2-1852-A1613C2216F9}"/>
                </a:ext>
              </a:extLst>
            </p:cNvPr>
            <p:cNvSpPr txBox="1">
              <a:spLocks/>
            </p:cNvSpPr>
            <p:nvPr/>
          </p:nvSpPr>
          <p:spPr>
            <a:xfrm>
              <a:off x="1929093" y="151715"/>
              <a:ext cx="3399045" cy="106920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TW" altLang="en-US" sz="1200" b="1" u="sng" dirty="0">
                  <a:solidFill>
                    <a:srgbClr val="374151"/>
                  </a:solidFill>
                </a:rPr>
                <a:t>適合的產業與人員  </a:t>
              </a:r>
            </a:p>
            <a:p>
              <a:pPr marL="0" lvl="1" indent="0">
                <a:buNone/>
              </a:pPr>
              <a:r>
                <a:rPr lang="en-US" altLang="zh-TW" sz="1000" dirty="0">
                  <a:solidFill>
                    <a:schemeClr val="tx1"/>
                  </a:solidFill>
                </a:rPr>
                <a:t>- 3C</a:t>
              </a:r>
              <a:r>
                <a:rPr lang="zh-TW" altLang="en-US" sz="1000" dirty="0">
                  <a:solidFill>
                    <a:schemeClr val="tx1"/>
                  </a:solidFill>
                </a:rPr>
                <a:t> </a:t>
              </a:r>
              <a:r>
                <a:rPr lang="en-US" altLang="zh-TW" sz="1000" dirty="0">
                  <a:solidFill>
                    <a:schemeClr val="tx1"/>
                  </a:solidFill>
                </a:rPr>
                <a:t>/</a:t>
              </a:r>
              <a:r>
                <a:rPr lang="zh-TW" altLang="en-US" sz="1000" dirty="0">
                  <a:solidFill>
                    <a:schemeClr val="tx1"/>
                  </a:solidFill>
                </a:rPr>
                <a:t> 消費型電子 </a:t>
              </a:r>
              <a:r>
                <a:rPr lang="en-US" altLang="zh-TW" sz="1000" dirty="0">
                  <a:solidFill>
                    <a:schemeClr val="tx1"/>
                  </a:solidFill>
                </a:rPr>
                <a:t>/ </a:t>
              </a:r>
              <a:r>
                <a:rPr lang="zh-TW" altLang="en-US" sz="1000" dirty="0">
                  <a:solidFill>
                    <a:schemeClr val="tx1"/>
                  </a:solidFill>
                </a:rPr>
                <a:t>醫療 </a:t>
              </a:r>
              <a:r>
                <a:rPr lang="en-US" altLang="zh-TW" sz="1000" dirty="0">
                  <a:solidFill>
                    <a:schemeClr val="tx1"/>
                  </a:solidFill>
                </a:rPr>
                <a:t>/ LED</a:t>
              </a:r>
              <a:r>
                <a:rPr lang="zh-TW" altLang="en-US" sz="1000" dirty="0">
                  <a:solidFill>
                    <a:schemeClr val="tx1"/>
                  </a:solidFill>
                </a:rPr>
                <a:t>產業 </a:t>
              </a:r>
              <a:r>
                <a:rPr lang="en-US" altLang="zh-TW" sz="1000" dirty="0">
                  <a:solidFill>
                    <a:schemeClr val="tx1"/>
                  </a:solidFill>
                </a:rPr>
                <a:t>/ </a:t>
              </a:r>
              <a:r>
                <a:rPr lang="zh-TW" altLang="en-US" sz="1000" dirty="0">
                  <a:solidFill>
                    <a:schemeClr val="tx1"/>
                  </a:solidFill>
                </a:rPr>
                <a:t>航太 </a:t>
              </a:r>
              <a:r>
                <a:rPr lang="en-US" altLang="zh-TW" sz="1000" dirty="0">
                  <a:solidFill>
                    <a:schemeClr val="tx1"/>
                  </a:solidFill>
                </a:rPr>
                <a:t>/ </a:t>
              </a:r>
              <a:r>
                <a:rPr lang="zh-TW" altLang="en-US" sz="1000" dirty="0">
                  <a:solidFill>
                    <a:schemeClr val="tx1"/>
                  </a:solidFill>
                </a:rPr>
                <a:t>國防 </a:t>
              </a:r>
              <a:endParaRPr lang="en-US" altLang="zh-TW" sz="1000" dirty="0">
                <a:solidFill>
                  <a:schemeClr val="tx1"/>
                </a:solidFill>
              </a:endParaRPr>
            </a:p>
            <a:p>
              <a:pPr marL="0" lvl="1" indent="0">
                <a:buNone/>
              </a:pPr>
              <a:r>
                <a:rPr lang="en-US" altLang="zh-TW" sz="1000" dirty="0">
                  <a:solidFill>
                    <a:schemeClr val="tx1"/>
                  </a:solidFill>
                </a:rPr>
                <a:t>- </a:t>
              </a:r>
              <a:r>
                <a:rPr lang="zh-TW" altLang="en-US" sz="1000" dirty="0">
                  <a:solidFill>
                    <a:schemeClr val="tx1"/>
                  </a:solidFill>
                </a:rPr>
                <a:t>車用相關 </a:t>
              </a:r>
              <a:r>
                <a:rPr lang="en-US" altLang="zh-TW" sz="1000" dirty="0">
                  <a:solidFill>
                    <a:schemeClr val="tx1"/>
                  </a:solidFill>
                </a:rPr>
                <a:t>/ </a:t>
              </a:r>
              <a:r>
                <a:rPr lang="zh-TW" altLang="en-US" sz="1000" dirty="0">
                  <a:solidFill>
                    <a:schemeClr val="tx1"/>
                  </a:solidFill>
                </a:rPr>
                <a:t>伺服器 </a:t>
              </a:r>
              <a:r>
                <a:rPr lang="en-US" altLang="zh-TW" sz="1000" dirty="0">
                  <a:solidFill>
                    <a:schemeClr val="tx1"/>
                  </a:solidFill>
                </a:rPr>
                <a:t>/ </a:t>
              </a:r>
              <a:r>
                <a:rPr lang="zh-TW" altLang="en-US" sz="1000" dirty="0">
                  <a:solidFill>
                    <a:schemeClr val="tx1"/>
                  </a:solidFill>
                </a:rPr>
                <a:t>工業電子</a:t>
              </a:r>
            </a:p>
            <a:p>
              <a:pPr marL="0" lvl="1" indent="0">
                <a:buNone/>
              </a:pPr>
              <a:r>
                <a:rPr lang="en-US" altLang="zh-TW" sz="1000" dirty="0">
                  <a:solidFill>
                    <a:schemeClr val="tx1"/>
                  </a:solidFill>
                </a:rPr>
                <a:t>- RD / FAE</a:t>
              </a:r>
            </a:p>
          </p:txBody>
        </p:sp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739B2BD8-2A57-13B6-91CC-70C49A066B49}"/>
                </a:ext>
              </a:extLst>
            </p:cNvPr>
            <p:cNvCxnSpPr>
              <a:cxnSpLocks/>
            </p:cNvCxnSpPr>
            <p:nvPr/>
          </p:nvCxnSpPr>
          <p:spPr>
            <a:xfrm>
              <a:off x="1943381" y="151715"/>
              <a:ext cx="0" cy="106920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3" name="內容版面配置區 4">
            <a:extLst>
              <a:ext uri="{FF2B5EF4-FFF2-40B4-BE49-F238E27FC236}">
                <a16:creationId xmlns:a16="http://schemas.microsoft.com/office/drawing/2014/main" id="{0B13AA39-ED64-0625-D393-81B01213B7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1547136"/>
              </p:ext>
            </p:extLst>
          </p:nvPr>
        </p:nvGraphicFramePr>
        <p:xfrm>
          <a:off x="6107999" y="1859763"/>
          <a:ext cx="6084000" cy="3781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6000">
                  <a:extLst>
                    <a:ext uri="{9D8B030D-6E8A-4147-A177-3AD203B41FA5}">
                      <a16:colId xmlns:a16="http://schemas.microsoft.com/office/drawing/2014/main" val="2508608642"/>
                    </a:ext>
                  </a:extLst>
                </a:gridCol>
                <a:gridCol w="1512000">
                  <a:extLst>
                    <a:ext uri="{9D8B030D-6E8A-4147-A177-3AD203B41FA5}">
                      <a16:colId xmlns:a16="http://schemas.microsoft.com/office/drawing/2014/main" val="1050113514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292421884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1901891503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684157308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661098801"/>
                    </a:ext>
                  </a:extLst>
                </a:gridCol>
              </a:tblGrid>
              <a:tr h="449831">
                <a:tc gridSpan="2">
                  <a:txBody>
                    <a:bodyPr/>
                    <a:lstStyle/>
                    <a:p>
                      <a:pPr algn="l"/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08000" marR="36000" marT="72000" marB="72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6AEAC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5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GT-Designer</a:t>
                      </a:r>
                      <a:endParaRPr lang="zh-TW" altLang="en-US" sz="105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6AEA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5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GT-Inspector</a:t>
                      </a:r>
                      <a:endParaRPr lang="zh-TW" altLang="en-US" sz="105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6AEA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5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GT-</a:t>
                      </a:r>
                      <a:r>
                        <a:rPr lang="en-US" altLang="zh-TW" sz="7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Communicator</a:t>
                      </a:r>
                      <a:endParaRPr lang="zh-TW" altLang="en-US" sz="7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6AEA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5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GT-</a:t>
                      </a:r>
                    </a:p>
                    <a:p>
                      <a:pPr algn="ctr"/>
                      <a:r>
                        <a:rPr lang="en-US" altLang="zh-TW" sz="105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Viewer</a:t>
                      </a:r>
                      <a:endParaRPr lang="zh-TW" altLang="en-US" sz="105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6AEA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6466356"/>
                  </a:ext>
                </a:extLst>
              </a:tr>
              <a:tr h="33320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圖形檢視與列印</a:t>
                      </a:r>
                      <a:endParaRPr lang="en-US" altLang="zh-TW" sz="1400" b="1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0" marR="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2481381"/>
                  </a:ext>
                </a:extLst>
              </a:tr>
              <a:tr h="299887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檔案匯入（</a:t>
                      </a:r>
                      <a:r>
                        <a:rPr lang="en-US" altLang="zh-TW" sz="1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Gerber/DXF/NC)</a:t>
                      </a:r>
                    </a:p>
                  </a:txBody>
                  <a:tcPr marL="0" marR="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994403"/>
                  </a:ext>
                </a:extLst>
              </a:tr>
              <a:tr h="299887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智慧格式（</a:t>
                      </a:r>
                      <a:r>
                        <a:rPr lang="en-US" altLang="zh-TW" sz="1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ODB++/IPC-2581</a:t>
                      </a:r>
                      <a:r>
                        <a:rPr lang="zh-TW" altLang="en-US" sz="1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）</a:t>
                      </a:r>
                      <a:endParaRPr lang="en-US" altLang="zh-TW" sz="1200" b="1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0" marR="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R="90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R="90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R="90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R="90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001885"/>
                  </a:ext>
                </a:extLst>
              </a:tr>
              <a:tr h="699737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紅線</a:t>
                      </a:r>
                      <a:endParaRPr lang="en-US" altLang="zh-TW" sz="1200" b="1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標註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08000" marR="36000" marT="72000" marB="72000"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Add Text/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Delete/Properties/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View Redlining</a:t>
                      </a:r>
                      <a:endParaRPr lang="zh-TW" altLang="en-US" sz="1200" b="1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314785"/>
                  </a:ext>
                </a:extLst>
              </a:tr>
              <a:tr h="499812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08000" marR="36000" marT="72000" marB="72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Balloon/Arrow/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Line/Sketch</a:t>
                      </a:r>
                      <a:endParaRPr lang="zh-TW" altLang="en-US" sz="1200" b="1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179416"/>
                  </a:ext>
                </a:extLst>
              </a:tr>
              <a:tr h="299887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基礎</a:t>
                      </a:r>
                      <a:r>
                        <a:rPr lang="en-US" altLang="zh-TW" sz="1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DRC/</a:t>
                      </a:r>
                      <a:r>
                        <a:rPr lang="zh-TW" altLang="en-US" sz="1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製程檢查</a:t>
                      </a:r>
                    </a:p>
                  </a:txBody>
                  <a:tcPr marL="0" marR="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012031"/>
                  </a:ext>
                </a:extLst>
              </a:tr>
              <a:tr h="299887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圖形編輯</a:t>
                      </a:r>
                      <a:r>
                        <a:rPr lang="en-US" altLang="zh-TW" sz="1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/Move/Delete/Polyline</a:t>
                      </a:r>
                      <a:endParaRPr lang="zh-TW" altLang="en-US" sz="1200" b="1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0" marR="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81516"/>
                  </a:ext>
                </a:extLst>
              </a:tr>
              <a:tr h="299887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網表產生（</a:t>
                      </a:r>
                      <a:r>
                        <a:rPr lang="en-US" altLang="zh-TW" sz="1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Netlist Generate</a:t>
                      </a:r>
                      <a:r>
                        <a:rPr lang="zh-TW" altLang="en-US" sz="1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）</a:t>
                      </a:r>
                    </a:p>
                  </a:txBody>
                  <a:tcPr marL="0" marR="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295762"/>
                  </a:ext>
                </a:extLst>
              </a:tr>
              <a:tr h="299887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網表比對</a:t>
                      </a:r>
                    </a:p>
                  </a:txBody>
                  <a:tcPr marL="0" marR="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zh-TW" altLang="en-US" sz="11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○（選購）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8697927"/>
                  </a:ext>
                </a:extLst>
              </a:tr>
            </a:tbl>
          </a:graphicData>
        </a:graphic>
      </p:graphicFrame>
      <p:sp>
        <p:nvSpPr>
          <p:cNvPr id="18" name="文字方塊 17">
            <a:extLst>
              <a:ext uri="{FF2B5EF4-FFF2-40B4-BE49-F238E27FC236}">
                <a16:creationId xmlns:a16="http://schemas.microsoft.com/office/drawing/2014/main" id="{9253FD5D-BB0B-19B6-4C31-B12E8954C04B}"/>
              </a:ext>
            </a:extLst>
          </p:cNvPr>
          <p:cNvSpPr txBox="1"/>
          <p:nvPr/>
        </p:nvSpPr>
        <p:spPr>
          <a:xfrm>
            <a:off x="7154181" y="874017"/>
            <a:ext cx="5037819" cy="307777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簡單、實惠、可靠，確保設計與製造的完美銜接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A4FE202F-197A-459C-008E-D115904EFCFD}"/>
              </a:ext>
            </a:extLst>
          </p:cNvPr>
          <p:cNvSpPr txBox="1"/>
          <p:nvPr/>
        </p:nvSpPr>
        <p:spPr>
          <a:xfrm>
            <a:off x="0" y="1372216"/>
            <a:ext cx="3775075" cy="338554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algn="r"/>
            <a:r>
              <a:rPr lang="en-US" altLang="zh-TW" sz="140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PCB</a:t>
            </a:r>
            <a:r>
              <a:rPr lang="zh-TW" altLang="en-US" sz="140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製造業</a:t>
            </a:r>
            <a:r>
              <a:rPr lang="zh-TW" altLang="en-US" sz="1600" b="1" dirty="0">
                <a:solidFill>
                  <a:srgbClr val="009E9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串聯設計與製造</a:t>
            </a:r>
            <a:r>
              <a:rPr lang="zh-TW" altLang="en-US" sz="140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的溝通工具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F933DAC-7A9D-B2C3-F64F-6F1ABC34B33D}"/>
              </a:ext>
            </a:extLst>
          </p:cNvPr>
          <p:cNvSpPr/>
          <p:nvPr/>
        </p:nvSpPr>
        <p:spPr>
          <a:xfrm>
            <a:off x="4877209" y="39857"/>
            <a:ext cx="1219184" cy="685800"/>
          </a:xfrm>
          <a:prstGeom prst="rect">
            <a:avLst/>
          </a:prstGeom>
          <a:solidFill>
            <a:srgbClr val="1C47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" name="Picture 19">
            <a:extLst>
              <a:ext uri="{FF2B5EF4-FFF2-40B4-BE49-F238E27FC236}">
                <a16:creationId xmlns:a16="http://schemas.microsoft.com/office/drawing/2014/main" id="{B1CC48C6-A585-36A2-1675-B8D1CC419F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8024" y="202757"/>
            <a:ext cx="1058505" cy="360000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771B2F16-FC68-5AD7-BB9A-ABEA9B2511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117" y="5957529"/>
            <a:ext cx="863175" cy="861686"/>
          </a:xfrm>
          <a:prstGeom prst="rect">
            <a:avLst/>
          </a:prstGeom>
        </p:spPr>
      </p:pic>
      <p:sp>
        <p:nvSpPr>
          <p:cNvPr id="30" name="手繪多邊形: 圖案 29">
            <a:extLst>
              <a:ext uri="{FF2B5EF4-FFF2-40B4-BE49-F238E27FC236}">
                <a16:creationId xmlns:a16="http://schemas.microsoft.com/office/drawing/2014/main" id="{F3029973-B73E-7F63-2F75-070B8BF48AD5}"/>
              </a:ext>
            </a:extLst>
          </p:cNvPr>
          <p:cNvSpPr/>
          <p:nvPr/>
        </p:nvSpPr>
        <p:spPr>
          <a:xfrm rot="10800000">
            <a:off x="225424" y="1821858"/>
            <a:ext cx="2749548" cy="1236584"/>
          </a:xfrm>
          <a:custGeom>
            <a:avLst/>
            <a:gdLst>
              <a:gd name="csX0" fmla="*/ 2585318 w 2682815"/>
              <a:gd name="csY0" fmla="*/ 1169942 h 1169942"/>
              <a:gd name="csX1" fmla="*/ 97497 w 2682815"/>
              <a:gd name="csY1" fmla="*/ 1169942 h 1169942"/>
              <a:gd name="csX2" fmla="*/ 0 w 2682815"/>
              <a:gd name="csY2" fmla="*/ 1072445 h 1169942"/>
              <a:gd name="csX3" fmla="*/ 0 w 2682815"/>
              <a:gd name="csY3" fmla="*/ 584971 h 1169942"/>
              <a:gd name="csX4" fmla="*/ 0 w 2682815"/>
              <a:gd name="csY4" fmla="*/ 97497 h 1169942"/>
              <a:gd name="csX5" fmla="*/ 97497 w 2682815"/>
              <a:gd name="csY5" fmla="*/ 0 h 1169942"/>
              <a:gd name="csX6" fmla="*/ 2585318 w 2682815"/>
              <a:gd name="csY6" fmla="*/ 0 h 1169942"/>
              <a:gd name="csX7" fmla="*/ 2682815 w 2682815"/>
              <a:gd name="csY7" fmla="*/ 97497 h 1169942"/>
              <a:gd name="csX8" fmla="*/ 2682815 w 2682815"/>
              <a:gd name="csY8" fmla="*/ 584971 h 1169942"/>
              <a:gd name="csX9" fmla="*/ 2682815 w 2682815"/>
              <a:gd name="csY9" fmla="*/ 1072445 h 1169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682815" h="1169942">
                <a:moveTo>
                  <a:pt x="2585318" y="1169942"/>
                </a:moveTo>
                <a:lnTo>
                  <a:pt x="97497" y="1169942"/>
                </a:lnTo>
                <a:lnTo>
                  <a:pt x="0" y="1072445"/>
                </a:lnTo>
                <a:lnTo>
                  <a:pt x="0" y="584971"/>
                </a:lnTo>
                <a:lnTo>
                  <a:pt x="0" y="97497"/>
                </a:lnTo>
                <a:lnTo>
                  <a:pt x="97497" y="0"/>
                </a:lnTo>
                <a:lnTo>
                  <a:pt x="2585318" y="0"/>
                </a:lnTo>
                <a:lnTo>
                  <a:pt x="2682815" y="97497"/>
                </a:lnTo>
                <a:lnTo>
                  <a:pt x="2682815" y="584971"/>
                </a:lnTo>
                <a:lnTo>
                  <a:pt x="2682815" y="1072445"/>
                </a:lnTo>
                <a:close/>
              </a:path>
            </a:pathLst>
          </a:custGeom>
          <a:solidFill>
            <a:schemeClr val="bg1"/>
          </a:solidFill>
          <a:ln>
            <a:solidFill>
              <a:srgbClr val="009E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29" name="手繪多邊形: 圖案 28">
            <a:extLst>
              <a:ext uri="{FF2B5EF4-FFF2-40B4-BE49-F238E27FC236}">
                <a16:creationId xmlns:a16="http://schemas.microsoft.com/office/drawing/2014/main" id="{0FF63595-3B90-09A4-5AA9-AC9E670AA327}"/>
              </a:ext>
            </a:extLst>
          </p:cNvPr>
          <p:cNvSpPr/>
          <p:nvPr/>
        </p:nvSpPr>
        <p:spPr>
          <a:xfrm>
            <a:off x="258792" y="1855179"/>
            <a:ext cx="2682815" cy="1169942"/>
          </a:xfrm>
          <a:custGeom>
            <a:avLst/>
            <a:gdLst>
              <a:gd name="csX0" fmla="*/ 2585318 w 2682815"/>
              <a:gd name="csY0" fmla="*/ 1169942 h 1169942"/>
              <a:gd name="csX1" fmla="*/ 97497 w 2682815"/>
              <a:gd name="csY1" fmla="*/ 1169942 h 1169942"/>
              <a:gd name="csX2" fmla="*/ 0 w 2682815"/>
              <a:gd name="csY2" fmla="*/ 1072445 h 1169942"/>
              <a:gd name="csX3" fmla="*/ 0 w 2682815"/>
              <a:gd name="csY3" fmla="*/ 584971 h 1169942"/>
              <a:gd name="csX4" fmla="*/ 0 w 2682815"/>
              <a:gd name="csY4" fmla="*/ 97497 h 1169942"/>
              <a:gd name="csX5" fmla="*/ 97497 w 2682815"/>
              <a:gd name="csY5" fmla="*/ 0 h 1169942"/>
              <a:gd name="csX6" fmla="*/ 2585318 w 2682815"/>
              <a:gd name="csY6" fmla="*/ 0 h 1169942"/>
              <a:gd name="csX7" fmla="*/ 2682815 w 2682815"/>
              <a:gd name="csY7" fmla="*/ 97497 h 1169942"/>
              <a:gd name="csX8" fmla="*/ 2682815 w 2682815"/>
              <a:gd name="csY8" fmla="*/ 584971 h 1169942"/>
              <a:gd name="csX9" fmla="*/ 2682815 w 2682815"/>
              <a:gd name="csY9" fmla="*/ 1072445 h 1169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682815" h="1169942">
                <a:moveTo>
                  <a:pt x="2585318" y="1169942"/>
                </a:moveTo>
                <a:lnTo>
                  <a:pt x="97497" y="1169942"/>
                </a:lnTo>
                <a:lnTo>
                  <a:pt x="0" y="1072445"/>
                </a:lnTo>
                <a:lnTo>
                  <a:pt x="0" y="584971"/>
                </a:lnTo>
                <a:lnTo>
                  <a:pt x="0" y="97497"/>
                </a:lnTo>
                <a:lnTo>
                  <a:pt x="97497" y="0"/>
                </a:lnTo>
                <a:lnTo>
                  <a:pt x="2585318" y="0"/>
                </a:lnTo>
                <a:lnTo>
                  <a:pt x="2682815" y="97497"/>
                </a:lnTo>
                <a:lnTo>
                  <a:pt x="2682815" y="584971"/>
                </a:lnTo>
                <a:lnTo>
                  <a:pt x="2682815" y="1072445"/>
                </a:lnTo>
                <a:close/>
              </a:path>
            </a:pathLst>
          </a:custGeom>
          <a:solidFill>
            <a:schemeClr val="bg1"/>
          </a:solidFill>
          <a:ln>
            <a:solidFill>
              <a:srgbClr val="009E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896938"/>
            <a:r>
              <a:rPr lang="zh-TW" altLang="en-US" sz="11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從設計到量產的</a:t>
            </a:r>
            <a:endParaRPr lang="en-US" altLang="zh-TW" sz="11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96938"/>
            <a:r>
              <a:rPr lang="zh-TW" altLang="en-US" sz="11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一站式 </a:t>
            </a:r>
            <a:r>
              <a:rPr lang="en-US" altLang="zh-TW" sz="11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PCB </a:t>
            </a:r>
            <a:r>
              <a:rPr lang="zh-TW" altLang="en-US" sz="11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解決方案</a:t>
            </a:r>
            <a:endParaRPr lang="en-US" altLang="zh-TW" sz="11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96938"/>
            <a:endParaRPr lang="en-US" altLang="zh-TW" sz="1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96938"/>
            <a:r>
              <a:rPr lang="zh-TW" altLang="en-US" sz="1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覆蓋設計驗證、分析、溝通與檢視，全流程無縫銜接</a:t>
            </a:r>
          </a:p>
        </p:txBody>
      </p:sp>
      <p:sp>
        <p:nvSpPr>
          <p:cNvPr id="33" name="手繪多邊形: 圖案 32">
            <a:extLst>
              <a:ext uri="{FF2B5EF4-FFF2-40B4-BE49-F238E27FC236}">
                <a16:creationId xmlns:a16="http://schemas.microsoft.com/office/drawing/2014/main" id="{CC6BC49C-A279-2682-893D-7F51D1074C26}"/>
              </a:ext>
            </a:extLst>
          </p:cNvPr>
          <p:cNvSpPr/>
          <p:nvPr/>
        </p:nvSpPr>
        <p:spPr>
          <a:xfrm rot="10800000">
            <a:off x="3166712" y="1817243"/>
            <a:ext cx="2749548" cy="1236584"/>
          </a:xfrm>
          <a:custGeom>
            <a:avLst/>
            <a:gdLst>
              <a:gd name="csX0" fmla="*/ 2585318 w 2682815"/>
              <a:gd name="csY0" fmla="*/ 1169942 h 1169942"/>
              <a:gd name="csX1" fmla="*/ 97497 w 2682815"/>
              <a:gd name="csY1" fmla="*/ 1169942 h 1169942"/>
              <a:gd name="csX2" fmla="*/ 0 w 2682815"/>
              <a:gd name="csY2" fmla="*/ 1072445 h 1169942"/>
              <a:gd name="csX3" fmla="*/ 0 w 2682815"/>
              <a:gd name="csY3" fmla="*/ 584971 h 1169942"/>
              <a:gd name="csX4" fmla="*/ 0 w 2682815"/>
              <a:gd name="csY4" fmla="*/ 97497 h 1169942"/>
              <a:gd name="csX5" fmla="*/ 97497 w 2682815"/>
              <a:gd name="csY5" fmla="*/ 0 h 1169942"/>
              <a:gd name="csX6" fmla="*/ 2585318 w 2682815"/>
              <a:gd name="csY6" fmla="*/ 0 h 1169942"/>
              <a:gd name="csX7" fmla="*/ 2682815 w 2682815"/>
              <a:gd name="csY7" fmla="*/ 97497 h 1169942"/>
              <a:gd name="csX8" fmla="*/ 2682815 w 2682815"/>
              <a:gd name="csY8" fmla="*/ 584971 h 1169942"/>
              <a:gd name="csX9" fmla="*/ 2682815 w 2682815"/>
              <a:gd name="csY9" fmla="*/ 1072445 h 1169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682815" h="1169942">
                <a:moveTo>
                  <a:pt x="2585318" y="1169942"/>
                </a:moveTo>
                <a:lnTo>
                  <a:pt x="97497" y="1169942"/>
                </a:lnTo>
                <a:lnTo>
                  <a:pt x="0" y="1072445"/>
                </a:lnTo>
                <a:lnTo>
                  <a:pt x="0" y="584971"/>
                </a:lnTo>
                <a:lnTo>
                  <a:pt x="0" y="97497"/>
                </a:lnTo>
                <a:lnTo>
                  <a:pt x="97497" y="0"/>
                </a:lnTo>
                <a:lnTo>
                  <a:pt x="2585318" y="0"/>
                </a:lnTo>
                <a:lnTo>
                  <a:pt x="2682815" y="97497"/>
                </a:lnTo>
                <a:lnTo>
                  <a:pt x="2682815" y="584971"/>
                </a:lnTo>
                <a:lnTo>
                  <a:pt x="2682815" y="1072445"/>
                </a:lnTo>
                <a:close/>
              </a:path>
            </a:pathLst>
          </a:custGeom>
          <a:solidFill>
            <a:schemeClr val="bg1"/>
          </a:solidFill>
          <a:ln>
            <a:solidFill>
              <a:srgbClr val="009E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34" name="手繪多邊形: 圖案 33">
            <a:extLst>
              <a:ext uri="{FF2B5EF4-FFF2-40B4-BE49-F238E27FC236}">
                <a16:creationId xmlns:a16="http://schemas.microsoft.com/office/drawing/2014/main" id="{723E3299-815C-DB0A-31AD-1E47E18ED759}"/>
              </a:ext>
            </a:extLst>
          </p:cNvPr>
          <p:cNvSpPr/>
          <p:nvPr/>
        </p:nvSpPr>
        <p:spPr>
          <a:xfrm>
            <a:off x="3200080" y="1850564"/>
            <a:ext cx="2682815" cy="1169942"/>
          </a:xfrm>
          <a:custGeom>
            <a:avLst/>
            <a:gdLst>
              <a:gd name="csX0" fmla="*/ 2585318 w 2682815"/>
              <a:gd name="csY0" fmla="*/ 1169942 h 1169942"/>
              <a:gd name="csX1" fmla="*/ 97497 w 2682815"/>
              <a:gd name="csY1" fmla="*/ 1169942 h 1169942"/>
              <a:gd name="csX2" fmla="*/ 0 w 2682815"/>
              <a:gd name="csY2" fmla="*/ 1072445 h 1169942"/>
              <a:gd name="csX3" fmla="*/ 0 w 2682815"/>
              <a:gd name="csY3" fmla="*/ 584971 h 1169942"/>
              <a:gd name="csX4" fmla="*/ 0 w 2682815"/>
              <a:gd name="csY4" fmla="*/ 97497 h 1169942"/>
              <a:gd name="csX5" fmla="*/ 97497 w 2682815"/>
              <a:gd name="csY5" fmla="*/ 0 h 1169942"/>
              <a:gd name="csX6" fmla="*/ 2585318 w 2682815"/>
              <a:gd name="csY6" fmla="*/ 0 h 1169942"/>
              <a:gd name="csX7" fmla="*/ 2682815 w 2682815"/>
              <a:gd name="csY7" fmla="*/ 97497 h 1169942"/>
              <a:gd name="csX8" fmla="*/ 2682815 w 2682815"/>
              <a:gd name="csY8" fmla="*/ 584971 h 1169942"/>
              <a:gd name="csX9" fmla="*/ 2682815 w 2682815"/>
              <a:gd name="csY9" fmla="*/ 1072445 h 1169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682815" h="1169942">
                <a:moveTo>
                  <a:pt x="2585318" y="1169942"/>
                </a:moveTo>
                <a:lnTo>
                  <a:pt x="97497" y="1169942"/>
                </a:lnTo>
                <a:lnTo>
                  <a:pt x="0" y="1072445"/>
                </a:lnTo>
                <a:lnTo>
                  <a:pt x="0" y="584971"/>
                </a:lnTo>
                <a:lnTo>
                  <a:pt x="0" y="97497"/>
                </a:lnTo>
                <a:lnTo>
                  <a:pt x="97497" y="0"/>
                </a:lnTo>
                <a:lnTo>
                  <a:pt x="2585318" y="0"/>
                </a:lnTo>
                <a:lnTo>
                  <a:pt x="2682815" y="97497"/>
                </a:lnTo>
                <a:lnTo>
                  <a:pt x="2682815" y="584971"/>
                </a:lnTo>
                <a:lnTo>
                  <a:pt x="2682815" y="1072445"/>
                </a:lnTo>
                <a:close/>
              </a:path>
            </a:pathLst>
          </a:custGeom>
          <a:solidFill>
            <a:schemeClr val="bg1"/>
          </a:solidFill>
          <a:ln>
            <a:solidFill>
              <a:srgbClr val="009E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896938"/>
            <a:r>
              <a:rPr lang="zh-TW" altLang="en-US" sz="11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網表比對與設計規則檢查</a:t>
            </a:r>
            <a:endParaRPr lang="en-US" altLang="zh-TW" sz="11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96938"/>
            <a:r>
              <a:rPr lang="zh-TW" altLang="en-US" sz="11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提前排除製造風險</a:t>
            </a:r>
            <a:endParaRPr lang="en-US" altLang="zh-TW" sz="11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96938"/>
            <a:endParaRPr lang="en-US" altLang="zh-TW" sz="1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96938"/>
            <a:r>
              <a:rPr lang="zh-TW" altLang="en-US" sz="1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在設計錯誤釀成昂貴生產代價前，提前找出連線問題</a:t>
            </a:r>
          </a:p>
        </p:txBody>
      </p:sp>
      <p:sp>
        <p:nvSpPr>
          <p:cNvPr id="40" name="手繪多邊形: 圖案 39">
            <a:extLst>
              <a:ext uri="{FF2B5EF4-FFF2-40B4-BE49-F238E27FC236}">
                <a16:creationId xmlns:a16="http://schemas.microsoft.com/office/drawing/2014/main" id="{900BC3E3-1A0F-B726-EC61-1465170991BC}"/>
              </a:ext>
            </a:extLst>
          </p:cNvPr>
          <p:cNvSpPr/>
          <p:nvPr/>
        </p:nvSpPr>
        <p:spPr>
          <a:xfrm rot="10800000">
            <a:off x="225424" y="3178727"/>
            <a:ext cx="2749548" cy="1236584"/>
          </a:xfrm>
          <a:custGeom>
            <a:avLst/>
            <a:gdLst>
              <a:gd name="csX0" fmla="*/ 2585318 w 2682815"/>
              <a:gd name="csY0" fmla="*/ 1169942 h 1169942"/>
              <a:gd name="csX1" fmla="*/ 97497 w 2682815"/>
              <a:gd name="csY1" fmla="*/ 1169942 h 1169942"/>
              <a:gd name="csX2" fmla="*/ 0 w 2682815"/>
              <a:gd name="csY2" fmla="*/ 1072445 h 1169942"/>
              <a:gd name="csX3" fmla="*/ 0 w 2682815"/>
              <a:gd name="csY3" fmla="*/ 584971 h 1169942"/>
              <a:gd name="csX4" fmla="*/ 0 w 2682815"/>
              <a:gd name="csY4" fmla="*/ 97497 h 1169942"/>
              <a:gd name="csX5" fmla="*/ 97497 w 2682815"/>
              <a:gd name="csY5" fmla="*/ 0 h 1169942"/>
              <a:gd name="csX6" fmla="*/ 2585318 w 2682815"/>
              <a:gd name="csY6" fmla="*/ 0 h 1169942"/>
              <a:gd name="csX7" fmla="*/ 2682815 w 2682815"/>
              <a:gd name="csY7" fmla="*/ 97497 h 1169942"/>
              <a:gd name="csX8" fmla="*/ 2682815 w 2682815"/>
              <a:gd name="csY8" fmla="*/ 584971 h 1169942"/>
              <a:gd name="csX9" fmla="*/ 2682815 w 2682815"/>
              <a:gd name="csY9" fmla="*/ 1072445 h 1169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682815" h="1169942">
                <a:moveTo>
                  <a:pt x="2585318" y="1169942"/>
                </a:moveTo>
                <a:lnTo>
                  <a:pt x="97497" y="1169942"/>
                </a:lnTo>
                <a:lnTo>
                  <a:pt x="0" y="1072445"/>
                </a:lnTo>
                <a:lnTo>
                  <a:pt x="0" y="584971"/>
                </a:lnTo>
                <a:lnTo>
                  <a:pt x="0" y="97497"/>
                </a:lnTo>
                <a:lnTo>
                  <a:pt x="97497" y="0"/>
                </a:lnTo>
                <a:lnTo>
                  <a:pt x="2585318" y="0"/>
                </a:lnTo>
                <a:lnTo>
                  <a:pt x="2682815" y="97497"/>
                </a:lnTo>
                <a:lnTo>
                  <a:pt x="2682815" y="584971"/>
                </a:lnTo>
                <a:lnTo>
                  <a:pt x="2682815" y="1072445"/>
                </a:lnTo>
                <a:close/>
              </a:path>
            </a:pathLst>
          </a:custGeom>
          <a:solidFill>
            <a:schemeClr val="bg1"/>
          </a:solidFill>
          <a:ln>
            <a:solidFill>
              <a:srgbClr val="009E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41" name="手繪多邊形: 圖案 40">
            <a:extLst>
              <a:ext uri="{FF2B5EF4-FFF2-40B4-BE49-F238E27FC236}">
                <a16:creationId xmlns:a16="http://schemas.microsoft.com/office/drawing/2014/main" id="{4B8F300C-F5F3-CC07-ED79-66791C76DBB9}"/>
              </a:ext>
            </a:extLst>
          </p:cNvPr>
          <p:cNvSpPr/>
          <p:nvPr/>
        </p:nvSpPr>
        <p:spPr>
          <a:xfrm>
            <a:off x="258792" y="3212048"/>
            <a:ext cx="2682815" cy="1169942"/>
          </a:xfrm>
          <a:custGeom>
            <a:avLst/>
            <a:gdLst>
              <a:gd name="csX0" fmla="*/ 2585318 w 2682815"/>
              <a:gd name="csY0" fmla="*/ 1169942 h 1169942"/>
              <a:gd name="csX1" fmla="*/ 97497 w 2682815"/>
              <a:gd name="csY1" fmla="*/ 1169942 h 1169942"/>
              <a:gd name="csX2" fmla="*/ 0 w 2682815"/>
              <a:gd name="csY2" fmla="*/ 1072445 h 1169942"/>
              <a:gd name="csX3" fmla="*/ 0 w 2682815"/>
              <a:gd name="csY3" fmla="*/ 584971 h 1169942"/>
              <a:gd name="csX4" fmla="*/ 0 w 2682815"/>
              <a:gd name="csY4" fmla="*/ 97497 h 1169942"/>
              <a:gd name="csX5" fmla="*/ 97497 w 2682815"/>
              <a:gd name="csY5" fmla="*/ 0 h 1169942"/>
              <a:gd name="csX6" fmla="*/ 2585318 w 2682815"/>
              <a:gd name="csY6" fmla="*/ 0 h 1169942"/>
              <a:gd name="csX7" fmla="*/ 2682815 w 2682815"/>
              <a:gd name="csY7" fmla="*/ 97497 h 1169942"/>
              <a:gd name="csX8" fmla="*/ 2682815 w 2682815"/>
              <a:gd name="csY8" fmla="*/ 584971 h 1169942"/>
              <a:gd name="csX9" fmla="*/ 2682815 w 2682815"/>
              <a:gd name="csY9" fmla="*/ 1072445 h 1169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682815" h="1169942">
                <a:moveTo>
                  <a:pt x="2585318" y="1169942"/>
                </a:moveTo>
                <a:lnTo>
                  <a:pt x="97497" y="1169942"/>
                </a:lnTo>
                <a:lnTo>
                  <a:pt x="0" y="1072445"/>
                </a:lnTo>
                <a:lnTo>
                  <a:pt x="0" y="584971"/>
                </a:lnTo>
                <a:lnTo>
                  <a:pt x="0" y="97497"/>
                </a:lnTo>
                <a:lnTo>
                  <a:pt x="97497" y="0"/>
                </a:lnTo>
                <a:lnTo>
                  <a:pt x="2585318" y="0"/>
                </a:lnTo>
                <a:lnTo>
                  <a:pt x="2682815" y="97497"/>
                </a:lnTo>
                <a:lnTo>
                  <a:pt x="2682815" y="584971"/>
                </a:lnTo>
                <a:lnTo>
                  <a:pt x="2682815" y="1072445"/>
                </a:lnTo>
                <a:close/>
              </a:path>
            </a:pathLst>
          </a:custGeom>
          <a:solidFill>
            <a:schemeClr val="bg1"/>
          </a:solidFill>
          <a:ln>
            <a:solidFill>
              <a:srgbClr val="009E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896938"/>
            <a:r>
              <a:rPr lang="zh-TW" altLang="en-US" sz="11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高效率資料處理與</a:t>
            </a:r>
            <a:endParaRPr lang="en-US" altLang="zh-TW" sz="11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96938"/>
            <a:r>
              <a:rPr lang="zh-TW" altLang="en-US" sz="11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最佳化能力</a:t>
            </a:r>
            <a:endParaRPr lang="en-US" altLang="zh-TW" sz="11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96938"/>
            <a:endParaRPr lang="en-US" altLang="zh-TW" sz="1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96938"/>
            <a:r>
              <a:rPr lang="zh-TW" altLang="en-US" sz="1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自動產出 </a:t>
            </a:r>
            <a:r>
              <a:rPr lang="en-US" altLang="zh-TW" sz="1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NC</a:t>
            </a:r>
            <a:r>
              <a:rPr lang="zh-TW" altLang="en-US" sz="1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、鋼網與製造文件，降低人工作業</a:t>
            </a:r>
          </a:p>
        </p:txBody>
      </p:sp>
      <p:sp>
        <p:nvSpPr>
          <p:cNvPr id="43" name="手繪多邊形: 圖案 42">
            <a:extLst>
              <a:ext uri="{FF2B5EF4-FFF2-40B4-BE49-F238E27FC236}">
                <a16:creationId xmlns:a16="http://schemas.microsoft.com/office/drawing/2014/main" id="{A9855080-A531-BF17-BB0E-A4B5A19993E5}"/>
              </a:ext>
            </a:extLst>
          </p:cNvPr>
          <p:cNvSpPr/>
          <p:nvPr/>
        </p:nvSpPr>
        <p:spPr>
          <a:xfrm rot="10800000">
            <a:off x="3166712" y="3174112"/>
            <a:ext cx="2749548" cy="1236584"/>
          </a:xfrm>
          <a:custGeom>
            <a:avLst/>
            <a:gdLst>
              <a:gd name="csX0" fmla="*/ 2585318 w 2682815"/>
              <a:gd name="csY0" fmla="*/ 1169942 h 1169942"/>
              <a:gd name="csX1" fmla="*/ 97497 w 2682815"/>
              <a:gd name="csY1" fmla="*/ 1169942 h 1169942"/>
              <a:gd name="csX2" fmla="*/ 0 w 2682815"/>
              <a:gd name="csY2" fmla="*/ 1072445 h 1169942"/>
              <a:gd name="csX3" fmla="*/ 0 w 2682815"/>
              <a:gd name="csY3" fmla="*/ 584971 h 1169942"/>
              <a:gd name="csX4" fmla="*/ 0 w 2682815"/>
              <a:gd name="csY4" fmla="*/ 97497 h 1169942"/>
              <a:gd name="csX5" fmla="*/ 97497 w 2682815"/>
              <a:gd name="csY5" fmla="*/ 0 h 1169942"/>
              <a:gd name="csX6" fmla="*/ 2585318 w 2682815"/>
              <a:gd name="csY6" fmla="*/ 0 h 1169942"/>
              <a:gd name="csX7" fmla="*/ 2682815 w 2682815"/>
              <a:gd name="csY7" fmla="*/ 97497 h 1169942"/>
              <a:gd name="csX8" fmla="*/ 2682815 w 2682815"/>
              <a:gd name="csY8" fmla="*/ 584971 h 1169942"/>
              <a:gd name="csX9" fmla="*/ 2682815 w 2682815"/>
              <a:gd name="csY9" fmla="*/ 1072445 h 1169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682815" h="1169942">
                <a:moveTo>
                  <a:pt x="2585318" y="1169942"/>
                </a:moveTo>
                <a:lnTo>
                  <a:pt x="97497" y="1169942"/>
                </a:lnTo>
                <a:lnTo>
                  <a:pt x="0" y="1072445"/>
                </a:lnTo>
                <a:lnTo>
                  <a:pt x="0" y="584971"/>
                </a:lnTo>
                <a:lnTo>
                  <a:pt x="0" y="97497"/>
                </a:lnTo>
                <a:lnTo>
                  <a:pt x="97497" y="0"/>
                </a:lnTo>
                <a:lnTo>
                  <a:pt x="2585318" y="0"/>
                </a:lnTo>
                <a:lnTo>
                  <a:pt x="2682815" y="97497"/>
                </a:lnTo>
                <a:lnTo>
                  <a:pt x="2682815" y="584971"/>
                </a:lnTo>
                <a:lnTo>
                  <a:pt x="2682815" y="1072445"/>
                </a:lnTo>
                <a:close/>
              </a:path>
            </a:pathLst>
          </a:custGeom>
          <a:solidFill>
            <a:schemeClr val="bg1"/>
          </a:solidFill>
          <a:ln>
            <a:solidFill>
              <a:srgbClr val="009E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44" name="手繪多邊形: 圖案 43">
            <a:extLst>
              <a:ext uri="{FF2B5EF4-FFF2-40B4-BE49-F238E27FC236}">
                <a16:creationId xmlns:a16="http://schemas.microsoft.com/office/drawing/2014/main" id="{62039B4E-62AB-AC2D-4FD0-DB4760EC7A7C}"/>
              </a:ext>
            </a:extLst>
          </p:cNvPr>
          <p:cNvSpPr/>
          <p:nvPr/>
        </p:nvSpPr>
        <p:spPr>
          <a:xfrm>
            <a:off x="3200080" y="3207433"/>
            <a:ext cx="2682815" cy="1169942"/>
          </a:xfrm>
          <a:custGeom>
            <a:avLst/>
            <a:gdLst>
              <a:gd name="csX0" fmla="*/ 2585318 w 2682815"/>
              <a:gd name="csY0" fmla="*/ 1169942 h 1169942"/>
              <a:gd name="csX1" fmla="*/ 97497 w 2682815"/>
              <a:gd name="csY1" fmla="*/ 1169942 h 1169942"/>
              <a:gd name="csX2" fmla="*/ 0 w 2682815"/>
              <a:gd name="csY2" fmla="*/ 1072445 h 1169942"/>
              <a:gd name="csX3" fmla="*/ 0 w 2682815"/>
              <a:gd name="csY3" fmla="*/ 584971 h 1169942"/>
              <a:gd name="csX4" fmla="*/ 0 w 2682815"/>
              <a:gd name="csY4" fmla="*/ 97497 h 1169942"/>
              <a:gd name="csX5" fmla="*/ 97497 w 2682815"/>
              <a:gd name="csY5" fmla="*/ 0 h 1169942"/>
              <a:gd name="csX6" fmla="*/ 2585318 w 2682815"/>
              <a:gd name="csY6" fmla="*/ 0 h 1169942"/>
              <a:gd name="csX7" fmla="*/ 2682815 w 2682815"/>
              <a:gd name="csY7" fmla="*/ 97497 h 1169942"/>
              <a:gd name="csX8" fmla="*/ 2682815 w 2682815"/>
              <a:gd name="csY8" fmla="*/ 584971 h 1169942"/>
              <a:gd name="csX9" fmla="*/ 2682815 w 2682815"/>
              <a:gd name="csY9" fmla="*/ 1072445 h 1169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682815" h="1169942">
                <a:moveTo>
                  <a:pt x="2585318" y="1169942"/>
                </a:moveTo>
                <a:lnTo>
                  <a:pt x="97497" y="1169942"/>
                </a:lnTo>
                <a:lnTo>
                  <a:pt x="0" y="1072445"/>
                </a:lnTo>
                <a:lnTo>
                  <a:pt x="0" y="584971"/>
                </a:lnTo>
                <a:lnTo>
                  <a:pt x="0" y="97497"/>
                </a:lnTo>
                <a:lnTo>
                  <a:pt x="97497" y="0"/>
                </a:lnTo>
                <a:lnTo>
                  <a:pt x="2585318" y="0"/>
                </a:lnTo>
                <a:lnTo>
                  <a:pt x="2682815" y="97497"/>
                </a:lnTo>
                <a:lnTo>
                  <a:pt x="2682815" y="584971"/>
                </a:lnTo>
                <a:lnTo>
                  <a:pt x="2682815" y="1072445"/>
                </a:lnTo>
                <a:close/>
              </a:path>
            </a:pathLst>
          </a:custGeom>
          <a:solidFill>
            <a:schemeClr val="bg1"/>
          </a:solidFill>
          <a:ln>
            <a:solidFill>
              <a:srgbClr val="009E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896938"/>
            <a:r>
              <a:rPr lang="zh-TW" altLang="en-US" sz="11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直覺視覺驗證與</a:t>
            </a:r>
            <a:endParaRPr lang="en-US" altLang="zh-TW" sz="11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96938"/>
            <a:r>
              <a:rPr lang="zh-TW" altLang="en-US" sz="11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精準紅線標記</a:t>
            </a:r>
            <a:endParaRPr lang="en-US" altLang="zh-TW" sz="11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96938"/>
            <a:endParaRPr lang="en-US" altLang="zh-TW" sz="1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96938"/>
            <a:r>
              <a:rPr lang="zh-TW" altLang="en-US" sz="1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問題清楚呈現，減少反覆溝通與誤解</a:t>
            </a:r>
          </a:p>
        </p:txBody>
      </p:sp>
      <p:sp>
        <p:nvSpPr>
          <p:cNvPr id="46" name="手繪多邊形: 圖案 45">
            <a:extLst>
              <a:ext uri="{FF2B5EF4-FFF2-40B4-BE49-F238E27FC236}">
                <a16:creationId xmlns:a16="http://schemas.microsoft.com/office/drawing/2014/main" id="{77FACFF6-F20E-E592-E830-DC38C563BBBD}"/>
              </a:ext>
            </a:extLst>
          </p:cNvPr>
          <p:cNvSpPr/>
          <p:nvPr/>
        </p:nvSpPr>
        <p:spPr>
          <a:xfrm rot="10800000">
            <a:off x="225424" y="4535596"/>
            <a:ext cx="2749548" cy="1236584"/>
          </a:xfrm>
          <a:custGeom>
            <a:avLst/>
            <a:gdLst>
              <a:gd name="csX0" fmla="*/ 2585318 w 2682815"/>
              <a:gd name="csY0" fmla="*/ 1169942 h 1169942"/>
              <a:gd name="csX1" fmla="*/ 97497 w 2682815"/>
              <a:gd name="csY1" fmla="*/ 1169942 h 1169942"/>
              <a:gd name="csX2" fmla="*/ 0 w 2682815"/>
              <a:gd name="csY2" fmla="*/ 1072445 h 1169942"/>
              <a:gd name="csX3" fmla="*/ 0 w 2682815"/>
              <a:gd name="csY3" fmla="*/ 584971 h 1169942"/>
              <a:gd name="csX4" fmla="*/ 0 w 2682815"/>
              <a:gd name="csY4" fmla="*/ 97497 h 1169942"/>
              <a:gd name="csX5" fmla="*/ 97497 w 2682815"/>
              <a:gd name="csY5" fmla="*/ 0 h 1169942"/>
              <a:gd name="csX6" fmla="*/ 2585318 w 2682815"/>
              <a:gd name="csY6" fmla="*/ 0 h 1169942"/>
              <a:gd name="csX7" fmla="*/ 2682815 w 2682815"/>
              <a:gd name="csY7" fmla="*/ 97497 h 1169942"/>
              <a:gd name="csX8" fmla="*/ 2682815 w 2682815"/>
              <a:gd name="csY8" fmla="*/ 584971 h 1169942"/>
              <a:gd name="csX9" fmla="*/ 2682815 w 2682815"/>
              <a:gd name="csY9" fmla="*/ 1072445 h 1169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682815" h="1169942">
                <a:moveTo>
                  <a:pt x="2585318" y="1169942"/>
                </a:moveTo>
                <a:lnTo>
                  <a:pt x="97497" y="1169942"/>
                </a:lnTo>
                <a:lnTo>
                  <a:pt x="0" y="1072445"/>
                </a:lnTo>
                <a:lnTo>
                  <a:pt x="0" y="584971"/>
                </a:lnTo>
                <a:lnTo>
                  <a:pt x="0" y="97497"/>
                </a:lnTo>
                <a:lnTo>
                  <a:pt x="97497" y="0"/>
                </a:lnTo>
                <a:lnTo>
                  <a:pt x="2585318" y="0"/>
                </a:lnTo>
                <a:lnTo>
                  <a:pt x="2682815" y="97497"/>
                </a:lnTo>
                <a:lnTo>
                  <a:pt x="2682815" y="584971"/>
                </a:lnTo>
                <a:lnTo>
                  <a:pt x="2682815" y="1072445"/>
                </a:lnTo>
                <a:close/>
              </a:path>
            </a:pathLst>
          </a:custGeom>
          <a:solidFill>
            <a:schemeClr val="bg1"/>
          </a:solidFill>
          <a:ln>
            <a:solidFill>
              <a:srgbClr val="009E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47" name="手繪多邊形: 圖案 46">
            <a:extLst>
              <a:ext uri="{FF2B5EF4-FFF2-40B4-BE49-F238E27FC236}">
                <a16:creationId xmlns:a16="http://schemas.microsoft.com/office/drawing/2014/main" id="{845F6151-80A3-C942-289C-43835D92CEB2}"/>
              </a:ext>
            </a:extLst>
          </p:cNvPr>
          <p:cNvSpPr/>
          <p:nvPr/>
        </p:nvSpPr>
        <p:spPr>
          <a:xfrm>
            <a:off x="258792" y="4568917"/>
            <a:ext cx="2682815" cy="1169942"/>
          </a:xfrm>
          <a:custGeom>
            <a:avLst/>
            <a:gdLst>
              <a:gd name="csX0" fmla="*/ 2585318 w 2682815"/>
              <a:gd name="csY0" fmla="*/ 1169942 h 1169942"/>
              <a:gd name="csX1" fmla="*/ 97497 w 2682815"/>
              <a:gd name="csY1" fmla="*/ 1169942 h 1169942"/>
              <a:gd name="csX2" fmla="*/ 0 w 2682815"/>
              <a:gd name="csY2" fmla="*/ 1072445 h 1169942"/>
              <a:gd name="csX3" fmla="*/ 0 w 2682815"/>
              <a:gd name="csY3" fmla="*/ 584971 h 1169942"/>
              <a:gd name="csX4" fmla="*/ 0 w 2682815"/>
              <a:gd name="csY4" fmla="*/ 97497 h 1169942"/>
              <a:gd name="csX5" fmla="*/ 97497 w 2682815"/>
              <a:gd name="csY5" fmla="*/ 0 h 1169942"/>
              <a:gd name="csX6" fmla="*/ 2585318 w 2682815"/>
              <a:gd name="csY6" fmla="*/ 0 h 1169942"/>
              <a:gd name="csX7" fmla="*/ 2682815 w 2682815"/>
              <a:gd name="csY7" fmla="*/ 97497 h 1169942"/>
              <a:gd name="csX8" fmla="*/ 2682815 w 2682815"/>
              <a:gd name="csY8" fmla="*/ 584971 h 1169942"/>
              <a:gd name="csX9" fmla="*/ 2682815 w 2682815"/>
              <a:gd name="csY9" fmla="*/ 1072445 h 1169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682815" h="1169942">
                <a:moveTo>
                  <a:pt x="2585318" y="1169942"/>
                </a:moveTo>
                <a:lnTo>
                  <a:pt x="97497" y="1169942"/>
                </a:lnTo>
                <a:lnTo>
                  <a:pt x="0" y="1072445"/>
                </a:lnTo>
                <a:lnTo>
                  <a:pt x="0" y="584971"/>
                </a:lnTo>
                <a:lnTo>
                  <a:pt x="0" y="97497"/>
                </a:lnTo>
                <a:lnTo>
                  <a:pt x="97497" y="0"/>
                </a:lnTo>
                <a:lnTo>
                  <a:pt x="2585318" y="0"/>
                </a:lnTo>
                <a:lnTo>
                  <a:pt x="2682815" y="97497"/>
                </a:lnTo>
                <a:lnTo>
                  <a:pt x="2682815" y="584971"/>
                </a:lnTo>
                <a:lnTo>
                  <a:pt x="2682815" y="1072445"/>
                </a:lnTo>
                <a:close/>
              </a:path>
            </a:pathLst>
          </a:custGeom>
          <a:solidFill>
            <a:schemeClr val="bg1"/>
          </a:solidFill>
          <a:ln>
            <a:solidFill>
              <a:srgbClr val="009E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896938"/>
            <a:r>
              <a:rPr lang="zh-TW" altLang="en-US" sz="11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生產流程優化、絲印裁切、</a:t>
            </a:r>
            <a:r>
              <a:rPr lang="zh-TW" altLang="zh-TW" sz="11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焊墊移除 </a:t>
            </a:r>
            <a:endParaRPr lang="en-US" altLang="zh-TW" sz="11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96938"/>
            <a:endParaRPr lang="en-US" altLang="zh-TW" sz="1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96938"/>
            <a:r>
              <a:rPr lang="zh-TW" altLang="en-US" sz="1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自動從孔位周圍裁除絲印，避免干擾焊接、刪除多餘焊墊，提高製造可靠性與效率</a:t>
            </a:r>
          </a:p>
        </p:txBody>
      </p:sp>
      <p:sp>
        <p:nvSpPr>
          <p:cNvPr id="49" name="手繪多邊形: 圖案 48">
            <a:extLst>
              <a:ext uri="{FF2B5EF4-FFF2-40B4-BE49-F238E27FC236}">
                <a16:creationId xmlns:a16="http://schemas.microsoft.com/office/drawing/2014/main" id="{A04BEDE5-EBED-C6E9-2E1F-3833984344AF}"/>
              </a:ext>
            </a:extLst>
          </p:cNvPr>
          <p:cNvSpPr/>
          <p:nvPr/>
        </p:nvSpPr>
        <p:spPr>
          <a:xfrm rot="10800000">
            <a:off x="3166712" y="4530981"/>
            <a:ext cx="2749548" cy="1236584"/>
          </a:xfrm>
          <a:custGeom>
            <a:avLst/>
            <a:gdLst>
              <a:gd name="csX0" fmla="*/ 2585318 w 2682815"/>
              <a:gd name="csY0" fmla="*/ 1169942 h 1169942"/>
              <a:gd name="csX1" fmla="*/ 97497 w 2682815"/>
              <a:gd name="csY1" fmla="*/ 1169942 h 1169942"/>
              <a:gd name="csX2" fmla="*/ 0 w 2682815"/>
              <a:gd name="csY2" fmla="*/ 1072445 h 1169942"/>
              <a:gd name="csX3" fmla="*/ 0 w 2682815"/>
              <a:gd name="csY3" fmla="*/ 584971 h 1169942"/>
              <a:gd name="csX4" fmla="*/ 0 w 2682815"/>
              <a:gd name="csY4" fmla="*/ 97497 h 1169942"/>
              <a:gd name="csX5" fmla="*/ 97497 w 2682815"/>
              <a:gd name="csY5" fmla="*/ 0 h 1169942"/>
              <a:gd name="csX6" fmla="*/ 2585318 w 2682815"/>
              <a:gd name="csY6" fmla="*/ 0 h 1169942"/>
              <a:gd name="csX7" fmla="*/ 2682815 w 2682815"/>
              <a:gd name="csY7" fmla="*/ 97497 h 1169942"/>
              <a:gd name="csX8" fmla="*/ 2682815 w 2682815"/>
              <a:gd name="csY8" fmla="*/ 584971 h 1169942"/>
              <a:gd name="csX9" fmla="*/ 2682815 w 2682815"/>
              <a:gd name="csY9" fmla="*/ 1072445 h 1169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682815" h="1169942">
                <a:moveTo>
                  <a:pt x="2585318" y="1169942"/>
                </a:moveTo>
                <a:lnTo>
                  <a:pt x="97497" y="1169942"/>
                </a:lnTo>
                <a:lnTo>
                  <a:pt x="0" y="1072445"/>
                </a:lnTo>
                <a:lnTo>
                  <a:pt x="0" y="584971"/>
                </a:lnTo>
                <a:lnTo>
                  <a:pt x="0" y="97497"/>
                </a:lnTo>
                <a:lnTo>
                  <a:pt x="97497" y="0"/>
                </a:lnTo>
                <a:lnTo>
                  <a:pt x="2585318" y="0"/>
                </a:lnTo>
                <a:lnTo>
                  <a:pt x="2682815" y="97497"/>
                </a:lnTo>
                <a:lnTo>
                  <a:pt x="2682815" y="584971"/>
                </a:lnTo>
                <a:lnTo>
                  <a:pt x="2682815" y="1072445"/>
                </a:lnTo>
                <a:close/>
              </a:path>
            </a:pathLst>
          </a:custGeom>
          <a:solidFill>
            <a:schemeClr val="bg1"/>
          </a:solidFill>
          <a:ln>
            <a:solidFill>
              <a:srgbClr val="009E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50" name="手繪多邊形: 圖案 49">
            <a:extLst>
              <a:ext uri="{FF2B5EF4-FFF2-40B4-BE49-F238E27FC236}">
                <a16:creationId xmlns:a16="http://schemas.microsoft.com/office/drawing/2014/main" id="{A717463B-29C3-7A13-0A99-AC3EEFCA5408}"/>
              </a:ext>
            </a:extLst>
          </p:cNvPr>
          <p:cNvSpPr/>
          <p:nvPr/>
        </p:nvSpPr>
        <p:spPr>
          <a:xfrm>
            <a:off x="3200080" y="4564302"/>
            <a:ext cx="2682815" cy="1169942"/>
          </a:xfrm>
          <a:custGeom>
            <a:avLst/>
            <a:gdLst>
              <a:gd name="csX0" fmla="*/ 2585318 w 2682815"/>
              <a:gd name="csY0" fmla="*/ 1169942 h 1169942"/>
              <a:gd name="csX1" fmla="*/ 97497 w 2682815"/>
              <a:gd name="csY1" fmla="*/ 1169942 h 1169942"/>
              <a:gd name="csX2" fmla="*/ 0 w 2682815"/>
              <a:gd name="csY2" fmla="*/ 1072445 h 1169942"/>
              <a:gd name="csX3" fmla="*/ 0 w 2682815"/>
              <a:gd name="csY3" fmla="*/ 584971 h 1169942"/>
              <a:gd name="csX4" fmla="*/ 0 w 2682815"/>
              <a:gd name="csY4" fmla="*/ 97497 h 1169942"/>
              <a:gd name="csX5" fmla="*/ 97497 w 2682815"/>
              <a:gd name="csY5" fmla="*/ 0 h 1169942"/>
              <a:gd name="csX6" fmla="*/ 2585318 w 2682815"/>
              <a:gd name="csY6" fmla="*/ 0 h 1169942"/>
              <a:gd name="csX7" fmla="*/ 2682815 w 2682815"/>
              <a:gd name="csY7" fmla="*/ 97497 h 1169942"/>
              <a:gd name="csX8" fmla="*/ 2682815 w 2682815"/>
              <a:gd name="csY8" fmla="*/ 584971 h 1169942"/>
              <a:gd name="csX9" fmla="*/ 2682815 w 2682815"/>
              <a:gd name="csY9" fmla="*/ 1072445 h 1169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682815" h="1169942">
                <a:moveTo>
                  <a:pt x="2585318" y="1169942"/>
                </a:moveTo>
                <a:lnTo>
                  <a:pt x="97497" y="1169942"/>
                </a:lnTo>
                <a:lnTo>
                  <a:pt x="0" y="1072445"/>
                </a:lnTo>
                <a:lnTo>
                  <a:pt x="0" y="584971"/>
                </a:lnTo>
                <a:lnTo>
                  <a:pt x="0" y="97497"/>
                </a:lnTo>
                <a:lnTo>
                  <a:pt x="97497" y="0"/>
                </a:lnTo>
                <a:lnTo>
                  <a:pt x="2585318" y="0"/>
                </a:lnTo>
                <a:lnTo>
                  <a:pt x="2682815" y="97497"/>
                </a:lnTo>
                <a:lnTo>
                  <a:pt x="2682815" y="584971"/>
                </a:lnTo>
                <a:lnTo>
                  <a:pt x="2682815" y="1072445"/>
                </a:lnTo>
                <a:close/>
              </a:path>
            </a:pathLst>
          </a:custGeom>
          <a:solidFill>
            <a:schemeClr val="bg1"/>
          </a:solidFill>
          <a:ln>
            <a:solidFill>
              <a:srgbClr val="009E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896938"/>
            <a:r>
              <a:rPr lang="zh-TW" altLang="en-US" sz="11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彈性模組化配置，</a:t>
            </a:r>
            <a:endParaRPr lang="en-US" altLang="zh-TW" sz="11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96938"/>
            <a:r>
              <a:rPr lang="zh-TW" altLang="en-US" sz="11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滿足不同角色需求</a:t>
            </a:r>
            <a:endParaRPr lang="en-US" altLang="zh-TW" sz="11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96938"/>
            <a:endParaRPr lang="en-US" altLang="zh-TW" sz="1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96938"/>
            <a:r>
              <a:rPr lang="zh-TW" altLang="en-US" sz="1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從檢視、溝通到完整設計，依需求選用，降低成本</a:t>
            </a:r>
          </a:p>
        </p:txBody>
      </p:sp>
      <p:pic>
        <p:nvPicPr>
          <p:cNvPr id="16" name="圖片 15" descr="一張含有 圖形, 標誌, 字型, 圖畫 的圖片&#10;&#10;AI 產生的內容可能不正確。">
            <a:extLst>
              <a:ext uri="{FF2B5EF4-FFF2-40B4-BE49-F238E27FC236}">
                <a16:creationId xmlns:a16="http://schemas.microsoft.com/office/drawing/2014/main" id="{55AD0314-64E7-5662-60F6-E1896D1E3B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804" y="1987320"/>
            <a:ext cx="863175" cy="863175"/>
          </a:xfrm>
          <a:prstGeom prst="rect">
            <a:avLst/>
          </a:prstGeom>
        </p:spPr>
      </p:pic>
      <p:pic>
        <p:nvPicPr>
          <p:cNvPr id="22" name="圖片 21" descr="一張含有 圖形, 字型, 設計, 圓形 的圖片&#10;&#10;AI 產生的內容可能不正確。">
            <a:extLst>
              <a:ext uri="{FF2B5EF4-FFF2-40B4-BE49-F238E27FC236}">
                <a16:creationId xmlns:a16="http://schemas.microsoft.com/office/drawing/2014/main" id="{57198860-9937-4C55-1C3A-C41DB60973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6520" y="1986495"/>
            <a:ext cx="850708" cy="864000"/>
          </a:xfrm>
          <a:prstGeom prst="rect">
            <a:avLst/>
          </a:prstGeom>
        </p:spPr>
      </p:pic>
      <p:pic>
        <p:nvPicPr>
          <p:cNvPr id="25" name="圖片 24" descr="一張含有 設計, 圖形, 字型, 符號 的圖片&#10;&#10;AI 產生的內容可能不正確。">
            <a:extLst>
              <a:ext uri="{FF2B5EF4-FFF2-40B4-BE49-F238E27FC236}">
                <a16:creationId xmlns:a16="http://schemas.microsoft.com/office/drawing/2014/main" id="{E6E4C746-593D-A7E0-0E19-ED45466F6BE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6520" y="3332977"/>
            <a:ext cx="850708" cy="864000"/>
          </a:xfrm>
          <a:prstGeom prst="rect">
            <a:avLst/>
          </a:prstGeom>
        </p:spPr>
      </p:pic>
      <p:pic>
        <p:nvPicPr>
          <p:cNvPr id="27" name="圖片 26" descr="一張含有 圖表, 字型, 設計 的圖片&#10;&#10;AI 產生的內容可能不正確。">
            <a:extLst>
              <a:ext uri="{FF2B5EF4-FFF2-40B4-BE49-F238E27FC236}">
                <a16:creationId xmlns:a16="http://schemas.microsoft.com/office/drawing/2014/main" id="{99F37955-5B8C-21A0-B6E7-4BBD3D36166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581" y="3364004"/>
            <a:ext cx="843619" cy="856800"/>
          </a:xfrm>
          <a:prstGeom prst="rect">
            <a:avLst/>
          </a:prstGeom>
        </p:spPr>
      </p:pic>
      <p:pic>
        <p:nvPicPr>
          <p:cNvPr id="31" name="圖片 30" descr="一張含有 字型, 標誌, 符號, 文字 的圖片&#10;&#10;AI 產生的內容可能不正確。">
            <a:extLst>
              <a:ext uri="{FF2B5EF4-FFF2-40B4-BE49-F238E27FC236}">
                <a16:creationId xmlns:a16="http://schemas.microsoft.com/office/drawing/2014/main" id="{2986905D-6CA7-EC00-D848-C10F368231F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777" y="4720873"/>
            <a:ext cx="843618" cy="856800"/>
          </a:xfrm>
          <a:prstGeom prst="rect">
            <a:avLst/>
          </a:prstGeom>
        </p:spPr>
      </p:pic>
      <p:pic>
        <p:nvPicPr>
          <p:cNvPr id="35" name="圖片 34" descr="一張含有 字型, 圖形, 圖畫, 設計 的圖片&#10;&#10;AI 產生的內容可能不正確。">
            <a:extLst>
              <a:ext uri="{FF2B5EF4-FFF2-40B4-BE49-F238E27FC236}">
                <a16:creationId xmlns:a16="http://schemas.microsoft.com/office/drawing/2014/main" id="{5464DD6D-0E9C-CF16-8247-5EB24E9003B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0065" y="4720873"/>
            <a:ext cx="843618" cy="85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683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91842EA5DE8348AE9848AE687BCC84" ma:contentTypeVersion="13" ma:contentTypeDescription="Create a new document." ma:contentTypeScope="" ma:versionID="6f028e0c38457410fd2e4370e4878857">
  <xsd:schema xmlns:xsd="http://www.w3.org/2001/XMLSchema" xmlns:xs="http://www.w3.org/2001/XMLSchema" xmlns:p="http://schemas.microsoft.com/office/2006/metadata/properties" xmlns:ns2="77fccb21-d616-4fff-a4ae-b870553fe1e6" xmlns:ns3="094b9ec6-549c-4eb2-b7c6-34c3719529bf" targetNamespace="http://schemas.microsoft.com/office/2006/metadata/properties" ma:root="true" ma:fieldsID="82e8042d6f4572087d055fbded74d150" ns2:_="" ns3:_="">
    <xsd:import namespace="77fccb21-d616-4fff-a4ae-b870553fe1e6"/>
    <xsd:import namespace="094b9ec6-549c-4eb2-b7c6-34c3719529b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fccb21-d616-4fff-a4ae-b870553fe1e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4b9ec6-549c-4eb2-b7c6-34c3719529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d5bf68e3-6eff-4786-9f2a-37007501c52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94b9ec6-549c-4eb2-b7c6-34c3719529bf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3712ABA-0FA1-4602-B39B-E31E2EE03D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7fccb21-d616-4fff-a4ae-b870553fe1e6"/>
    <ds:schemaRef ds:uri="094b9ec6-549c-4eb2-b7c6-34c3719529b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44675A8-D60A-43CE-8DBD-DBEBC7C91DD1}">
  <ds:schemaRefs>
    <ds:schemaRef ds:uri="http://schemas.microsoft.com/office/2006/metadata/properties"/>
    <ds:schemaRef ds:uri="http://schemas.microsoft.com/office/infopath/2007/PartnerControls"/>
    <ds:schemaRef ds:uri="094b9ec6-549c-4eb2-b7c6-34c3719529bf"/>
  </ds:schemaRefs>
</ds:datastoreItem>
</file>

<file path=customXml/itemProps3.xml><?xml version="1.0" encoding="utf-8"?>
<ds:datastoreItem xmlns:ds="http://schemas.openxmlformats.org/officeDocument/2006/customXml" ds:itemID="{438816B0-4CCE-412B-897D-D4A0ADD6CA8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9111</TotalTime>
  <Words>1987</Words>
  <Application>Microsoft Office PowerPoint</Application>
  <PresentationFormat>寬螢幕</PresentationFormat>
  <Paragraphs>322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3" baseType="lpstr">
      <vt:lpstr>微軟正黑體</vt:lpstr>
      <vt:lpstr>新細明體</vt:lpstr>
      <vt:lpstr>Aharoni</vt:lpstr>
      <vt:lpstr>Aptos</vt:lpstr>
      <vt:lpstr>Aptos Display</vt:lpstr>
      <vt:lpstr>Arial</vt:lpstr>
      <vt:lpstr>Calibri</vt:lpstr>
      <vt:lpstr>Source Sans Pro</vt:lpstr>
      <vt:lpstr>Office 佈景主題</vt:lpstr>
      <vt:lpstr>PowerPoint 簡報</vt:lpstr>
      <vt:lpstr>PowerPoint 簡報</vt:lpstr>
      <vt:lpstr>Valor PP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大塚-廖韋承 Jerry</dc:creator>
  <cp:lastModifiedBy>大塚-廖韋承 Jerry</cp:lastModifiedBy>
  <cp:revision>246</cp:revision>
  <dcterms:created xsi:type="dcterms:W3CDTF">2025-02-19T03:30:11Z</dcterms:created>
  <dcterms:modified xsi:type="dcterms:W3CDTF">2026-10-22T07:16:58Z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0x0101000A91842EA5DE8348AE9848AE687BCC84</vt:lpwstr>
  </property>
  <property fmtid="{D5CDD505-2E9C-101B-9397-08002B2CF9AE}" pid="3" name="MediaServiceImageTags">
    <vt:lpwstr/>
  </property>
</Properties>
</file>