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147376044" r:id="rId5"/>
    <p:sldId id="2147376160" r:id="rId6"/>
    <p:sldId id="2147376104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CAD" id="{96027D25-418D-41F6-8DBC-0916F5615456}">
          <p14:sldIdLst>
            <p14:sldId id="2147376044"/>
            <p14:sldId id="2147376160"/>
            <p14:sldId id="21473761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759E"/>
    <a:srgbClr val="1F8DBF"/>
    <a:srgbClr val="189876"/>
    <a:srgbClr val="1FC398"/>
    <a:srgbClr val="39DFB4"/>
    <a:srgbClr val="1EB890"/>
    <a:srgbClr val="E8E8E6"/>
    <a:srgbClr val="F2F2F2"/>
    <a:srgbClr val="28A4DC"/>
    <a:srgbClr val="407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58" autoAdjust="0"/>
    <p:restoredTop sz="96445" autoAdjust="0"/>
  </p:normalViewPr>
  <p:slideViewPr>
    <p:cSldViewPr snapToGrid="0">
      <p:cViewPr varScale="1">
        <p:scale>
          <a:sx n="113" d="100"/>
          <a:sy n="113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A9828-F5F1-4553-95AE-77291B797BBE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3E784-885E-4089-99D9-2A46970786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631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接下來我們先針對西門子在電子設計與驗證所提供的解決方案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393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82C7-D443-FD0E-1482-192D90A3A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7ED9680-3EB7-253E-23A6-912890A63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E7AFF5-AEFC-EDC2-6E36-2DEDA3E05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當我們談到</a:t>
            </a:r>
            <a:r>
              <a:rPr lang="en-US" altLang="zh-TW" dirty="0"/>
              <a:t>PCB</a:t>
            </a:r>
            <a:r>
              <a:rPr lang="zh-TW" altLang="en-US" dirty="0"/>
              <a:t>設計流程，其實主要是指從</a:t>
            </a:r>
            <a:r>
              <a:rPr lang="en-US" altLang="zh-TW" dirty="0"/>
              <a:t>PCB</a:t>
            </a:r>
            <a:r>
              <a:rPr lang="zh-TW" altLang="en-US" dirty="0"/>
              <a:t>產品的設計開始，到製造準備的整個過程。我們如何利用西門子</a:t>
            </a:r>
            <a:r>
              <a:rPr lang="en-US" altLang="zh-TW" dirty="0"/>
              <a:t>EDA</a:t>
            </a:r>
            <a:r>
              <a:rPr lang="zh-TW" altLang="en-US" dirty="0"/>
              <a:t>工具來提升效率，並確保設計品質？</a:t>
            </a:r>
            <a:endParaRPr lang="en-US" altLang="zh-TW" dirty="0"/>
          </a:p>
          <a:p>
            <a:pPr>
              <a:buNone/>
            </a:pPr>
            <a:endParaRPr lang="zh-TW" altLang="en-US" dirty="0"/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首先，在專案啟動階段，系統設計人員會進行前期規劃，確保整個設計流程順利進行。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接著進入設計階段，我們會使用 </a:t>
            </a:r>
            <a:r>
              <a:rPr lang="en-US" altLang="zh-TW" b="1" dirty="0"/>
              <a:t>PADS Professional</a:t>
            </a:r>
            <a:r>
              <a:rPr lang="zh-TW" altLang="en-US" dirty="0"/>
              <a:t> 或 </a:t>
            </a:r>
            <a:r>
              <a:rPr lang="en-US" altLang="zh-TW" b="1" dirty="0"/>
              <a:t>Xpedition</a:t>
            </a:r>
            <a:r>
              <a:rPr lang="zh-TW" altLang="en-US" dirty="0"/>
              <a:t> 完成</a:t>
            </a:r>
            <a:r>
              <a:rPr lang="en-US" altLang="zh-TW" dirty="0"/>
              <a:t>PCB</a:t>
            </a:r>
            <a:r>
              <a:rPr lang="zh-TW" altLang="en-US" dirty="0"/>
              <a:t>原理圖設計，並同步進行設計驗證，確保設計沒有問題。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完成原理圖後，我們會將其轉換為</a:t>
            </a:r>
            <a:r>
              <a:rPr lang="en-US" altLang="zh-TW" dirty="0"/>
              <a:t>PCB Layout</a:t>
            </a:r>
            <a:r>
              <a:rPr lang="zh-TW" altLang="en-US" dirty="0"/>
              <a:t>，並進行零件的放置。在這個過程中，我們必須考慮到</a:t>
            </a:r>
            <a:r>
              <a:rPr lang="en-US" altLang="zh-TW" dirty="0"/>
              <a:t>PCB</a:t>
            </a:r>
            <a:r>
              <a:rPr lang="zh-TW" altLang="en-US" dirty="0"/>
              <a:t>佈局的正確性與可製造性，確保設計無誤後才能進入下一步。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進入模擬階段後，我們會使用 </a:t>
            </a:r>
            <a:r>
              <a:rPr lang="en-US" altLang="zh-TW" b="1" dirty="0" err="1"/>
              <a:t>HyperLynx</a:t>
            </a:r>
            <a:r>
              <a:rPr lang="zh-TW" altLang="en-US" dirty="0"/>
              <a:t> 進行信號完整性（</a:t>
            </a:r>
            <a:r>
              <a:rPr lang="en-US" altLang="zh-TW" dirty="0"/>
              <a:t>SI</a:t>
            </a:r>
            <a:r>
              <a:rPr lang="zh-TW" altLang="en-US" dirty="0"/>
              <a:t>）、電源完整性（</a:t>
            </a:r>
            <a:r>
              <a:rPr lang="en-US" altLang="zh-TW" dirty="0"/>
              <a:t>PI</a:t>
            </a:r>
            <a:r>
              <a:rPr lang="zh-TW" altLang="en-US" dirty="0"/>
              <a:t>）及熱分析等模擬，及早發現潛在問題，提高設計的可靠性。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設計確認無誤後，我們就進入驗證階段，這時候 </a:t>
            </a:r>
            <a:r>
              <a:rPr lang="en-US" altLang="zh-TW" b="1" dirty="0"/>
              <a:t>Valor NPI</a:t>
            </a:r>
            <a:r>
              <a:rPr lang="zh-TW" altLang="en-US" dirty="0"/>
              <a:t> 會檢查可製造性，確保設計符合製造要求，並減少生產過程中的問題。而 </a:t>
            </a:r>
            <a:r>
              <a:rPr lang="en-US" altLang="zh-TW" b="1" dirty="0"/>
              <a:t>Valor PP</a:t>
            </a:r>
            <a:r>
              <a:rPr lang="zh-TW" altLang="en-US" dirty="0"/>
              <a:t> 則會生成製造數據，幫助工廠快速投入生產。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最後，在協同作業方面，透過 </a:t>
            </a:r>
            <a:r>
              <a:rPr lang="en-US" altLang="zh-TW" b="1" dirty="0"/>
              <a:t>ECAD/MCAD </a:t>
            </a:r>
            <a:r>
              <a:rPr lang="zh-TW" altLang="en-US" b="1" dirty="0"/>
              <a:t>整合</a:t>
            </a:r>
            <a:r>
              <a:rPr lang="zh-TW" altLang="en-US" dirty="0"/>
              <a:t>，我們可以無縫對接機構設計（使用 </a:t>
            </a:r>
            <a:r>
              <a:rPr lang="en-US" altLang="zh-TW" b="1" dirty="0"/>
              <a:t>Siemens NX</a:t>
            </a:r>
            <a:r>
              <a:rPr lang="zh-TW" altLang="en-US" dirty="0"/>
              <a:t>），確保電子與機構設計的協同。</a:t>
            </a:r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zh-TW" altLang="en-US" dirty="0"/>
              <a:t>此外，還有三個重要的輔助功能：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資料管理（</a:t>
            </a:r>
            <a:r>
              <a:rPr lang="en-US" altLang="zh-TW" b="1" dirty="0"/>
              <a:t>EDM Library</a:t>
            </a:r>
            <a:r>
              <a:rPr lang="zh-TW" altLang="en-US" b="1" dirty="0"/>
              <a:t>）</a:t>
            </a:r>
            <a:r>
              <a:rPr lang="zh-TW" altLang="en-US" dirty="0"/>
              <a:t>：確保元件庫與設計數據的標準化與版本控制。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約束管理（</a:t>
            </a:r>
            <a:r>
              <a:rPr lang="en-US" altLang="zh-TW" b="1" dirty="0"/>
              <a:t>Constraint Manager</a:t>
            </a:r>
            <a:r>
              <a:rPr lang="zh-TW" altLang="en-US" b="1" dirty="0"/>
              <a:t>）</a:t>
            </a:r>
            <a:r>
              <a:rPr lang="zh-TW" altLang="en-US" dirty="0"/>
              <a:t>：定義設計規則，確保符合電氣與製造要求。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自動化（</a:t>
            </a:r>
            <a:r>
              <a:rPr lang="en-US" altLang="zh-TW" b="1" dirty="0"/>
              <a:t>Automation</a:t>
            </a:r>
            <a:r>
              <a:rPr lang="zh-TW" altLang="en-US" b="1" dirty="0"/>
              <a:t>）</a:t>
            </a:r>
            <a:r>
              <a:rPr lang="zh-TW" altLang="en-US" dirty="0"/>
              <a:t>：透過客製化腳本來提高設計效率與精度。</a:t>
            </a:r>
          </a:p>
          <a:p>
            <a:endParaRPr lang="en-US" altLang="zh-TW" dirty="0"/>
          </a:p>
          <a:p>
            <a:r>
              <a:rPr lang="zh-TW" altLang="en-US" dirty="0"/>
              <a:t>總的來說，這個整合平台能夠讓我們從設計、模擬到製造的每個階段都做到高效、準確，並降低製造風險。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ED070A-6739-6CDA-423C-F2EF2B2B1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075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>
                <a:ea typeface="新細明體"/>
              </a:rPr>
              <a:t>接下來，當電路設計完成後，我們會利用 </a:t>
            </a:r>
            <a:r>
              <a:rPr lang="en-US" altLang="zh-TW" b="1" dirty="0">
                <a:ea typeface="新細明體"/>
              </a:rPr>
              <a:t>HyperLynx</a:t>
            </a:r>
            <a:r>
              <a:rPr lang="zh-TW" altLang="en-US">
                <a:ea typeface="新細明體"/>
              </a:rPr>
              <a:t> 進行模擬與驗證。</a:t>
            </a:r>
          </a:p>
          <a:p>
            <a:pPr>
              <a:buNone/>
            </a:pPr>
            <a:r>
              <a:rPr lang="zh-TW" altLang="en-US" dirty="0"/>
              <a:t>電路驗證非常關鍵，因為我們必須確保電路設計能夠正常運作並滿足設計需求，這一切都需要透過模擬與驗證來確認。</a:t>
            </a:r>
          </a:p>
          <a:p>
            <a:pPr>
              <a:buNone/>
            </a:pPr>
            <a:r>
              <a:rPr lang="en-US" altLang="zh-TW" b="1" dirty="0">
                <a:ea typeface="新細明體"/>
              </a:rPr>
              <a:t>HyperLynx</a:t>
            </a:r>
            <a:r>
              <a:rPr lang="zh-TW" altLang="en-US">
                <a:ea typeface="新細明體"/>
              </a:rPr>
              <a:t> 主要有五大模組：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原理圖層級信號分析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>
                <a:ea typeface="新細明體"/>
              </a:rPr>
              <a:t>AMS信號模擬</a:t>
            </a:r>
            <a:endParaRPr lang="zh-TW" altLang="en-US">
              <a:ea typeface="新細明體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設計規範檢查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>
                <a:ea typeface="新細明體"/>
              </a:rPr>
              <a:t>3D </a:t>
            </a:r>
            <a:r>
              <a:rPr lang="zh-TW" altLang="en-US" b="1">
                <a:ea typeface="新細明體"/>
              </a:rPr>
              <a:t>電磁求解器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訊號與電源完整性分析</a:t>
            </a:r>
            <a:endParaRPr lang="zh-TW" altLang="en-US" dirty="0"/>
          </a:p>
          <a:p>
            <a:r>
              <a:rPr lang="zh-TW" altLang="en-US" dirty="0"/>
              <a:t>通過這些模組，我們可以確保電路設計的正確性，只有在確保沒有問題後，才會進入下一步。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679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DFA354-217E-A40F-35CD-E90308DD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203B34-C820-8F65-5FE7-3739DE4C7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AC8CDE-2622-A605-751F-17460FAE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82F5AE-C4B9-496B-ABCC-C00B1369A913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CA71C1-FF9C-02C7-8678-A3E1E44D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C0672F-9C9C-F9D2-D48D-382BAC51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A252DA-4888-4462-8388-83139C685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74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E5F6B2-0341-EC59-4B10-DF87C267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A56EAC8-EF5B-43F4-F1B7-5F21E006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82F5AE-C4B9-496B-ABCC-C00B1369A913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21F4065-35A7-60CC-1C9E-D0E9FC8C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24CC06A-82EE-523C-38F5-96CC1A6D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A252DA-4888-4462-8388-83139C685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45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4316767-51FE-7D8A-B53A-A15D4188EE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82F5AE-C4B9-496B-ABCC-C00B1369A913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D9ADF9-C1DD-564E-CB96-DB83EB0A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FFF929-5FF4-DD32-92A8-AAA03618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A252DA-4888-4462-8388-83139C685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1833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D9089F1-F836-2D67-5C21-4F0DAF6CDF7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4DA4123-ACB3-CF0D-CDAF-CEDAB763506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43705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610AF97-3C87-2D94-2492-580DA60F67B3}"/>
              </a:ext>
            </a:extLst>
          </p:cNvPr>
          <p:cNvSpPr txBox="1"/>
          <p:nvPr userDrawn="1"/>
        </p:nvSpPr>
        <p:spPr>
          <a:xfrm>
            <a:off x="1933575" y="5307964"/>
            <a:ext cx="1272278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2B8E6F8-0252-7B77-F22C-89F7DCB52678}"/>
              </a:ext>
            </a:extLst>
          </p:cNvPr>
          <p:cNvSpPr txBox="1"/>
          <p:nvPr userDrawn="1"/>
        </p:nvSpPr>
        <p:spPr>
          <a:xfrm>
            <a:off x="6772275" y="6274467"/>
            <a:ext cx="5951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6555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98C13-CFBB-F6D1-4F7E-B0155204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F5043-94BE-F6C3-7142-C25D214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1403B9-03C8-64D4-8A3E-212F3EC6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157E5A-5168-4071-B0F6-D0075989671B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0980C-A902-4CC6-C248-2E38B5D2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4A15AD-66D1-B2A9-894F-3012A16A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56B9-3ED3-4B64-94D1-0F1477E545B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709A6D2-9916-F1E7-E9D4-4FD0301F3A9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69AB31-0BF6-7DB0-150A-072B1125223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6659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98C13-CFBB-F6D1-4F7E-B0155204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F5043-94BE-F6C3-7142-C25D214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1403B9-03C8-64D4-8A3E-212F3EC6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157E5A-5168-4071-B0F6-D0075989671B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0980C-A902-4CC6-C248-2E38B5D2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4A15AD-66D1-B2A9-894F-3012A16A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56B9-3ED3-4B64-94D1-0F1477E545B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3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98C13-CFBB-F6D1-4F7E-B0155204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F5043-94BE-F6C3-7142-C25D214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1403B9-03C8-64D4-8A3E-212F3EC6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157E5A-5168-4071-B0F6-D0075989671B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0980C-A902-4CC6-C248-2E38B5D2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4A15AD-66D1-B2A9-894F-3012A16A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56B9-3ED3-4B64-94D1-0F1477E545B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709A6D2-9916-F1E7-E9D4-4FD0301F3A9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69AB31-0BF6-7DB0-150A-072B1125223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5451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253F045-1EC5-4AC1-4DCA-CB5101C5266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6476E8-0474-BE50-1B77-009EA9E19D15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7836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253F045-1EC5-4AC1-4DCA-CB5101C5266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6476E8-0474-BE50-1B77-009EA9E19D15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20008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2639713-B01B-0A3C-0813-BFD5EB874F12}"/>
              </a:ext>
            </a:extLst>
          </p:cNvPr>
          <p:cNvSpPr txBox="1"/>
          <p:nvPr userDrawn="1"/>
        </p:nvSpPr>
        <p:spPr>
          <a:xfrm>
            <a:off x="1933575" y="5307964"/>
            <a:ext cx="1272278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2197081-E9AE-6C72-2B45-447BF3CFB32C}"/>
              </a:ext>
            </a:extLst>
          </p:cNvPr>
          <p:cNvSpPr txBox="1"/>
          <p:nvPr userDrawn="1"/>
        </p:nvSpPr>
        <p:spPr>
          <a:xfrm>
            <a:off x="6772275" y="6274467"/>
            <a:ext cx="5951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3549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6539E7-23E5-06D4-FE43-4FFACFF4252B}"/>
              </a:ext>
            </a:extLst>
          </p:cNvPr>
          <p:cNvSpPr/>
          <p:nvPr userDrawn="1"/>
        </p:nvSpPr>
        <p:spPr>
          <a:xfrm rot="5400000">
            <a:off x="5715819" y="381819"/>
            <a:ext cx="6856362" cy="60960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0"/>
          <a:stretch/>
        </p:blipFill>
        <p:spPr>
          <a:xfrm>
            <a:off x="8974930" y="238004"/>
            <a:ext cx="2787629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521" y="678724"/>
            <a:ext cx="525348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BCBCFD01-6A4F-463F-715D-3A1F7E72EBDD}"/>
              </a:ext>
            </a:extLst>
          </p:cNvPr>
          <p:cNvSpPr/>
          <p:nvPr userDrawn="1"/>
        </p:nvSpPr>
        <p:spPr>
          <a:xfrm>
            <a:off x="3886200" y="762000"/>
            <a:ext cx="3048094" cy="531812"/>
          </a:xfrm>
          <a:prstGeom prst="homePlate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4140000" bIns="360000" rtlCol="0" anchor="b"/>
          <a:lstStyle/>
          <a:p>
            <a:endParaRPr lang="en-US" altLang="zh-TW" sz="1400" dirty="0">
              <a:solidFill>
                <a:schemeClr val="bg1"/>
              </a:solidFill>
            </a:endParaRPr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E9A63667-28BA-1D6A-A900-ECF7257204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71925" y="678706"/>
            <a:ext cx="4286250" cy="698400"/>
          </a:xfrm>
        </p:spPr>
        <p:txBody>
          <a:bodyPr anchor="ctr"/>
          <a:lstStyle>
            <a:lvl1pPr marL="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2pPr>
            <a:lvl3pPr marL="9144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3pPr>
            <a:lvl4pPr marL="13716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4pPr>
            <a:lvl5pPr marL="1828800" indent="0">
              <a:buNone/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5CB9C038-D960-CF36-B52B-10A3BD9C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2135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630FF32B-2265-A4A1-EEDA-072721C8DCA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99143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13CA549-9169-D18F-27E1-86749A2ED2DE}"/>
              </a:ext>
            </a:extLst>
          </p:cNvPr>
          <p:cNvCxnSpPr>
            <a:cxnSpLocks/>
          </p:cNvCxnSpPr>
          <p:nvPr userDrawn="1"/>
        </p:nvCxnSpPr>
        <p:spPr>
          <a:xfrm flipH="1">
            <a:off x="-2776" y="1281308"/>
            <a:ext cx="3780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66388EC-FC2A-6E94-2280-4860B84351F3}"/>
              </a:ext>
            </a:extLst>
          </p:cNvPr>
          <p:cNvSpPr txBox="1"/>
          <p:nvPr userDrawn="1"/>
        </p:nvSpPr>
        <p:spPr>
          <a:xfrm>
            <a:off x="7860505" y="359207"/>
            <a:ext cx="1150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大塚資訊集團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A47106E-083B-5C9F-5D90-B37C2A6CD4FA}"/>
              </a:ext>
            </a:extLst>
          </p:cNvPr>
          <p:cNvCxnSpPr>
            <a:cxnSpLocks/>
          </p:cNvCxnSpPr>
          <p:nvPr userDrawn="1"/>
        </p:nvCxnSpPr>
        <p:spPr>
          <a:xfrm flipH="1">
            <a:off x="6934294" y="1281308"/>
            <a:ext cx="3780000" cy="0"/>
          </a:xfrm>
          <a:prstGeom prst="line">
            <a:avLst/>
          </a:prstGeom>
          <a:noFill/>
          <a:ln w="254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831610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6539E7-23E5-06D4-FE43-4FFACFF4252B}"/>
              </a:ext>
            </a:extLst>
          </p:cNvPr>
          <p:cNvSpPr/>
          <p:nvPr userDrawn="1"/>
        </p:nvSpPr>
        <p:spPr>
          <a:xfrm rot="5400000">
            <a:off x="5715819" y="381819"/>
            <a:ext cx="6856362" cy="60960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0"/>
          <a:stretch/>
        </p:blipFill>
        <p:spPr>
          <a:xfrm>
            <a:off x="8974930" y="238004"/>
            <a:ext cx="2787629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521" y="678724"/>
            <a:ext cx="525348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BCBCFD01-6A4F-463F-715D-3A1F7E72EBDD}"/>
              </a:ext>
            </a:extLst>
          </p:cNvPr>
          <p:cNvSpPr/>
          <p:nvPr userDrawn="1"/>
        </p:nvSpPr>
        <p:spPr>
          <a:xfrm>
            <a:off x="3886200" y="762000"/>
            <a:ext cx="3048094" cy="531812"/>
          </a:xfrm>
          <a:prstGeom prst="homePlate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4140000" bIns="360000" rtlCol="0" anchor="b"/>
          <a:lstStyle/>
          <a:p>
            <a:endParaRPr lang="en-US" altLang="zh-TW" sz="1400" dirty="0">
              <a:solidFill>
                <a:schemeClr val="bg1"/>
              </a:solidFill>
            </a:endParaRPr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E9A63667-28BA-1D6A-A900-ECF7257204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71925" y="678706"/>
            <a:ext cx="4286250" cy="698400"/>
          </a:xfrm>
        </p:spPr>
        <p:txBody>
          <a:bodyPr anchor="ctr"/>
          <a:lstStyle>
            <a:lvl1pPr marL="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2pPr>
            <a:lvl3pPr marL="9144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3pPr>
            <a:lvl4pPr marL="13716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4pPr>
            <a:lvl5pPr marL="1828800" indent="0">
              <a:buNone/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5CB9C038-D960-CF36-B52B-10A3BD9C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2135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630FF32B-2265-A4A1-EEDA-072721C8DCA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99143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13CA549-9169-D18F-27E1-86749A2ED2DE}"/>
              </a:ext>
            </a:extLst>
          </p:cNvPr>
          <p:cNvCxnSpPr>
            <a:cxnSpLocks/>
          </p:cNvCxnSpPr>
          <p:nvPr userDrawn="1"/>
        </p:nvCxnSpPr>
        <p:spPr>
          <a:xfrm flipH="1">
            <a:off x="-2776" y="1281308"/>
            <a:ext cx="3780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66388EC-FC2A-6E94-2280-4860B84351F3}"/>
              </a:ext>
            </a:extLst>
          </p:cNvPr>
          <p:cNvSpPr txBox="1"/>
          <p:nvPr userDrawn="1"/>
        </p:nvSpPr>
        <p:spPr>
          <a:xfrm>
            <a:off x="7860505" y="359207"/>
            <a:ext cx="1150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大塚資訊集團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A47106E-083B-5C9F-5D90-B37C2A6CD4FA}"/>
              </a:ext>
            </a:extLst>
          </p:cNvPr>
          <p:cNvCxnSpPr>
            <a:cxnSpLocks/>
          </p:cNvCxnSpPr>
          <p:nvPr userDrawn="1"/>
        </p:nvCxnSpPr>
        <p:spPr>
          <a:xfrm flipH="1">
            <a:off x="6934294" y="1281308"/>
            <a:ext cx="3780000" cy="0"/>
          </a:xfrm>
          <a:prstGeom prst="line">
            <a:avLst/>
          </a:prstGeom>
          <a:noFill/>
          <a:ln w="254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C20270-84E8-0ED5-A078-4D21B9456C0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E9A3475-0570-BBDF-14B4-7DEFFA835F9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4905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423152-5164-C9DA-C507-4A1BCB016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23BBBC3-3E8A-1290-7B7D-2BAFB928E6BD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D36B58-4B25-62E5-50DF-EC8E01AB23FB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9" name="箭號: ＞形 8">
            <a:extLst>
              <a:ext uri="{FF2B5EF4-FFF2-40B4-BE49-F238E27FC236}">
                <a16:creationId xmlns:a16="http://schemas.microsoft.com/office/drawing/2014/main" id="{FE5318CA-03D1-73D5-FC28-2899CFD45168}"/>
              </a:ext>
            </a:extLst>
          </p:cNvPr>
          <p:cNvSpPr/>
          <p:nvPr userDrawn="1"/>
        </p:nvSpPr>
        <p:spPr>
          <a:xfrm>
            <a:off x="2175986" y="111098"/>
            <a:ext cx="9907475" cy="1179910"/>
          </a:xfrm>
          <a:prstGeom prst="chevron">
            <a:avLst/>
          </a:prstGeom>
          <a:gradFill flip="none" rotWithShape="1">
            <a:gsLst>
              <a:gs pos="0">
                <a:srgbClr val="EDF3F0"/>
              </a:gs>
              <a:gs pos="50000">
                <a:srgbClr val="DEEAE9"/>
              </a:gs>
              <a:gs pos="100000">
                <a:srgbClr val="DAEAE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箭號: 五邊形 9">
            <a:extLst>
              <a:ext uri="{FF2B5EF4-FFF2-40B4-BE49-F238E27FC236}">
                <a16:creationId xmlns:a16="http://schemas.microsoft.com/office/drawing/2014/main" id="{3B2C1695-3E85-319E-AFB8-C11031A4C7ED}"/>
              </a:ext>
            </a:extLst>
          </p:cNvPr>
          <p:cNvSpPr/>
          <p:nvPr userDrawn="1"/>
        </p:nvSpPr>
        <p:spPr>
          <a:xfrm>
            <a:off x="0" y="111098"/>
            <a:ext cx="3083859" cy="1179910"/>
          </a:xfrm>
          <a:prstGeom prst="homePlate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A3F1077-EFF4-C225-1EAD-7704B02AB921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1420599"/>
            <a:ext cx="4716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66CC6CFB-CBA2-0AD7-87ED-D87A42708D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43937" y="370839"/>
            <a:ext cx="7887382" cy="720828"/>
          </a:xfrm>
        </p:spPr>
        <p:txBody>
          <a:bodyPr anchor="ctr">
            <a:normAutofit/>
          </a:bodyPr>
          <a:lstStyle>
            <a:lvl1pPr marL="0" indent="0">
              <a:buNone/>
              <a:defRPr lang="zh-TW" altLang="en-US" sz="4000" b="1" kern="1200" dirty="0" smtClean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1" name="文字版面配置區 18">
            <a:extLst>
              <a:ext uri="{FF2B5EF4-FFF2-40B4-BE49-F238E27FC236}">
                <a16:creationId xmlns:a16="http://schemas.microsoft.com/office/drawing/2014/main" id="{63BE1DA1-470A-99DA-471F-528BD3A5AC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539" y="184775"/>
            <a:ext cx="2066400" cy="1179910"/>
          </a:xfrm>
        </p:spPr>
        <p:txBody>
          <a:bodyPr/>
          <a:lstStyle>
            <a:lvl1pPr marL="0" indent="0" algn="ctr">
              <a:buNone/>
              <a:defRPr lang="zh-TW" altLang="en-US" sz="5400" b="1" kern="1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zh-TW" altLang="en-US" sz="1800" kern="1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zh-TW" altLang="en-US" dirty="0"/>
              <a:t>按一下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SOLUTIONS</a:t>
            </a:r>
          </a:p>
        </p:txBody>
      </p:sp>
    </p:spTree>
    <p:extLst>
      <p:ext uri="{BB962C8B-B14F-4D97-AF65-F5344CB8AC3E}">
        <p14:creationId xmlns:p14="http://schemas.microsoft.com/office/powerpoint/2010/main" val="230028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號: ＞形 1">
            <a:extLst>
              <a:ext uri="{FF2B5EF4-FFF2-40B4-BE49-F238E27FC236}">
                <a16:creationId xmlns:a16="http://schemas.microsoft.com/office/drawing/2014/main" id="{BE6F76C6-76B7-B06B-8E0F-EE5EBB26403A}"/>
              </a:ext>
            </a:extLst>
          </p:cNvPr>
          <p:cNvSpPr/>
          <p:nvPr userDrawn="1"/>
        </p:nvSpPr>
        <p:spPr>
          <a:xfrm>
            <a:off x="2457450" y="2321600"/>
            <a:ext cx="9626011" cy="2566916"/>
          </a:xfrm>
          <a:prstGeom prst="chevron">
            <a:avLst/>
          </a:prstGeom>
          <a:gradFill flip="none" rotWithShape="1">
            <a:gsLst>
              <a:gs pos="0">
                <a:srgbClr val="EDF3F0"/>
              </a:gs>
              <a:gs pos="50000">
                <a:srgbClr val="DEEAE9"/>
              </a:gs>
              <a:gs pos="100000">
                <a:srgbClr val="DAEAE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9423152-5164-C9DA-C507-4A1BCB016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23BBBC3-3E8A-1290-7B7D-2BAFB928E6BD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D36B58-4B25-62E5-50DF-EC8E01AB23FB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A3F1077-EFF4-C225-1EAD-7704B02AB921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5197844"/>
            <a:ext cx="4716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66CC6CFB-CBA2-0AD7-87ED-D87A42708D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43059" y="3244643"/>
            <a:ext cx="7887382" cy="720828"/>
          </a:xfrm>
        </p:spPr>
        <p:txBody>
          <a:bodyPr anchor="ctr">
            <a:normAutofit/>
          </a:bodyPr>
          <a:lstStyle>
            <a:lvl1pPr marL="0" indent="0">
              <a:buNone/>
              <a:defRPr lang="zh-TW" altLang="en-US" sz="4000" b="1" kern="1200" dirty="0" smtClean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46879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號: ＞形 1">
            <a:extLst>
              <a:ext uri="{FF2B5EF4-FFF2-40B4-BE49-F238E27FC236}">
                <a16:creationId xmlns:a16="http://schemas.microsoft.com/office/drawing/2014/main" id="{A00868EA-A21B-4690-8D99-C8FDF4B6035B}"/>
              </a:ext>
            </a:extLst>
          </p:cNvPr>
          <p:cNvSpPr/>
          <p:nvPr userDrawn="1"/>
        </p:nvSpPr>
        <p:spPr>
          <a:xfrm>
            <a:off x="2457450" y="2321600"/>
            <a:ext cx="9626011" cy="2566916"/>
          </a:xfrm>
          <a:prstGeom prst="chevron">
            <a:avLst/>
          </a:prstGeom>
          <a:gradFill flip="none" rotWithShape="1">
            <a:gsLst>
              <a:gs pos="0">
                <a:srgbClr val="EDF3F0"/>
              </a:gs>
              <a:gs pos="50000">
                <a:srgbClr val="DEEAE9"/>
              </a:gs>
              <a:gs pos="100000">
                <a:srgbClr val="DAEAE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9423152-5164-C9DA-C507-4A1BCB016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23BBBC3-3E8A-1290-7B7D-2BAFB928E6BD}"/>
              </a:ext>
            </a:extLst>
          </p:cNvPr>
          <p:cNvSpPr txBox="1"/>
          <p:nvPr userDrawn="1"/>
        </p:nvSpPr>
        <p:spPr>
          <a:xfrm>
            <a:off x="1933575" y="5307964"/>
            <a:ext cx="1272278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D36B58-4B25-62E5-50DF-EC8E01AB23FB}"/>
              </a:ext>
            </a:extLst>
          </p:cNvPr>
          <p:cNvSpPr txBox="1"/>
          <p:nvPr userDrawn="1"/>
        </p:nvSpPr>
        <p:spPr>
          <a:xfrm>
            <a:off x="6772275" y="6274467"/>
            <a:ext cx="5951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A3F1077-EFF4-C225-1EAD-7704B02AB921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5197844"/>
            <a:ext cx="4716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66CC6CFB-CBA2-0AD7-87ED-D87A42708D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43059" y="3244643"/>
            <a:ext cx="7887382" cy="720828"/>
          </a:xfrm>
        </p:spPr>
        <p:txBody>
          <a:bodyPr anchor="ctr">
            <a:normAutofit/>
          </a:bodyPr>
          <a:lstStyle>
            <a:lvl1pPr marL="0" indent="0">
              <a:buNone/>
              <a:defRPr lang="zh-TW" altLang="en-US" sz="4000" b="1" kern="1200" dirty="0" smtClean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785439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Unrestricted | © Siemens 2023 | Siemens Digital Industries Software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543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bleed color Deep Blue">
    <p:bg>
      <p:bgPr>
        <a:solidFill>
          <a:srgbClr val="374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4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9982CB5-2F2A-A204-F158-29E1F915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E716F9-2D15-E25F-4523-933422701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568372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60" r:id="rId4"/>
    <p:sldLayoutId id="2147483697" r:id="rId5"/>
    <p:sldLayoutId id="2147483685" r:id="rId6"/>
    <p:sldLayoutId id="2147483702" r:id="rId7"/>
    <p:sldLayoutId id="2147483700" r:id="rId8"/>
    <p:sldLayoutId id="2147483686" r:id="rId9"/>
    <p:sldLayoutId id="2147483701" r:id="rId10"/>
    <p:sldLayoutId id="2147483698" r:id="rId11"/>
    <p:sldLayoutId id="2147483690" r:id="rId12"/>
    <p:sldLayoutId id="2147483693" r:id="rId13"/>
    <p:sldLayoutId id="2147483689" r:id="rId14"/>
    <p:sldLayoutId id="2147483699" r:id="rId15"/>
    <p:sldLayoutId id="2147483696" r:id="rId16"/>
    <p:sldLayoutId id="2147483691" r:id="rId17"/>
    <p:sldLayoutId id="2147483694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7BE07-7E0F-1BFE-7DA4-45A838E62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0AC8B5BB-EBF7-5033-F1FF-8586E1994143}"/>
              </a:ext>
            </a:extLst>
          </p:cNvPr>
          <p:cNvSpPr txBox="1"/>
          <p:nvPr/>
        </p:nvSpPr>
        <p:spPr>
          <a:xfrm>
            <a:off x="108539" y="63289"/>
            <a:ext cx="2067447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zh-TW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EDA</a:t>
            </a:r>
            <a:r>
              <a:rPr lang="en-US" altLang="zh-TW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SOLUTIONS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F74281A-BC0E-1DB7-FBB1-4E989FBF76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電子電路設計與驗證解決方案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3A794D4B-EF20-37E5-1C7D-B7EABD064A58}"/>
              </a:ext>
            </a:extLst>
          </p:cNvPr>
          <p:cNvSpPr/>
          <p:nvPr/>
        </p:nvSpPr>
        <p:spPr>
          <a:xfrm>
            <a:off x="11005419" y="1422401"/>
            <a:ext cx="1203412" cy="5435599"/>
          </a:xfrm>
          <a:prstGeom prst="rect">
            <a:avLst/>
          </a:prstGeom>
          <a:solidFill>
            <a:srgbClr val="4074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0" rIns="144000" rtlCol="0" anchor="t"/>
          <a:lstStyle/>
          <a:p>
            <a:pPr algn="r"/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r"/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完成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B9E70474-E9ED-33EC-4DB9-CA58F01F11A0}"/>
              </a:ext>
            </a:extLst>
          </p:cNvPr>
          <p:cNvSpPr/>
          <p:nvPr/>
        </p:nvSpPr>
        <p:spPr>
          <a:xfrm>
            <a:off x="-3932" y="1422401"/>
            <a:ext cx="1279265" cy="5435599"/>
          </a:xfrm>
          <a:prstGeom prst="rect">
            <a:avLst/>
          </a:prstGeom>
          <a:solidFill>
            <a:srgbClr val="4074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468000" rIns="0" rtlCol="0" anchor="t"/>
          <a:lstStyle/>
          <a:p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發起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4D493A1C-519F-97C3-9E3F-7C8314DCEC64}"/>
              </a:ext>
            </a:extLst>
          </p:cNvPr>
          <p:cNvSpPr/>
          <p:nvPr/>
        </p:nvSpPr>
        <p:spPr>
          <a:xfrm>
            <a:off x="1093818" y="1422400"/>
            <a:ext cx="10112750" cy="5435600"/>
          </a:xfrm>
          <a:prstGeom prst="rect">
            <a:avLst/>
          </a:prstGeom>
          <a:solidFill>
            <a:srgbClr val="71BFD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432000" rIns="0" rtlCol="0" anchor="t"/>
          <a:lstStyle/>
          <a:p>
            <a:r>
              <a:rPr lang="zh-TW" altLang="en-US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電子設計與驗證</a:t>
            </a:r>
            <a:endParaRPr lang="zh-TW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2" name="箭號: 五邊形 201">
            <a:extLst>
              <a:ext uri="{FF2B5EF4-FFF2-40B4-BE49-F238E27FC236}">
                <a16:creationId xmlns:a16="http://schemas.microsoft.com/office/drawing/2014/main" id="{F0BE56AC-3993-EDF8-B52E-A11241735617}"/>
              </a:ext>
            </a:extLst>
          </p:cNvPr>
          <p:cNvSpPr/>
          <p:nvPr/>
        </p:nvSpPr>
        <p:spPr>
          <a:xfrm>
            <a:off x="8791728" y="1422401"/>
            <a:ext cx="3400271" cy="334800"/>
          </a:xfrm>
          <a:prstGeom prst="homePlate">
            <a:avLst/>
          </a:prstGeom>
          <a:solidFill>
            <a:srgbClr val="67E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Finish</a:t>
            </a:r>
            <a:endParaRPr lang="zh-TW" altLang="en-US" sz="140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3" name="箭號: 五邊形 202">
            <a:extLst>
              <a:ext uri="{FF2B5EF4-FFF2-40B4-BE49-F238E27FC236}">
                <a16:creationId xmlns:a16="http://schemas.microsoft.com/office/drawing/2014/main" id="{3D2147E1-F3D9-08B0-1881-AAB1E303C171}"/>
              </a:ext>
            </a:extLst>
          </p:cNvPr>
          <p:cNvSpPr/>
          <p:nvPr/>
        </p:nvSpPr>
        <p:spPr>
          <a:xfrm rot="10800000" flipV="1">
            <a:off x="41542" y="1422401"/>
            <a:ext cx="3400271" cy="334800"/>
          </a:xfrm>
          <a:prstGeom prst="homePlate">
            <a:avLst/>
          </a:prstGeom>
          <a:solidFill>
            <a:srgbClr val="67E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Start</a:t>
            </a:r>
            <a:endParaRPr lang="zh-TW" altLang="en-US" sz="140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CD7A789F-D26C-5F49-BB2C-ADED1C66BB9E}"/>
              </a:ext>
            </a:extLst>
          </p:cNvPr>
          <p:cNvSpPr/>
          <p:nvPr/>
        </p:nvSpPr>
        <p:spPr>
          <a:xfrm rot="10800000" flipV="1">
            <a:off x="3441813" y="1422403"/>
            <a:ext cx="5349915" cy="334800"/>
          </a:xfrm>
          <a:prstGeom prst="rect">
            <a:avLst/>
          </a:prstGeom>
          <a:solidFill>
            <a:srgbClr val="67E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 Progress</a:t>
            </a:r>
            <a:endParaRPr lang="zh-TW" altLang="en-US" sz="140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23" name="接點: 弧形 222">
            <a:extLst>
              <a:ext uri="{FF2B5EF4-FFF2-40B4-BE49-F238E27FC236}">
                <a16:creationId xmlns:a16="http://schemas.microsoft.com/office/drawing/2014/main" id="{2F70DB58-D5FE-1736-95D2-9B5C53FC0F37}"/>
              </a:ext>
            </a:extLst>
          </p:cNvPr>
          <p:cNvCxnSpPr>
            <a:cxnSpLocks/>
            <a:stCxn id="242" idx="3"/>
            <a:endCxn id="269" idx="1"/>
          </p:cNvCxnSpPr>
          <p:nvPr/>
        </p:nvCxnSpPr>
        <p:spPr>
          <a:xfrm>
            <a:off x="1921537" y="4125721"/>
            <a:ext cx="295210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接點: 弧形 223">
            <a:extLst>
              <a:ext uri="{FF2B5EF4-FFF2-40B4-BE49-F238E27FC236}">
                <a16:creationId xmlns:a16="http://schemas.microsoft.com/office/drawing/2014/main" id="{FAB79CD2-2E63-8A4C-66B4-B0251668DE58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>
            <a:off x="970268" y="4125720"/>
            <a:ext cx="437788" cy="1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接點: 弧形 73">
            <a:extLst>
              <a:ext uri="{FF2B5EF4-FFF2-40B4-BE49-F238E27FC236}">
                <a16:creationId xmlns:a16="http://schemas.microsoft.com/office/drawing/2014/main" id="{C527F36B-B3C1-A328-7E67-191CCF6A1822}"/>
              </a:ext>
            </a:extLst>
          </p:cNvPr>
          <p:cNvCxnSpPr>
            <a:cxnSpLocks/>
            <a:stCxn id="272" idx="1"/>
            <a:endCxn id="248" idx="3"/>
          </p:cNvCxnSpPr>
          <p:nvPr/>
        </p:nvCxnSpPr>
        <p:spPr>
          <a:xfrm flipH="1">
            <a:off x="7773389" y="4125720"/>
            <a:ext cx="240445" cy="0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接點: 弧形 76">
            <a:extLst>
              <a:ext uri="{FF2B5EF4-FFF2-40B4-BE49-F238E27FC236}">
                <a16:creationId xmlns:a16="http://schemas.microsoft.com/office/drawing/2014/main" id="{17CC44C8-4DF8-5653-DA52-0AA624D6CAB6}"/>
              </a:ext>
            </a:extLst>
          </p:cNvPr>
          <p:cNvCxnSpPr>
            <a:cxnSpLocks/>
            <a:stCxn id="255" idx="0"/>
            <a:endCxn id="253" idx="2"/>
          </p:cNvCxnSpPr>
          <p:nvPr/>
        </p:nvCxnSpPr>
        <p:spPr>
          <a:xfrm flipV="1">
            <a:off x="10573341" y="4012092"/>
            <a:ext cx="0" cy="227257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接點: 弧形 227">
            <a:extLst>
              <a:ext uri="{FF2B5EF4-FFF2-40B4-BE49-F238E27FC236}">
                <a16:creationId xmlns:a16="http://schemas.microsoft.com/office/drawing/2014/main" id="{A10556D0-5552-4F93-4196-A762DB76A504}"/>
              </a:ext>
            </a:extLst>
          </p:cNvPr>
          <p:cNvCxnSpPr>
            <a:cxnSpLocks/>
            <a:stCxn id="269" idx="0"/>
            <a:endCxn id="251" idx="0"/>
          </p:cNvCxnSpPr>
          <p:nvPr/>
        </p:nvCxnSpPr>
        <p:spPr>
          <a:xfrm rot="5400000" flipH="1" flipV="1">
            <a:off x="6394121" y="-275584"/>
            <a:ext cx="12700" cy="6538336"/>
          </a:xfrm>
          <a:prstGeom prst="curvedConnector3">
            <a:avLst>
              <a:gd name="adj1" fmla="val 8700000"/>
            </a:avLst>
          </a:prstGeom>
          <a:ln w="38100">
            <a:solidFill>
              <a:schemeClr val="bg1"/>
            </a:solidFill>
            <a:prstDash val="dash"/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接點: 弧形 234">
            <a:extLst>
              <a:ext uri="{FF2B5EF4-FFF2-40B4-BE49-F238E27FC236}">
                <a16:creationId xmlns:a16="http://schemas.microsoft.com/office/drawing/2014/main" id="{DB7CE871-77C9-EBEB-6840-0679313D32D7}"/>
              </a:ext>
            </a:extLst>
          </p:cNvPr>
          <p:cNvCxnSpPr>
            <a:cxnSpLocks/>
            <a:stCxn id="246" idx="1"/>
            <a:endCxn id="255" idx="3"/>
          </p:cNvCxnSpPr>
          <p:nvPr/>
        </p:nvCxnSpPr>
        <p:spPr>
          <a:xfrm rot="10800000" flipV="1">
            <a:off x="10896444" y="4125721"/>
            <a:ext cx="538783" cy="622882"/>
          </a:xfrm>
          <a:prstGeom prst="curvedConnector3">
            <a:avLst>
              <a:gd name="adj1" fmla="val 50000"/>
            </a:avLst>
          </a:prstGeom>
          <a:ln w="762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文字方塊 241">
            <a:extLst>
              <a:ext uri="{FF2B5EF4-FFF2-40B4-BE49-F238E27FC236}">
                <a16:creationId xmlns:a16="http://schemas.microsoft.com/office/drawing/2014/main" id="{AEE8AB76-269F-DF7C-BEB9-B61E38DFBF4F}"/>
              </a:ext>
            </a:extLst>
          </p:cNvPr>
          <p:cNvSpPr txBox="1"/>
          <p:nvPr/>
        </p:nvSpPr>
        <p:spPr>
          <a:xfrm>
            <a:off x="1408056" y="2993584"/>
            <a:ext cx="513481" cy="2264273"/>
          </a:xfrm>
          <a:prstGeom prst="roundRect">
            <a:avLst>
              <a:gd name="adj" fmla="val 2594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zh-TW" altLang="en-US" sz="2000" dirty="0">
                <a:solidFill>
                  <a:srgbClr val="374151"/>
                </a:solidFill>
              </a:rPr>
              <a:t>系統設計</a:t>
            </a:r>
            <a:endParaRPr lang="en-US" altLang="zh-TW" sz="2000" dirty="0">
              <a:solidFill>
                <a:srgbClr val="374151"/>
              </a:solidFill>
            </a:endParaRPr>
          </a:p>
          <a:p>
            <a:r>
              <a:rPr lang="zh-TW" altLang="en-US" sz="2000" dirty="0">
                <a:solidFill>
                  <a:srgbClr val="374151"/>
                </a:solidFill>
              </a:rPr>
              <a:t>草稿</a:t>
            </a:r>
          </a:p>
        </p:txBody>
      </p:sp>
      <p:sp>
        <p:nvSpPr>
          <p:cNvPr id="243" name="文字方塊 242">
            <a:extLst>
              <a:ext uri="{FF2B5EF4-FFF2-40B4-BE49-F238E27FC236}">
                <a16:creationId xmlns:a16="http://schemas.microsoft.com/office/drawing/2014/main" id="{6D837231-970E-F523-D40D-109933AF629C}"/>
              </a:ext>
            </a:extLst>
          </p:cNvPr>
          <p:cNvSpPr txBox="1"/>
          <p:nvPr/>
        </p:nvSpPr>
        <p:spPr>
          <a:xfrm>
            <a:off x="106759" y="2993583"/>
            <a:ext cx="863509" cy="226427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zh-TW" altLang="en-US" sz="2400" dirty="0">
                <a:solidFill>
                  <a:srgbClr val="374151"/>
                </a:solidFill>
              </a:rPr>
              <a:t>客戶</a:t>
            </a:r>
            <a:endParaRPr lang="en-US" altLang="zh-TW" sz="2400" dirty="0">
              <a:solidFill>
                <a:srgbClr val="374151"/>
              </a:solidFill>
            </a:endParaRPr>
          </a:p>
          <a:p>
            <a:r>
              <a:rPr lang="zh-TW" altLang="en-US" sz="2400" dirty="0">
                <a:solidFill>
                  <a:srgbClr val="374151"/>
                </a:solidFill>
              </a:rPr>
              <a:t>需求確認</a:t>
            </a:r>
          </a:p>
        </p:txBody>
      </p:sp>
      <p:cxnSp>
        <p:nvCxnSpPr>
          <p:cNvPr id="247" name="直線單箭頭接點 246">
            <a:extLst>
              <a:ext uri="{FF2B5EF4-FFF2-40B4-BE49-F238E27FC236}">
                <a16:creationId xmlns:a16="http://schemas.microsoft.com/office/drawing/2014/main" id="{ADFC78D2-4276-C815-7EB9-C7C1A18AD936}"/>
              </a:ext>
            </a:extLst>
          </p:cNvPr>
          <p:cNvCxnSpPr>
            <a:cxnSpLocks/>
            <a:stCxn id="269" idx="3"/>
            <a:endCxn id="248" idx="1"/>
          </p:cNvCxnSpPr>
          <p:nvPr/>
        </p:nvCxnSpPr>
        <p:spPr>
          <a:xfrm flipV="1">
            <a:off x="4033158" y="4125720"/>
            <a:ext cx="263849" cy="1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文字方塊 247">
            <a:extLst>
              <a:ext uri="{FF2B5EF4-FFF2-40B4-BE49-F238E27FC236}">
                <a16:creationId xmlns:a16="http://schemas.microsoft.com/office/drawing/2014/main" id="{06147910-953C-B4B8-38DA-506D023C7C79}"/>
              </a:ext>
            </a:extLst>
          </p:cNvPr>
          <p:cNvSpPr txBox="1"/>
          <p:nvPr/>
        </p:nvSpPr>
        <p:spPr>
          <a:xfrm>
            <a:off x="4297007" y="2345940"/>
            <a:ext cx="3476382" cy="3559560"/>
          </a:xfrm>
          <a:prstGeom prst="roundRect">
            <a:avLst>
              <a:gd name="adj" fmla="val 826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endParaRPr lang="zh-TW" altLang="en-US" sz="1100" b="0" dirty="0"/>
          </a:p>
        </p:txBody>
      </p:sp>
      <p:cxnSp>
        <p:nvCxnSpPr>
          <p:cNvPr id="249" name="接點: 弧形 248">
            <a:extLst>
              <a:ext uri="{FF2B5EF4-FFF2-40B4-BE49-F238E27FC236}">
                <a16:creationId xmlns:a16="http://schemas.microsoft.com/office/drawing/2014/main" id="{6000F307-986A-9DEE-001B-1D30BC0B6432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4246" y="3304551"/>
            <a:ext cx="137272" cy="1"/>
          </a:xfrm>
          <a:prstGeom prst="curvedConnector3">
            <a:avLst>
              <a:gd name="adj1" fmla="val 50000"/>
            </a:avLst>
          </a:prstGeom>
          <a:ln>
            <a:solidFill>
              <a:srgbClr val="37415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文字方塊 250">
            <a:extLst>
              <a:ext uri="{FF2B5EF4-FFF2-40B4-BE49-F238E27FC236}">
                <a16:creationId xmlns:a16="http://schemas.microsoft.com/office/drawing/2014/main" id="{52364A97-F793-B832-1760-B1D9F7C1072F}"/>
              </a:ext>
            </a:extLst>
          </p:cNvPr>
          <p:cNvSpPr txBox="1"/>
          <p:nvPr/>
        </p:nvSpPr>
        <p:spPr>
          <a:xfrm>
            <a:off x="9340187" y="2993584"/>
            <a:ext cx="646204" cy="226427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pPr algn="ctr"/>
            <a:r>
              <a:rPr lang="zh-TW" altLang="en-US" sz="2400" b="1" kern="1200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試樣</a:t>
            </a:r>
          </a:p>
        </p:txBody>
      </p:sp>
      <p:grpSp>
        <p:nvGrpSpPr>
          <p:cNvPr id="326" name="群組 325">
            <a:extLst>
              <a:ext uri="{FF2B5EF4-FFF2-40B4-BE49-F238E27FC236}">
                <a16:creationId xmlns:a16="http://schemas.microsoft.com/office/drawing/2014/main" id="{3B78428A-2C81-298D-5580-50F1F59314F3}"/>
              </a:ext>
            </a:extLst>
          </p:cNvPr>
          <p:cNvGrpSpPr/>
          <p:nvPr/>
        </p:nvGrpSpPr>
        <p:grpSpPr>
          <a:xfrm>
            <a:off x="10250239" y="2993584"/>
            <a:ext cx="646204" cy="1018508"/>
            <a:chOff x="10250239" y="3135734"/>
            <a:chExt cx="646204" cy="1144841"/>
          </a:xfrm>
        </p:grpSpPr>
        <p:sp>
          <p:nvSpPr>
            <p:cNvPr id="253" name="文字方塊 252">
              <a:extLst>
                <a:ext uri="{FF2B5EF4-FFF2-40B4-BE49-F238E27FC236}">
                  <a16:creationId xmlns:a16="http://schemas.microsoft.com/office/drawing/2014/main" id="{ED262EA0-2053-385B-DA8A-8EE6A8781762}"/>
                </a:ext>
              </a:extLst>
            </p:cNvPr>
            <p:cNvSpPr txBox="1"/>
            <p:nvPr/>
          </p:nvSpPr>
          <p:spPr>
            <a:xfrm>
              <a:off x="10250239" y="3135734"/>
              <a:ext cx="646204" cy="1144841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6000" rIns="0" bIns="0" numCol="1" spcCol="1270" anchor="t" anchorCtr="0">
              <a:noAutofit/>
            </a:bodyPr>
            <a:lstStyle>
              <a:defPPr>
                <a:defRPr lang="zh-TW"/>
              </a:defPPr>
              <a:lvl1pPr algn="ctr" defTabSz="622300">
                <a:spcBef>
                  <a:spcPct val="0"/>
                </a:spcBef>
                <a:defRPr sz="1050" b="1"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2pPr>
              <a:lvl3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3pPr>
              <a:lvl4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4pPr>
              <a:lvl5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5pPr>
              <a:lvl6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6pPr>
              <a:lvl7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7pPr>
              <a:lvl8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8pPr>
              <a:lvl9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9pPr>
            </a:lstStyle>
            <a:p>
              <a:pPr algn="ctr"/>
              <a:r>
                <a:rPr lang="zh-TW" altLang="en-US" sz="1800" b="1" kern="1200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製造量產</a:t>
              </a:r>
            </a:p>
          </p:txBody>
        </p:sp>
        <p:pic>
          <p:nvPicPr>
            <p:cNvPr id="254" name="Picture 6" descr="升級為3D輪廓分析檢測有效提升PCBA良率- ADLINK Blog">
              <a:extLst>
                <a:ext uri="{FF2B5EF4-FFF2-40B4-BE49-F238E27FC236}">
                  <a16:creationId xmlns:a16="http://schemas.microsoft.com/office/drawing/2014/main" id="{FAD746AC-B333-7FCB-FF07-B64A4F2EE0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91" t="24312" r="49494" b="22724"/>
            <a:stretch/>
          </p:blipFill>
          <p:spPr bwMode="auto">
            <a:xfrm>
              <a:off x="10299694" y="3818010"/>
              <a:ext cx="560557" cy="318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7" name="群組 326">
            <a:extLst>
              <a:ext uri="{FF2B5EF4-FFF2-40B4-BE49-F238E27FC236}">
                <a16:creationId xmlns:a16="http://schemas.microsoft.com/office/drawing/2014/main" id="{B9C2D2FA-CFBF-C87D-31FD-45A624283B82}"/>
              </a:ext>
            </a:extLst>
          </p:cNvPr>
          <p:cNvGrpSpPr/>
          <p:nvPr/>
        </p:nvGrpSpPr>
        <p:grpSpPr>
          <a:xfrm>
            <a:off x="10250239" y="4239349"/>
            <a:ext cx="646204" cy="1018508"/>
            <a:chOff x="10250239" y="4381500"/>
            <a:chExt cx="646204" cy="1018507"/>
          </a:xfrm>
        </p:grpSpPr>
        <p:sp>
          <p:nvSpPr>
            <p:cNvPr id="255" name="文字方塊 254">
              <a:extLst>
                <a:ext uri="{FF2B5EF4-FFF2-40B4-BE49-F238E27FC236}">
                  <a16:creationId xmlns:a16="http://schemas.microsoft.com/office/drawing/2014/main" id="{C1D7883A-3294-D6C6-1EC1-81D4F63270F9}"/>
                </a:ext>
              </a:extLst>
            </p:cNvPr>
            <p:cNvSpPr txBox="1"/>
            <p:nvPr/>
          </p:nvSpPr>
          <p:spPr>
            <a:xfrm>
              <a:off x="10250239" y="4381500"/>
              <a:ext cx="646204" cy="1018507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72000" rIns="0" bIns="0" numCol="1" spcCol="1270" anchor="t" anchorCtr="0">
              <a:noAutofit/>
            </a:bodyPr>
            <a:lstStyle>
              <a:defPPr>
                <a:defRPr lang="zh-TW"/>
              </a:defPPr>
              <a:lvl1pPr algn="ctr" defTabSz="622300">
                <a:spcBef>
                  <a:spcPct val="0"/>
                </a:spcBef>
                <a:defRPr sz="1050" b="1"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2pPr>
              <a:lvl3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3pPr>
              <a:lvl4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4pPr>
              <a:lvl5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5pPr>
              <a:lvl6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6pPr>
              <a:lvl7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7pPr>
              <a:lvl8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8pPr>
              <a:lvl9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9pPr>
            </a:lstStyle>
            <a:p>
              <a:pPr algn="ctr"/>
              <a:r>
                <a:rPr lang="zh-TW" altLang="en-US" sz="1800" b="1" kern="1200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組裝</a:t>
              </a:r>
            </a:p>
          </p:txBody>
        </p:sp>
        <p:pic>
          <p:nvPicPr>
            <p:cNvPr id="256" name="Picture 2" descr="Jigsaw Puzzle Pieces Silhouette Transparent Background, Jigsaw Puzzle Icon  Web Assemble, Clean, Concept, Consultant PNG Image For Free Download">
              <a:extLst>
                <a:ext uri="{FF2B5EF4-FFF2-40B4-BE49-F238E27FC236}">
                  <a16:creationId xmlns:a16="http://schemas.microsoft.com/office/drawing/2014/main" id="{669B0CF1-6EEE-2A6D-8E04-9B49B88277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29" t="34338" r="17592" b="35465"/>
            <a:stretch/>
          </p:blipFill>
          <p:spPr bwMode="auto">
            <a:xfrm>
              <a:off x="10302754" y="5009586"/>
              <a:ext cx="541173" cy="242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5" name="群組 324">
            <a:extLst>
              <a:ext uri="{FF2B5EF4-FFF2-40B4-BE49-F238E27FC236}">
                <a16:creationId xmlns:a16="http://schemas.microsoft.com/office/drawing/2014/main" id="{70BB6B70-B156-A607-07A5-383205FE51B6}"/>
              </a:ext>
            </a:extLst>
          </p:cNvPr>
          <p:cNvGrpSpPr/>
          <p:nvPr/>
        </p:nvGrpSpPr>
        <p:grpSpPr>
          <a:xfrm>
            <a:off x="11435226" y="2993584"/>
            <a:ext cx="646204" cy="2264273"/>
            <a:chOff x="11435226" y="3135734"/>
            <a:chExt cx="646204" cy="2264273"/>
          </a:xfrm>
        </p:grpSpPr>
        <p:sp>
          <p:nvSpPr>
            <p:cNvPr id="246" name="文字方塊 245">
              <a:extLst>
                <a:ext uri="{FF2B5EF4-FFF2-40B4-BE49-F238E27FC236}">
                  <a16:creationId xmlns:a16="http://schemas.microsoft.com/office/drawing/2014/main" id="{C569F470-ACFC-622E-4600-BEDF93E83832}"/>
                </a:ext>
              </a:extLst>
            </p:cNvPr>
            <p:cNvSpPr txBox="1"/>
            <p:nvPr/>
          </p:nvSpPr>
          <p:spPr>
            <a:xfrm>
              <a:off x="11435226" y="3135734"/>
              <a:ext cx="646204" cy="2264273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72000" rIns="0" bIns="0" numCol="1" spcCol="1270" anchor="t" anchorCtr="0">
              <a:noAutofit/>
            </a:bodyPr>
            <a:lstStyle>
              <a:defPPr>
                <a:defRPr lang="zh-TW"/>
              </a:defPPr>
              <a:lvl1pPr algn="ctr" defTabSz="622300">
                <a:spcBef>
                  <a:spcPct val="0"/>
                </a:spcBef>
                <a:defRPr sz="1050" b="1"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2pPr>
              <a:lvl3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3pPr>
              <a:lvl4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4pPr>
              <a:lvl5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5pPr>
              <a:lvl6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6pPr>
              <a:lvl7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7pPr>
              <a:lvl8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8pPr>
              <a:lvl9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9pPr>
            </a:lstStyle>
            <a:p>
              <a:pPr algn="ctr"/>
              <a:r>
                <a:rPr lang="zh-TW" altLang="en-US" sz="2400" b="1" kern="1200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出貨</a:t>
              </a:r>
            </a:p>
          </p:txBody>
        </p:sp>
        <p:pic>
          <p:nvPicPr>
            <p:cNvPr id="257" name="圖形 256" descr="紙箱 外框">
              <a:extLst>
                <a:ext uri="{FF2B5EF4-FFF2-40B4-BE49-F238E27FC236}">
                  <a16:creationId xmlns:a16="http://schemas.microsoft.com/office/drawing/2014/main" id="{B24B6081-582A-E135-CFAD-D5C6A0A4A7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556914" y="4892099"/>
              <a:ext cx="434612" cy="434612"/>
            </a:xfrm>
            <a:prstGeom prst="rect">
              <a:avLst/>
            </a:prstGeom>
          </p:spPr>
        </p:pic>
      </p:grpSp>
      <p:cxnSp>
        <p:nvCxnSpPr>
          <p:cNvPr id="259" name="接點: 弧形 477">
            <a:extLst>
              <a:ext uri="{FF2B5EF4-FFF2-40B4-BE49-F238E27FC236}">
                <a16:creationId xmlns:a16="http://schemas.microsoft.com/office/drawing/2014/main" id="{50A8DC05-8B45-0BCA-58EF-BF45BEB2815F}"/>
              </a:ext>
            </a:extLst>
          </p:cNvPr>
          <p:cNvCxnSpPr>
            <a:cxnSpLocks/>
            <a:stCxn id="251" idx="1"/>
            <a:endCxn id="272" idx="3"/>
          </p:cNvCxnSpPr>
          <p:nvPr/>
        </p:nvCxnSpPr>
        <p:spPr>
          <a:xfrm flipH="1" flipV="1">
            <a:off x="9105583" y="4125720"/>
            <a:ext cx="234604" cy="1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接點: 弧形 259">
            <a:extLst>
              <a:ext uri="{FF2B5EF4-FFF2-40B4-BE49-F238E27FC236}">
                <a16:creationId xmlns:a16="http://schemas.microsoft.com/office/drawing/2014/main" id="{F75AD44E-56A9-24EB-E873-688BB3D72782}"/>
              </a:ext>
            </a:extLst>
          </p:cNvPr>
          <p:cNvCxnSpPr>
            <a:cxnSpLocks/>
            <a:stCxn id="253" idx="1"/>
            <a:endCxn id="251" idx="3"/>
          </p:cNvCxnSpPr>
          <p:nvPr/>
        </p:nvCxnSpPr>
        <p:spPr>
          <a:xfrm rot="10800000" flipV="1">
            <a:off x="9986391" y="3502837"/>
            <a:ext cx="263848" cy="622883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文字方塊 268">
            <a:extLst>
              <a:ext uri="{FF2B5EF4-FFF2-40B4-BE49-F238E27FC236}">
                <a16:creationId xmlns:a16="http://schemas.microsoft.com/office/drawing/2014/main" id="{EA9BC2FD-57BE-9F67-79AF-41236B9DD746}"/>
              </a:ext>
            </a:extLst>
          </p:cNvPr>
          <p:cNvSpPr txBox="1"/>
          <p:nvPr/>
        </p:nvSpPr>
        <p:spPr>
          <a:xfrm>
            <a:off x="2216747" y="2993584"/>
            <a:ext cx="1816411" cy="2264273"/>
          </a:xfrm>
          <a:prstGeom prst="roundRect">
            <a:avLst>
              <a:gd name="adj" fmla="val 7669"/>
            </a:avLst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800" dirty="0">
                <a:solidFill>
                  <a:srgbClr val="C00000"/>
                </a:solidFill>
              </a:rPr>
              <a:t>PADS Professional</a:t>
            </a:r>
          </a:p>
          <a:p>
            <a:r>
              <a:rPr lang="en-US" altLang="zh-TW" sz="1800" dirty="0">
                <a:solidFill>
                  <a:srgbClr val="C00000"/>
                </a:solidFill>
              </a:rPr>
              <a:t>Xpedition</a:t>
            </a:r>
          </a:p>
          <a:p>
            <a:r>
              <a:rPr lang="en-US" altLang="zh-TW" sz="1600" dirty="0">
                <a:solidFill>
                  <a:schemeClr val="accent1"/>
                </a:solidFill>
              </a:rPr>
              <a:t>PCB</a:t>
            </a:r>
            <a:r>
              <a:rPr lang="zh-TW" altLang="en-US" sz="1600" dirty="0">
                <a:solidFill>
                  <a:schemeClr val="accent1"/>
                </a:solidFill>
              </a:rPr>
              <a:t>設計與</a:t>
            </a:r>
            <a:r>
              <a:rPr lang="en-US" altLang="zh-TW" sz="1600" dirty="0">
                <a:solidFill>
                  <a:schemeClr val="accent1"/>
                </a:solidFill>
              </a:rPr>
              <a:t>Layout</a:t>
            </a:r>
            <a:endParaRPr lang="zh-TW" altLang="en-US" sz="1600" dirty="0">
              <a:solidFill>
                <a:schemeClr val="accent1"/>
              </a:solidFill>
            </a:endParaRPr>
          </a:p>
        </p:txBody>
      </p:sp>
      <p:sp>
        <p:nvSpPr>
          <p:cNvPr id="270" name="文字方塊 269">
            <a:extLst>
              <a:ext uri="{FF2B5EF4-FFF2-40B4-BE49-F238E27FC236}">
                <a16:creationId xmlns:a16="http://schemas.microsoft.com/office/drawing/2014/main" id="{A35640DE-E80B-4B98-EB59-36D08E06DE1D}"/>
              </a:ext>
            </a:extLst>
          </p:cNvPr>
          <p:cNvSpPr txBox="1"/>
          <p:nvPr/>
        </p:nvSpPr>
        <p:spPr>
          <a:xfrm>
            <a:off x="6096000" y="2461998"/>
            <a:ext cx="1551714" cy="1663721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4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Valor NPI</a:t>
            </a:r>
          </a:p>
          <a:p>
            <a:r>
              <a:rPr lang="zh-TW" altLang="en-US" sz="1200" dirty="0">
                <a:solidFill>
                  <a:schemeClr val="accent1"/>
                </a:solidFill>
              </a:rPr>
              <a:t>高階</a:t>
            </a:r>
            <a:r>
              <a:rPr lang="en-US" altLang="zh-TW" sz="1200" dirty="0">
                <a:solidFill>
                  <a:schemeClr val="accent1"/>
                </a:solidFill>
              </a:rPr>
              <a:t>PCB</a:t>
            </a:r>
            <a:r>
              <a:rPr lang="zh-TW" altLang="en-US" sz="1200" dirty="0">
                <a:solidFill>
                  <a:schemeClr val="accent1"/>
                </a:solidFill>
              </a:rPr>
              <a:t>設計審核</a:t>
            </a:r>
            <a:endParaRPr lang="en-US" altLang="zh-TW" sz="1200" dirty="0">
              <a:solidFill>
                <a:schemeClr val="accent1"/>
              </a:solidFill>
            </a:endParaRPr>
          </a:p>
          <a:p>
            <a:r>
              <a:rPr lang="zh-TW" altLang="en-US" sz="1200" dirty="0">
                <a:solidFill>
                  <a:schemeClr val="accent1"/>
                </a:solidFill>
              </a:rPr>
              <a:t>製造可行性驗證</a:t>
            </a:r>
            <a:endParaRPr lang="en-US" altLang="zh-TW" sz="1200" dirty="0">
              <a:solidFill>
                <a:schemeClr val="accent1"/>
              </a:solidFill>
            </a:endParaRPr>
          </a:p>
        </p:txBody>
      </p:sp>
      <p:sp>
        <p:nvSpPr>
          <p:cNvPr id="272" name="文字方塊 271">
            <a:extLst>
              <a:ext uri="{FF2B5EF4-FFF2-40B4-BE49-F238E27FC236}">
                <a16:creationId xmlns:a16="http://schemas.microsoft.com/office/drawing/2014/main" id="{276EF0E4-53BF-608A-9E8A-3C09DB39FCCC}"/>
              </a:ext>
            </a:extLst>
          </p:cNvPr>
          <p:cNvSpPr txBox="1"/>
          <p:nvPr/>
        </p:nvSpPr>
        <p:spPr>
          <a:xfrm>
            <a:off x="8013834" y="2467469"/>
            <a:ext cx="1091749" cy="3316502"/>
          </a:xfrm>
          <a:prstGeom prst="roundRect">
            <a:avLst>
              <a:gd name="adj" fmla="val 12305"/>
            </a:avLst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6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Valor PP</a:t>
            </a:r>
          </a:p>
          <a:p>
            <a:r>
              <a:rPr lang="zh-TW" altLang="en-US" sz="1400" dirty="0">
                <a:solidFill>
                  <a:schemeClr val="accent1"/>
                </a:solidFill>
              </a:rPr>
              <a:t>製程設計</a:t>
            </a:r>
          </a:p>
        </p:txBody>
      </p:sp>
      <p:sp>
        <p:nvSpPr>
          <p:cNvPr id="281" name="文字方塊 280">
            <a:extLst>
              <a:ext uri="{FF2B5EF4-FFF2-40B4-BE49-F238E27FC236}">
                <a16:creationId xmlns:a16="http://schemas.microsoft.com/office/drawing/2014/main" id="{E08471AC-DA8F-CE95-5971-BD0C74A5234F}"/>
              </a:ext>
            </a:extLst>
          </p:cNvPr>
          <p:cNvSpPr txBox="1"/>
          <p:nvPr/>
        </p:nvSpPr>
        <p:spPr>
          <a:xfrm>
            <a:off x="6096000" y="4166276"/>
            <a:ext cx="1551714" cy="1612224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600" dirty="0" err="1">
                <a:solidFill>
                  <a:srgbClr val="C00000"/>
                </a:solidFill>
              </a:rPr>
              <a:t>GerbTooL</a:t>
            </a:r>
            <a:endParaRPr lang="en-US" altLang="zh-TW" sz="1600" dirty="0">
              <a:solidFill>
                <a:srgbClr val="C00000"/>
              </a:solidFill>
            </a:endParaRPr>
          </a:p>
          <a:p>
            <a:r>
              <a:rPr lang="zh-TW" altLang="en-US" sz="1400" dirty="0">
                <a:solidFill>
                  <a:schemeClr val="accent1"/>
                </a:solidFill>
              </a:rPr>
              <a:t>基礎</a:t>
            </a:r>
            <a:r>
              <a:rPr lang="en-US" altLang="zh-TW" sz="1400" dirty="0">
                <a:solidFill>
                  <a:schemeClr val="accent1"/>
                </a:solidFill>
              </a:rPr>
              <a:t>DRC</a:t>
            </a:r>
            <a:r>
              <a:rPr lang="zh-TW" altLang="en-US" sz="1400" dirty="0">
                <a:solidFill>
                  <a:schemeClr val="accent1"/>
                </a:solidFill>
              </a:rPr>
              <a:t>檢查</a:t>
            </a:r>
            <a:endParaRPr lang="en-US" altLang="zh-TW" sz="1400" dirty="0">
              <a:solidFill>
                <a:schemeClr val="accent1"/>
              </a:solidFill>
            </a:endParaRPr>
          </a:p>
        </p:txBody>
      </p:sp>
      <p:cxnSp>
        <p:nvCxnSpPr>
          <p:cNvPr id="298" name="接點: 弧形 297">
            <a:extLst>
              <a:ext uri="{FF2B5EF4-FFF2-40B4-BE49-F238E27FC236}">
                <a16:creationId xmlns:a16="http://schemas.microsoft.com/office/drawing/2014/main" id="{A5A43525-A9B5-AA8C-2E08-931F4F42FF99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4242" y="4956347"/>
            <a:ext cx="137272" cy="1"/>
          </a:xfrm>
          <a:prstGeom prst="curvedConnector3">
            <a:avLst>
              <a:gd name="adj1" fmla="val 50000"/>
            </a:avLst>
          </a:prstGeom>
          <a:ln>
            <a:solidFill>
              <a:srgbClr val="37415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矩形 336">
            <a:extLst>
              <a:ext uri="{FF2B5EF4-FFF2-40B4-BE49-F238E27FC236}">
                <a16:creationId xmlns:a16="http://schemas.microsoft.com/office/drawing/2014/main" id="{48378CAE-3C77-FB8F-7306-C1F78C4EC9A2}"/>
              </a:ext>
            </a:extLst>
          </p:cNvPr>
          <p:cNvSpPr/>
          <p:nvPr/>
        </p:nvSpPr>
        <p:spPr>
          <a:xfrm>
            <a:off x="1093818" y="6383642"/>
            <a:ext cx="10127914" cy="480708"/>
          </a:xfrm>
          <a:prstGeom prst="rect">
            <a:avLst/>
          </a:prstGeom>
          <a:solidFill>
            <a:srgbClr val="2880A1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bIns="108000" rtlCol="0" anchor="b"/>
          <a:lstStyle/>
          <a:p>
            <a:r>
              <a:rPr lang="zh-TW" altLang="en-US" sz="18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機械設計與產品開發</a:t>
            </a:r>
          </a:p>
        </p:txBody>
      </p:sp>
      <p:cxnSp>
        <p:nvCxnSpPr>
          <p:cNvPr id="338" name="接點: 弧形 285">
            <a:extLst>
              <a:ext uri="{FF2B5EF4-FFF2-40B4-BE49-F238E27FC236}">
                <a16:creationId xmlns:a16="http://schemas.microsoft.com/office/drawing/2014/main" id="{736A9411-B5C9-0A0C-441E-FA682391711A}"/>
              </a:ext>
            </a:extLst>
          </p:cNvPr>
          <p:cNvCxnSpPr>
            <a:cxnSpLocks/>
            <a:stCxn id="255" idx="2"/>
          </p:cNvCxnSpPr>
          <p:nvPr/>
        </p:nvCxnSpPr>
        <p:spPr>
          <a:xfrm>
            <a:off x="10573341" y="5257857"/>
            <a:ext cx="0" cy="1568393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接點: 弧形 340">
            <a:extLst>
              <a:ext uri="{FF2B5EF4-FFF2-40B4-BE49-F238E27FC236}">
                <a16:creationId xmlns:a16="http://schemas.microsoft.com/office/drawing/2014/main" id="{6941C29D-5BED-D7D9-7DD1-E2C9877746FE}"/>
              </a:ext>
            </a:extLst>
          </p:cNvPr>
          <p:cNvCxnSpPr>
            <a:cxnSpLocks/>
            <a:stCxn id="243" idx="3"/>
          </p:cNvCxnSpPr>
          <p:nvPr/>
        </p:nvCxnSpPr>
        <p:spPr>
          <a:xfrm>
            <a:off x="970268" y="4125720"/>
            <a:ext cx="325289" cy="2732280"/>
          </a:xfrm>
          <a:prstGeom prst="curvedConnector2">
            <a:avLst/>
          </a:prstGeom>
          <a:ln w="38100">
            <a:solidFill>
              <a:schemeClr val="bg1"/>
            </a:solidFill>
            <a:prstDash val="sysDot"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文字方塊 359">
            <a:extLst>
              <a:ext uri="{FF2B5EF4-FFF2-40B4-BE49-F238E27FC236}">
                <a16:creationId xmlns:a16="http://schemas.microsoft.com/office/drawing/2014/main" id="{BA5A34DF-7F81-771D-F9AC-124160E56B5E}"/>
              </a:ext>
            </a:extLst>
          </p:cNvPr>
          <p:cNvSpPr txBox="1"/>
          <p:nvPr/>
        </p:nvSpPr>
        <p:spPr>
          <a:xfrm>
            <a:off x="4410851" y="2461998"/>
            <a:ext cx="1551714" cy="3316498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20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HyperLynx</a:t>
            </a:r>
          </a:p>
          <a:p>
            <a:r>
              <a:rPr lang="zh-TW" altLang="en-US" sz="1800" dirty="0">
                <a:solidFill>
                  <a:schemeClr val="accent1"/>
                </a:solidFill>
              </a:rPr>
              <a:t>電氣特性</a:t>
            </a:r>
            <a:endParaRPr lang="en-US" altLang="zh-TW" sz="1800" dirty="0">
              <a:solidFill>
                <a:schemeClr val="accent1"/>
              </a:solidFill>
            </a:endParaRPr>
          </a:p>
          <a:p>
            <a:r>
              <a:rPr lang="zh-TW" altLang="en-US" sz="1800" dirty="0">
                <a:solidFill>
                  <a:schemeClr val="accent1"/>
                </a:solidFill>
              </a:rPr>
              <a:t>驗証模擬</a:t>
            </a:r>
          </a:p>
        </p:txBody>
      </p:sp>
    </p:spTree>
    <p:extLst>
      <p:ext uri="{BB962C8B-B14F-4D97-AF65-F5344CB8AC3E}">
        <p14:creationId xmlns:p14="http://schemas.microsoft.com/office/powerpoint/2010/main" val="2290625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9DE0-801D-7C25-AC26-9AC2CF8E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84A79C4-04F4-B8C2-1D4F-924B0F9A7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750255"/>
              </p:ext>
            </p:extLst>
          </p:nvPr>
        </p:nvGraphicFramePr>
        <p:xfrm>
          <a:off x="0" y="674725"/>
          <a:ext cx="12196800" cy="4589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220">
                  <a:extLst>
                    <a:ext uri="{9D8B030D-6E8A-4147-A177-3AD203B41FA5}">
                      <a16:colId xmlns:a16="http://schemas.microsoft.com/office/drawing/2014/main" val="3579286966"/>
                    </a:ext>
                  </a:extLst>
                </a:gridCol>
                <a:gridCol w="2682384">
                  <a:extLst>
                    <a:ext uri="{9D8B030D-6E8A-4147-A177-3AD203B41FA5}">
                      <a16:colId xmlns:a16="http://schemas.microsoft.com/office/drawing/2014/main" val="4097209183"/>
                    </a:ext>
                  </a:extLst>
                </a:gridCol>
                <a:gridCol w="3976777">
                  <a:extLst>
                    <a:ext uri="{9D8B030D-6E8A-4147-A177-3AD203B41FA5}">
                      <a16:colId xmlns:a16="http://schemas.microsoft.com/office/drawing/2014/main" val="3055200445"/>
                    </a:ext>
                  </a:extLst>
                </a:gridCol>
                <a:gridCol w="1846053">
                  <a:extLst>
                    <a:ext uri="{9D8B030D-6E8A-4147-A177-3AD203B41FA5}">
                      <a16:colId xmlns:a16="http://schemas.microsoft.com/office/drawing/2014/main" val="719720565"/>
                    </a:ext>
                  </a:extLst>
                </a:gridCol>
                <a:gridCol w="1931366">
                  <a:extLst>
                    <a:ext uri="{9D8B030D-6E8A-4147-A177-3AD203B41FA5}">
                      <a16:colId xmlns:a16="http://schemas.microsoft.com/office/drawing/2014/main" val="1912016547"/>
                    </a:ext>
                  </a:extLst>
                </a:gridCol>
              </a:tblGrid>
              <a:tr h="28280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專案發起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設計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設計驗証與模擬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製造驗証與生產準備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協同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823"/>
                  </a:ext>
                </a:extLst>
              </a:tr>
              <a:tr h="4284408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27877"/>
                  </a:ext>
                </a:extLst>
              </a:tr>
            </a:tbl>
          </a:graphicData>
        </a:graphic>
      </p:graphicFrame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53039813-85D5-D647-8849-92BD8191C0FF}"/>
              </a:ext>
            </a:extLst>
          </p:cNvPr>
          <p:cNvSpPr/>
          <p:nvPr/>
        </p:nvSpPr>
        <p:spPr>
          <a:xfrm>
            <a:off x="4103583" y="5017710"/>
            <a:ext cx="631264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6DA922-7D27-65BE-68CB-76C9FB9EB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7" y="5130980"/>
            <a:ext cx="1703331" cy="1705959"/>
          </a:xfrm>
          <a:prstGeom prst="rect">
            <a:avLst/>
          </a:prstGeom>
        </p:spPr>
      </p:pic>
      <p:sp>
        <p:nvSpPr>
          <p:cNvPr id="155" name="矩形: 圓角 154">
            <a:extLst>
              <a:ext uri="{FF2B5EF4-FFF2-40B4-BE49-F238E27FC236}">
                <a16:creationId xmlns:a16="http://schemas.microsoft.com/office/drawing/2014/main" id="{70C1B8C5-6805-A6AB-47A4-401CD7BDFF23}"/>
              </a:ext>
            </a:extLst>
          </p:cNvPr>
          <p:cNvSpPr/>
          <p:nvPr/>
        </p:nvSpPr>
        <p:spPr>
          <a:xfrm>
            <a:off x="8499635" y="1169448"/>
            <a:ext cx="1657592" cy="1177211"/>
          </a:xfrm>
          <a:prstGeom prst="roundRect">
            <a:avLst>
              <a:gd name="adj" fmla="val 9499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DFM</a:t>
            </a:r>
          </a:p>
          <a:p>
            <a:pPr algn="ctr" defTabSz="622300">
              <a:spcBef>
                <a:spcPct val="0"/>
              </a:spcBef>
            </a:pP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Valor NPI</a:t>
            </a:r>
          </a:p>
          <a:p>
            <a:pPr algn="ctr" defTabSz="622300">
              <a:spcBef>
                <a:spcPct val="0"/>
              </a:spcBef>
            </a:pPr>
            <a:endParaRPr lang="it-IT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檢查設計可製造性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確保符合製造需求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降低生產問題與成本</a:t>
            </a:r>
          </a:p>
        </p:txBody>
      </p:sp>
      <p:sp>
        <p:nvSpPr>
          <p:cNvPr id="156" name="矩形: 圓角 155">
            <a:extLst>
              <a:ext uri="{FF2B5EF4-FFF2-40B4-BE49-F238E27FC236}">
                <a16:creationId xmlns:a16="http://schemas.microsoft.com/office/drawing/2014/main" id="{DE26921A-C6A5-35E8-9E1E-939F7390037F}"/>
              </a:ext>
            </a:extLst>
          </p:cNvPr>
          <p:cNvSpPr/>
          <p:nvPr/>
        </p:nvSpPr>
        <p:spPr>
          <a:xfrm>
            <a:off x="1956229" y="1007507"/>
            <a:ext cx="1912954" cy="1394307"/>
          </a:xfrm>
          <a:prstGeom prst="roundRect">
            <a:avLst>
              <a:gd name="adj" fmla="val 6232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Concurrent Design Enter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PADS /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Xpedition Designer</a:t>
            </a:r>
          </a:p>
          <a:p>
            <a:pPr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設計與繪製原理圖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確保元件選擇與連接準確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r>
              <a: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佈局基礎</a:t>
            </a:r>
          </a:p>
        </p:txBody>
      </p:sp>
      <p:sp>
        <p:nvSpPr>
          <p:cNvPr id="162" name="矩形: 圓角 161">
            <a:extLst>
              <a:ext uri="{FF2B5EF4-FFF2-40B4-BE49-F238E27FC236}">
                <a16:creationId xmlns:a16="http://schemas.microsoft.com/office/drawing/2014/main" id="{20B9F4E4-58C5-528E-CFF2-889E5CA45A6F}"/>
              </a:ext>
            </a:extLst>
          </p:cNvPr>
          <p:cNvSpPr/>
          <p:nvPr/>
        </p:nvSpPr>
        <p:spPr>
          <a:xfrm>
            <a:off x="6482410" y="1948894"/>
            <a:ext cx="1781698" cy="1635605"/>
          </a:xfrm>
          <a:prstGeom prst="roundRect">
            <a:avLst>
              <a:gd name="adj" fmla="val 6206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000" tIns="71631" rIns="36000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Simulation</a:t>
            </a:r>
          </a:p>
          <a:p>
            <a:pPr algn="ctr" defTabSz="622300">
              <a:spcBef>
                <a:spcPct val="0"/>
              </a:spcBef>
            </a:pP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HyperLynx</a:t>
            </a: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DRC / </a:t>
            </a: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SI/PI/AMS/Thermal</a:t>
            </a:r>
          </a:p>
          <a:p>
            <a:pPr algn="ctr" defTabSz="622300">
              <a:spcBef>
                <a:spcPct val="0"/>
              </a:spcBef>
            </a:pPr>
            <a:endParaRPr lang="it-IT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模擬信號與電源完整性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提前發現設計問題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優化性能提升可靠性</a:t>
            </a:r>
            <a:endParaRPr lang="it-IT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4" name="矩形: 圓角 163">
            <a:extLst>
              <a:ext uri="{FF2B5EF4-FFF2-40B4-BE49-F238E27FC236}">
                <a16:creationId xmlns:a16="http://schemas.microsoft.com/office/drawing/2014/main" id="{B1752F54-C76E-126B-BE01-346F0FD10294}"/>
              </a:ext>
            </a:extLst>
          </p:cNvPr>
          <p:cNvSpPr/>
          <p:nvPr/>
        </p:nvSpPr>
        <p:spPr>
          <a:xfrm>
            <a:off x="4550136" y="1005478"/>
            <a:ext cx="1804771" cy="1359890"/>
          </a:xfrm>
          <a:prstGeom prst="roundRect">
            <a:avLst>
              <a:gd name="adj" fmla="val 4923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Verification</a:t>
            </a:r>
          </a:p>
          <a:p>
            <a:pPr algn="ctr"/>
            <a:r>
              <a:rPr lang="en-US" altLang="zh-TW" sz="1050" b="1" dirty="0" err="1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HyperLynx</a:t>
            </a: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Schematic Analysis </a:t>
            </a:r>
          </a:p>
          <a:p>
            <a:pPr algn="ctr"/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驗證原理圖電氣連接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檢查元件規格與設計錯誤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確保設計準確符合規範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5" name="矩形: 圓角 164">
            <a:extLst>
              <a:ext uri="{FF2B5EF4-FFF2-40B4-BE49-F238E27FC236}">
                <a16:creationId xmlns:a16="http://schemas.microsoft.com/office/drawing/2014/main" id="{CE9C1DF2-5A13-B520-984F-EC26D6B013ED}"/>
              </a:ext>
            </a:extLst>
          </p:cNvPr>
          <p:cNvSpPr/>
          <p:nvPr/>
        </p:nvSpPr>
        <p:spPr>
          <a:xfrm>
            <a:off x="6723061" y="5357727"/>
            <a:ext cx="1944660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/>
          <a:p>
            <a:pPr lvl="0"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約束定義和檢查</a:t>
            </a:r>
            <a:endParaRPr lang="en-US" altLang="zh-TW" sz="105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en-US" altLang="en-US" sz="1050" b="1" kern="12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Constraint Manager</a:t>
            </a:r>
          </a:p>
          <a:p>
            <a:pPr lvl="0"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設置設計規則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自動檢查設計錯誤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確保符合電氣與製造要求</a:t>
            </a:r>
          </a:p>
        </p:txBody>
      </p:sp>
      <p:sp>
        <p:nvSpPr>
          <p:cNvPr id="166" name="矩形: 圓角 165">
            <a:extLst>
              <a:ext uri="{FF2B5EF4-FFF2-40B4-BE49-F238E27FC236}">
                <a16:creationId xmlns:a16="http://schemas.microsoft.com/office/drawing/2014/main" id="{051D65B1-3298-5495-C6BB-622F84F3807D}"/>
              </a:ext>
            </a:extLst>
          </p:cNvPr>
          <p:cNvSpPr/>
          <p:nvPr/>
        </p:nvSpPr>
        <p:spPr>
          <a:xfrm>
            <a:off x="1956229" y="5357727"/>
            <a:ext cx="2779236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TEAMCENTER PLM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Library/ECAD-BOM</a:t>
            </a:r>
          </a:p>
          <a:p>
            <a:pPr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電子料件管理 </a:t>
            </a:r>
            <a:r>
              <a: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 BOM</a:t>
            </a: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確保標準化與版本控制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支持資料交換</a:t>
            </a:r>
          </a:p>
        </p:txBody>
      </p:sp>
      <p:sp>
        <p:nvSpPr>
          <p:cNvPr id="167" name="矩形: 圓角 166">
            <a:extLst>
              <a:ext uri="{FF2B5EF4-FFF2-40B4-BE49-F238E27FC236}">
                <a16:creationId xmlns:a16="http://schemas.microsoft.com/office/drawing/2014/main" id="{1E171611-FA78-63B1-7323-43789A85BC35}"/>
              </a:ext>
            </a:extLst>
          </p:cNvPr>
          <p:cNvSpPr/>
          <p:nvPr/>
        </p:nvSpPr>
        <p:spPr>
          <a:xfrm>
            <a:off x="8689188" y="5357727"/>
            <a:ext cx="1511722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Customization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Automation</a:t>
            </a:r>
          </a:p>
          <a:p>
            <a:pPr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自動化設計流程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客製化腳本與工具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提高效率與精度</a:t>
            </a:r>
          </a:p>
        </p:txBody>
      </p:sp>
      <p:sp>
        <p:nvSpPr>
          <p:cNvPr id="173" name="矩形: 圓角 172">
            <a:extLst>
              <a:ext uri="{FF2B5EF4-FFF2-40B4-BE49-F238E27FC236}">
                <a16:creationId xmlns:a16="http://schemas.microsoft.com/office/drawing/2014/main" id="{F751215E-C178-0FC3-307B-324E190415CC}"/>
              </a:ext>
            </a:extLst>
          </p:cNvPr>
          <p:cNvSpPr/>
          <p:nvPr/>
        </p:nvSpPr>
        <p:spPr>
          <a:xfrm>
            <a:off x="2429579" y="2787114"/>
            <a:ext cx="1815134" cy="2450193"/>
          </a:xfrm>
          <a:prstGeom prst="roundRect">
            <a:avLst>
              <a:gd name="adj" fmla="val 3231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Concurrent PCB Layout</a:t>
            </a:r>
          </a:p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PADS / Xpedition PCB</a:t>
            </a:r>
          </a:p>
          <a:p>
            <a:pPr algn="ctr"/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原理圖轉換為</a:t>
            </a:r>
            <a:r>
              <a: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佈局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完成元件放置與走線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確保電氣性能與可製造性</a:t>
            </a:r>
          </a:p>
        </p:txBody>
      </p:sp>
      <p:sp>
        <p:nvSpPr>
          <p:cNvPr id="174" name="矩形: 圓角 173">
            <a:extLst>
              <a:ext uri="{FF2B5EF4-FFF2-40B4-BE49-F238E27FC236}">
                <a16:creationId xmlns:a16="http://schemas.microsoft.com/office/drawing/2014/main" id="{FD4E3229-F83A-17A8-1B59-3488359DA806}"/>
              </a:ext>
            </a:extLst>
          </p:cNvPr>
          <p:cNvSpPr/>
          <p:nvPr/>
        </p:nvSpPr>
        <p:spPr>
          <a:xfrm>
            <a:off x="10437693" y="4512809"/>
            <a:ext cx="1647767" cy="618171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ctr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ECAD/ MCAD </a:t>
            </a: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協作</a:t>
            </a:r>
          </a:p>
        </p:txBody>
      </p:sp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C19A8B1C-0797-33A1-A0D1-A35B2E660D76}"/>
              </a:ext>
            </a:extLst>
          </p:cNvPr>
          <p:cNvSpPr/>
          <p:nvPr/>
        </p:nvSpPr>
        <p:spPr>
          <a:xfrm>
            <a:off x="10437693" y="5174026"/>
            <a:ext cx="1647767" cy="6181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ctr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Siemens NX</a:t>
            </a:r>
          </a:p>
        </p:txBody>
      </p:sp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29E75682-2FDD-73E8-29B7-61E962ECB8BD}"/>
              </a:ext>
            </a:extLst>
          </p:cNvPr>
          <p:cNvSpPr/>
          <p:nvPr/>
        </p:nvSpPr>
        <p:spPr>
          <a:xfrm>
            <a:off x="8499635" y="3870792"/>
            <a:ext cx="1657592" cy="1155553"/>
          </a:xfrm>
          <a:prstGeom prst="roundRect">
            <a:avLst>
              <a:gd name="adj" fmla="val 7981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MFG Data Generation</a:t>
            </a:r>
          </a:p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Valor PP</a:t>
            </a:r>
          </a:p>
          <a:p>
            <a:pPr algn="ctr"/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生成製造數據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確保符合製造標準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支持快速投產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17FD1AEB-320B-376D-F570-AA09D6A83999}"/>
              </a:ext>
            </a:extLst>
          </p:cNvPr>
          <p:cNvGrpSpPr/>
          <p:nvPr/>
        </p:nvGrpSpPr>
        <p:grpSpPr>
          <a:xfrm>
            <a:off x="105236" y="1015821"/>
            <a:ext cx="1460407" cy="1992443"/>
            <a:chOff x="254093" y="2460495"/>
            <a:chExt cx="1460407" cy="1992443"/>
          </a:xfrm>
        </p:grpSpPr>
        <p:sp>
          <p:nvSpPr>
            <p:cNvPr id="176" name="矩形: 圓角 175">
              <a:extLst>
                <a:ext uri="{FF2B5EF4-FFF2-40B4-BE49-F238E27FC236}">
                  <a16:creationId xmlns:a16="http://schemas.microsoft.com/office/drawing/2014/main" id="{8C6BB7F6-E333-4808-B947-5F16E38949A0}"/>
                </a:ext>
              </a:extLst>
            </p:cNvPr>
            <p:cNvSpPr/>
            <p:nvPr/>
          </p:nvSpPr>
          <p:spPr>
            <a:xfrm>
              <a:off x="254093" y="2460495"/>
              <a:ext cx="1460407" cy="1992443"/>
            </a:xfrm>
            <a:prstGeom prst="roundRect">
              <a:avLst>
                <a:gd name="adj" fmla="val 6479"/>
              </a:avLst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1631" tIns="71631" rIns="71631" bIns="71631" numCol="1" spcCol="1270" anchor="t" anchorCtr="0">
              <a:noAutofit/>
            </a:bodyPr>
            <a:lstStyle/>
            <a:p>
              <a:pPr algn="ctr" defTabSz="622300">
                <a:spcBef>
                  <a:spcPct val="0"/>
                </a:spcBef>
              </a:pPr>
              <a:r>
                <a:rPr lang="zh-TW" altLang="en-US" sz="1050" b="1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系統設計師</a:t>
              </a:r>
              <a:endPara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 defTabSz="622300">
                <a:spcBef>
                  <a:spcPct val="0"/>
                </a:spcBef>
              </a:pPr>
              <a:r>
                <a:rPr lang="en-US" altLang="zh-TW" sz="1050" b="1" dirty="0">
                  <a:solidFill>
                    <a:schemeClr val="accen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System Designer</a:t>
              </a:r>
            </a:p>
            <a:p>
              <a:pPr algn="ctr" defTabSz="622300">
                <a:spcBef>
                  <a:spcPct val="0"/>
                </a:spcBef>
              </a:pPr>
              <a:endPara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defRPr/>
              </a:pPr>
              <a:r>
                <a:rPr lang="zh-TW" altLang="en-US" sz="1200" spc="-50" dirty="0">
                  <a:solidFill>
                    <a:srgbClr val="E8E8E8">
                      <a:lumMod val="25000"/>
                    </a:srgb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進行系統前期規劃</a:t>
              </a:r>
              <a:endPara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defRPr/>
              </a:pPr>
              <a:r>
                <a:rPr lang="zh-TW" altLang="en-US" sz="1200" spc="-50" dirty="0">
                  <a:solidFill>
                    <a:srgbClr val="E8E8E8">
                      <a:lumMod val="25000"/>
                    </a:srgb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確保設計同步進行</a:t>
              </a:r>
            </a:p>
          </p:txBody>
        </p:sp>
        <p:grpSp>
          <p:nvGrpSpPr>
            <p:cNvPr id="189" name="群組 188">
              <a:extLst>
                <a:ext uri="{FF2B5EF4-FFF2-40B4-BE49-F238E27FC236}">
                  <a16:creationId xmlns:a16="http://schemas.microsoft.com/office/drawing/2014/main" id="{352E131C-D093-8671-66D2-6864B018B56E}"/>
                </a:ext>
              </a:extLst>
            </p:cNvPr>
            <p:cNvGrpSpPr/>
            <p:nvPr/>
          </p:nvGrpSpPr>
          <p:grpSpPr>
            <a:xfrm>
              <a:off x="353968" y="3574906"/>
              <a:ext cx="1260656" cy="756473"/>
              <a:chOff x="3665776" y="2106154"/>
              <a:chExt cx="5417264" cy="325070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90" name="直線接點 189">
                <a:extLst>
                  <a:ext uri="{FF2B5EF4-FFF2-40B4-BE49-F238E27FC236}">
                    <a16:creationId xmlns:a16="http://schemas.microsoft.com/office/drawing/2014/main" id="{21DAD3B7-383B-17B2-5766-C335702B1231}"/>
                  </a:ext>
                </a:extLst>
              </p:cNvPr>
              <p:cNvCxnSpPr>
                <a:stCxn id="192" idx="2"/>
                <a:endCxn id="201" idx="0"/>
              </p:cNvCxnSpPr>
              <p:nvPr/>
            </p:nvCxnSpPr>
            <p:spPr>
              <a:xfrm flipH="1">
                <a:off x="6431002" y="2331580"/>
                <a:ext cx="4" cy="281837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1" name="直線接點 190">
                <a:extLst>
                  <a:ext uri="{FF2B5EF4-FFF2-40B4-BE49-F238E27FC236}">
                    <a16:creationId xmlns:a16="http://schemas.microsoft.com/office/drawing/2014/main" id="{FF73C95D-F7D2-7DD0-2536-5E729BCBAD14}"/>
                  </a:ext>
                </a:extLst>
              </p:cNvPr>
              <p:cNvCxnSpPr>
                <a:stCxn id="197" idx="3"/>
                <a:endCxn id="194" idx="1"/>
              </p:cNvCxnSpPr>
              <p:nvPr/>
            </p:nvCxnSpPr>
            <p:spPr>
              <a:xfrm>
                <a:off x="4779407" y="3451860"/>
                <a:ext cx="3190002" cy="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9D950062-8F57-8948-37AE-F5337560E27A}"/>
                  </a:ext>
                </a:extLst>
              </p:cNvPr>
              <p:cNvSpPr/>
              <p:nvPr/>
            </p:nvSpPr>
            <p:spPr>
              <a:xfrm>
                <a:off x="5665829" y="2106154"/>
                <a:ext cx="1530350" cy="2254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id="{A138579A-FDE0-03F9-86AF-928B0C7C24D2}"/>
                  </a:ext>
                </a:extLst>
              </p:cNvPr>
              <p:cNvSpPr/>
              <p:nvPr/>
            </p:nvSpPr>
            <p:spPr>
              <a:xfrm>
                <a:off x="7672229" y="2535897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B7ED175C-58C5-DC81-BC82-84C37BB047AF}"/>
                  </a:ext>
                </a:extLst>
              </p:cNvPr>
              <p:cNvSpPr/>
              <p:nvPr/>
            </p:nvSpPr>
            <p:spPr>
              <a:xfrm>
                <a:off x="7969409" y="3315335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39BB9C94-87BE-DBB7-9BE8-B15A4DB90EA3}"/>
                  </a:ext>
                </a:extLst>
              </p:cNvPr>
              <p:cNvSpPr/>
              <p:nvPr/>
            </p:nvSpPr>
            <p:spPr>
              <a:xfrm>
                <a:off x="7679849" y="4114850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047E8406-F27F-3438-EDDE-6C0C123CEDFA}"/>
                  </a:ext>
                </a:extLst>
              </p:cNvPr>
              <p:cNvSpPr/>
              <p:nvPr/>
            </p:nvSpPr>
            <p:spPr>
              <a:xfrm>
                <a:off x="3932481" y="2535897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3BFDB730-B4C0-41AC-5A35-5D8C619B5955}"/>
                  </a:ext>
                </a:extLst>
              </p:cNvPr>
              <p:cNvSpPr/>
              <p:nvPr/>
            </p:nvSpPr>
            <p:spPr>
              <a:xfrm>
                <a:off x="3665776" y="3315335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8" name="矩形 197">
                <a:extLst>
                  <a:ext uri="{FF2B5EF4-FFF2-40B4-BE49-F238E27FC236}">
                    <a16:creationId xmlns:a16="http://schemas.microsoft.com/office/drawing/2014/main" id="{30BACDE2-81ED-EF52-3896-4019F82ACE24}"/>
                  </a:ext>
                </a:extLst>
              </p:cNvPr>
              <p:cNvSpPr/>
              <p:nvPr/>
            </p:nvSpPr>
            <p:spPr>
              <a:xfrm>
                <a:off x="4113689" y="4114850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41CACE85-326C-A4B5-5221-EA5A0EDEF779}"/>
                  </a:ext>
                </a:extLst>
              </p:cNvPr>
              <p:cNvSpPr/>
              <p:nvPr/>
            </p:nvSpPr>
            <p:spPr>
              <a:xfrm>
                <a:off x="5654397" y="2811780"/>
                <a:ext cx="1553210" cy="12420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6A155D1F-3612-4567-71CD-7056AC36C82F}"/>
                  </a:ext>
                </a:extLst>
              </p:cNvPr>
              <p:cNvSpPr/>
              <p:nvPr/>
            </p:nvSpPr>
            <p:spPr>
              <a:xfrm>
                <a:off x="5654397" y="4457700"/>
                <a:ext cx="1553210" cy="39623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1B38F363-0159-6F06-5F47-74799B78D694}"/>
                  </a:ext>
                </a:extLst>
              </p:cNvPr>
              <p:cNvSpPr/>
              <p:nvPr/>
            </p:nvSpPr>
            <p:spPr>
              <a:xfrm>
                <a:off x="5824657" y="5149950"/>
                <a:ext cx="1212691" cy="2069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82E88243-ED41-58FE-1A0E-B11E6219220B}"/>
                  </a:ext>
                </a:extLst>
              </p:cNvPr>
              <p:cNvSpPr/>
              <p:nvPr/>
            </p:nvSpPr>
            <p:spPr>
              <a:xfrm>
                <a:off x="5539184" y="2682874"/>
                <a:ext cx="1783636" cy="228536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03" name="接點: 肘形 202">
                <a:extLst>
                  <a:ext uri="{FF2B5EF4-FFF2-40B4-BE49-F238E27FC236}">
                    <a16:creationId xmlns:a16="http://schemas.microsoft.com/office/drawing/2014/main" id="{F4B76859-C57F-9064-BAB7-500CAAB20EC0}"/>
                  </a:ext>
                </a:extLst>
              </p:cNvPr>
              <p:cNvCxnSpPr>
                <a:stCxn id="196" idx="3"/>
              </p:cNvCxnSpPr>
              <p:nvPr/>
            </p:nvCxnSpPr>
            <p:spPr>
              <a:xfrm>
                <a:off x="5046112" y="2672422"/>
                <a:ext cx="608285" cy="444158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接點: 肘形 203">
                <a:extLst>
                  <a:ext uri="{FF2B5EF4-FFF2-40B4-BE49-F238E27FC236}">
                    <a16:creationId xmlns:a16="http://schemas.microsoft.com/office/drawing/2014/main" id="{E60B5F27-3139-A4E8-603A-661A1B91AB2A}"/>
                  </a:ext>
                </a:extLst>
              </p:cNvPr>
              <p:cNvCxnSpPr>
                <a:stCxn id="198" idx="3"/>
                <a:endCxn id="200" idx="1"/>
              </p:cNvCxnSpPr>
              <p:nvPr/>
            </p:nvCxnSpPr>
            <p:spPr>
              <a:xfrm>
                <a:off x="5227320" y="4251375"/>
                <a:ext cx="427077" cy="404445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接點: 肘形 204">
                <a:extLst>
                  <a:ext uri="{FF2B5EF4-FFF2-40B4-BE49-F238E27FC236}">
                    <a16:creationId xmlns:a16="http://schemas.microsoft.com/office/drawing/2014/main" id="{64A9FDAF-FFDA-95C4-5C41-2E0870F12FE0}"/>
                  </a:ext>
                </a:extLst>
              </p:cNvPr>
              <p:cNvCxnSpPr>
                <a:cxnSpLocks/>
                <a:stCxn id="195" idx="1"/>
                <a:endCxn id="200" idx="3"/>
              </p:cNvCxnSpPr>
              <p:nvPr/>
            </p:nvCxnSpPr>
            <p:spPr>
              <a:xfrm rot="10800000" flipV="1">
                <a:off x="7207607" y="4251374"/>
                <a:ext cx="472242" cy="404445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接點: 肘形 205">
                <a:extLst>
                  <a:ext uri="{FF2B5EF4-FFF2-40B4-BE49-F238E27FC236}">
                    <a16:creationId xmlns:a16="http://schemas.microsoft.com/office/drawing/2014/main" id="{8CBDF652-973D-D09D-C292-97BD8D61D774}"/>
                  </a:ext>
                </a:extLst>
              </p:cNvPr>
              <p:cNvCxnSpPr>
                <a:stCxn id="193" idx="1"/>
              </p:cNvCxnSpPr>
              <p:nvPr/>
            </p:nvCxnSpPr>
            <p:spPr>
              <a:xfrm rot="10800000" flipV="1">
                <a:off x="7207607" y="2672422"/>
                <a:ext cx="464623" cy="444158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箭號: 上-下雙向 5">
            <a:extLst>
              <a:ext uri="{FF2B5EF4-FFF2-40B4-BE49-F238E27FC236}">
                <a16:creationId xmlns:a16="http://schemas.microsoft.com/office/drawing/2014/main" id="{C0AC3D80-2B42-7957-4E9B-FAE36579B241}"/>
              </a:ext>
            </a:extLst>
          </p:cNvPr>
          <p:cNvSpPr/>
          <p:nvPr/>
        </p:nvSpPr>
        <p:spPr>
          <a:xfrm>
            <a:off x="2480611" y="2406290"/>
            <a:ext cx="279031" cy="376349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8EDB82C3-F8C1-1330-7A32-F298DBA58023}"/>
              </a:ext>
            </a:extLst>
          </p:cNvPr>
          <p:cNvSpPr/>
          <p:nvPr/>
        </p:nvSpPr>
        <p:spPr>
          <a:xfrm>
            <a:off x="4254004" y="2950343"/>
            <a:ext cx="2206058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箭號: 上-下雙向 10">
            <a:extLst>
              <a:ext uri="{FF2B5EF4-FFF2-40B4-BE49-F238E27FC236}">
                <a16:creationId xmlns:a16="http://schemas.microsoft.com/office/drawing/2014/main" id="{FC57CA9A-831A-B30E-52F9-08C89F194B9A}"/>
              </a:ext>
            </a:extLst>
          </p:cNvPr>
          <p:cNvSpPr/>
          <p:nvPr/>
        </p:nvSpPr>
        <p:spPr>
          <a:xfrm>
            <a:off x="2083699" y="2406289"/>
            <a:ext cx="279031" cy="2951438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箭號: 上-下雙向 11">
            <a:extLst>
              <a:ext uri="{FF2B5EF4-FFF2-40B4-BE49-F238E27FC236}">
                <a16:creationId xmlns:a16="http://schemas.microsoft.com/office/drawing/2014/main" id="{7EFCE680-C708-63BB-D3C5-6D984AC1B1C9}"/>
              </a:ext>
            </a:extLst>
          </p:cNvPr>
          <p:cNvSpPr/>
          <p:nvPr/>
        </p:nvSpPr>
        <p:spPr>
          <a:xfrm>
            <a:off x="2490200" y="4876044"/>
            <a:ext cx="279031" cy="478422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箭號: 上-下雙向 15">
            <a:extLst>
              <a:ext uri="{FF2B5EF4-FFF2-40B4-BE49-F238E27FC236}">
                <a16:creationId xmlns:a16="http://schemas.microsoft.com/office/drawing/2014/main" id="{83ADAFFC-B80E-CB65-F08C-9B7680B5E7F3}"/>
              </a:ext>
            </a:extLst>
          </p:cNvPr>
          <p:cNvSpPr/>
          <p:nvPr/>
        </p:nvSpPr>
        <p:spPr>
          <a:xfrm rot="5400000">
            <a:off x="1621420" y="1484691"/>
            <a:ext cx="279031" cy="390586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標題 1">
            <a:extLst>
              <a:ext uri="{FF2B5EF4-FFF2-40B4-BE49-F238E27FC236}">
                <a16:creationId xmlns:a16="http://schemas.microsoft.com/office/drawing/2014/main" id="{2C99D296-84FA-DE18-94A8-0407A34AF015}"/>
              </a:ext>
            </a:extLst>
          </p:cNvPr>
          <p:cNvSpPr txBox="1">
            <a:spLocks/>
          </p:cNvSpPr>
          <p:nvPr/>
        </p:nvSpPr>
        <p:spPr>
          <a:xfrm>
            <a:off x="838200" y="88522"/>
            <a:ext cx="10515600" cy="6983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en-US" altLang="zh-TW" dirty="0"/>
              <a:t>EDA </a:t>
            </a:r>
            <a:r>
              <a:rPr lang="zh-TW" altLang="en-US" dirty="0"/>
              <a:t>整合設計執行展開圖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1036CF-DBB8-5AD3-F095-80DD2C43427C}"/>
              </a:ext>
            </a:extLst>
          </p:cNvPr>
          <p:cNvSpPr/>
          <p:nvPr/>
        </p:nvSpPr>
        <p:spPr>
          <a:xfrm>
            <a:off x="0" y="293128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6ECB6530-EA07-A837-EA45-F07B65E1D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AF55D442-7E3C-A6BB-7C7A-F7FD14529058}"/>
              </a:ext>
            </a:extLst>
          </p:cNvPr>
          <p:cNvSpPr/>
          <p:nvPr/>
        </p:nvSpPr>
        <p:spPr>
          <a:xfrm>
            <a:off x="8499635" y="2389771"/>
            <a:ext cx="1657592" cy="1177211"/>
          </a:xfrm>
          <a:prstGeom prst="roundRect">
            <a:avLst>
              <a:gd name="adj" fmla="val 9499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DFM</a:t>
            </a:r>
          </a:p>
          <a:p>
            <a:pPr algn="ctr" defTabSz="622300">
              <a:spcBef>
                <a:spcPct val="0"/>
              </a:spcBef>
            </a:pP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GerbTooL</a:t>
            </a:r>
          </a:p>
          <a:p>
            <a:pPr algn="ctr" defTabSz="622300">
              <a:spcBef>
                <a:spcPct val="0"/>
              </a:spcBef>
            </a:pPr>
            <a:endParaRPr lang="it-IT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檢視製造資料</a:t>
            </a: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提前發現風險</a:t>
            </a: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降低溝通與返工成本</a:t>
            </a: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A546B2A2-68A1-2BA0-E036-5A00487D065B}"/>
              </a:ext>
            </a:extLst>
          </p:cNvPr>
          <p:cNvSpPr/>
          <p:nvPr/>
        </p:nvSpPr>
        <p:spPr>
          <a:xfrm>
            <a:off x="3879913" y="1511706"/>
            <a:ext cx="67022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9A5AD6D3-CD53-1C7E-71B0-F1C36290CC9C}"/>
              </a:ext>
            </a:extLst>
          </p:cNvPr>
          <p:cNvSpPr/>
          <p:nvPr/>
        </p:nvSpPr>
        <p:spPr>
          <a:xfrm>
            <a:off x="8264108" y="3050832"/>
            <a:ext cx="30192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B8498BCB-99A1-992B-D65D-385BCDD0B5C2}"/>
              </a:ext>
            </a:extLst>
          </p:cNvPr>
          <p:cNvSpPr/>
          <p:nvPr/>
        </p:nvSpPr>
        <p:spPr>
          <a:xfrm>
            <a:off x="8281360" y="2019433"/>
            <a:ext cx="284671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91136A7E-3132-BF7D-45B3-1B48A0159BC8}"/>
              </a:ext>
            </a:extLst>
          </p:cNvPr>
          <p:cNvSpPr/>
          <p:nvPr/>
        </p:nvSpPr>
        <p:spPr>
          <a:xfrm rot="5400000">
            <a:off x="9177469" y="3581990"/>
            <a:ext cx="30192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28B654C-F46D-E279-3610-093AE56B8596}"/>
              </a:ext>
            </a:extLst>
          </p:cNvPr>
          <p:cNvSpPr/>
          <p:nvPr/>
        </p:nvSpPr>
        <p:spPr>
          <a:xfrm>
            <a:off x="4756933" y="5354466"/>
            <a:ext cx="1944660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供應鏈智慧平台</a:t>
            </a:r>
            <a:r>
              <a:rPr lang="en-US" altLang="zh-TW" sz="1050" b="1" dirty="0" err="1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Supplyframe</a:t>
            </a: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整合設計與供應鏈數據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降低供應風險與成本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加速產品上市時程</a:t>
            </a:r>
          </a:p>
        </p:txBody>
      </p:sp>
    </p:spTree>
    <p:extLst>
      <p:ext uri="{BB962C8B-B14F-4D97-AF65-F5344CB8AC3E}">
        <p14:creationId xmlns:p14="http://schemas.microsoft.com/office/powerpoint/2010/main" val="3759547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5EB25-5796-E828-5CB9-69E12F1E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1795E109-3975-D4E1-173C-BC3E11102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674575"/>
              </p:ext>
            </p:extLst>
          </p:nvPr>
        </p:nvGraphicFramePr>
        <p:xfrm>
          <a:off x="2932415" y="0"/>
          <a:ext cx="9259585" cy="685800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67991">
                  <a:extLst>
                    <a:ext uri="{9D8B030D-6E8A-4147-A177-3AD203B41FA5}">
                      <a16:colId xmlns:a16="http://schemas.microsoft.com/office/drawing/2014/main" val="1458062988"/>
                    </a:ext>
                  </a:extLst>
                </a:gridCol>
                <a:gridCol w="6791594">
                  <a:extLst>
                    <a:ext uri="{9D8B030D-6E8A-4147-A177-3AD203B41FA5}">
                      <a16:colId xmlns:a16="http://schemas.microsoft.com/office/drawing/2014/main" val="366393239"/>
                    </a:ext>
                  </a:extLst>
                </a:gridCol>
              </a:tblGrid>
              <a:tr h="11275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Schematic Analysis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Automated schematic verification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1" kern="1200" dirty="0">
                        <a:solidFill>
                          <a:schemeClr val="accen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 </a:t>
                      </a:r>
                      <a:r>
                        <a:rPr lang="zh-TW" altLang="en-US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原理圖層級信號分析 </a:t>
                      </a: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</a:t>
                      </a:r>
                    </a:p>
                  </a:txBody>
                  <a:tcPr marL="0" marR="0" anchor="ctr"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在電路設計階段執行原理圖層級的訊號與電源完整性分析，提早發現問題，減少迴路干擾與電源雜訊。</a:t>
                      </a:r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自動化原理圖驗證：檢查所有網絡，確保電氣設計正確性。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高效並行作業：與設計同步執行，減少設計修改時間。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雲端元件支援：提供雲端元件庫，提升元件管理效率。</a:t>
                      </a:r>
                      <a:endParaRPr lang="zh-TW" altLang="en-US" sz="11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552675"/>
                  </a:ext>
                </a:extLst>
              </a:tr>
              <a:tr h="11275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AMS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Analog / mixed signal simulation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1" kern="1200" dirty="0">
                        <a:solidFill>
                          <a:schemeClr val="accen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 </a:t>
                      </a:r>
                      <a:r>
                        <a:rPr lang="zh-TW" altLang="en-US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類比混合信號模擬 </a:t>
                      </a: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</a:t>
                      </a:r>
                    </a:p>
                  </a:txBody>
                  <a:tcPr marL="0" marR="0"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針對類比與混合訊號電路進行 </a:t>
                      </a:r>
                      <a:r>
                        <a:rPr lang="en-US" altLang="zh-TW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SPICE </a:t>
                      </a:r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級別的模擬，適用於電源管理、感測器介面等類比電路應用。</a:t>
                      </a:r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l"/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類比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混合訊號模擬：支援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SPICE/PSpice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模型，擴展電路模擬能力。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虛擬原型驗證：建立與測試虛擬電路原型，提升設計可靠性。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簡化設計流程：單一原理圖驅動模擬與佈局，減少錯誤並提高效率。</a:t>
                      </a:r>
                      <a:endParaRPr lang="zh-TW" altLang="en-US" sz="11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629481"/>
                  </a:ext>
                </a:extLst>
              </a:tr>
              <a:tr h="11275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DRC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Electrical rules-based PCB verification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1" kern="1200" dirty="0">
                        <a:solidFill>
                          <a:schemeClr val="accen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 </a:t>
                      </a:r>
                      <a:r>
                        <a:rPr lang="zh-TW" altLang="en-US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自動化設計規範檢查 </a:t>
                      </a: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</a:t>
                      </a:r>
                    </a:p>
                  </a:txBody>
                  <a:tcPr marL="0" marR="0"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提供設計規則檢查工具，快速識別電磁干擾、信號完整性和電源完整性方面的潛在問題。</a:t>
                      </a:r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l"/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電氣規則驗證：基於電氣規則自動檢查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PCB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設計，確保設計合規。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靈活規則管理：內建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100+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規則庫，支援自訂訊號群組與規則集。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即時錯誤提示：即時執行檢查，違規項目高亮顯示於佈局中。</a:t>
                      </a:r>
                      <a:endParaRPr lang="zh-TW" altLang="en-US" sz="11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381341"/>
                  </a:ext>
                </a:extLst>
              </a:tr>
              <a:tr h="11275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Advanced Solvers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Quasi-static,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hybrid and full-wave EM modeling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1" kern="1200" dirty="0">
                        <a:solidFill>
                          <a:schemeClr val="accen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 </a:t>
                      </a:r>
                      <a:r>
                        <a:rPr lang="zh-TW" altLang="en-US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高精度 </a:t>
                      </a: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3D </a:t>
                      </a:r>
                      <a:r>
                        <a:rPr lang="zh-TW" altLang="en-US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電磁求解 </a:t>
                      </a: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</a:t>
                      </a:r>
                    </a:p>
                  </a:txBody>
                  <a:tcPr marL="0" marR="0"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提供完整的 </a:t>
                      </a:r>
                      <a:r>
                        <a:rPr lang="en-US" altLang="zh-TW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3D </a:t>
                      </a:r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電磁模擬解決方案，包括全波、準靜態和混合模擬，協助分析複雜的電磁問題。</a:t>
                      </a:r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l"/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高效電磁求解：提供快速的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Full-Wave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求解器 和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3D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求解，支持生成耦合矩陣與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IBIS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模型。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自動化與加速：利用 邊界元素技術 和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HPC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求解 提高計算效率。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集成與兼容性：與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工具集成，支持行業標準格式 導入。</a:t>
                      </a:r>
                      <a:endParaRPr lang="zh-TW" altLang="en-US" sz="11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R="90000"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175120"/>
                  </a:ext>
                </a:extLst>
              </a:tr>
              <a:tr h="23476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SI/PI</a:t>
                      </a:r>
                    </a:p>
                    <a:p>
                      <a:pPr algn="ctr"/>
                      <a:r>
                        <a:rPr lang="en-US" altLang="zh-TW" sz="1400" dirty="0"/>
                        <a:t> </a:t>
                      </a:r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Comprehensive signal &amp;</a:t>
                      </a:r>
                    </a:p>
                    <a:p>
                      <a:pPr algn="ctr"/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power integrity simulation</a:t>
                      </a:r>
                    </a:p>
                    <a:p>
                      <a:pPr algn="ctr"/>
                      <a:endParaRPr lang="en-US" altLang="zh-TW" sz="1050" b="1" kern="1200" dirty="0">
                        <a:solidFill>
                          <a:schemeClr val="accen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 </a:t>
                      </a:r>
                      <a:r>
                        <a:rPr lang="zh-TW" altLang="en-US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訊號與電源完整性分析 </a:t>
                      </a: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</a:t>
                      </a:r>
                      <a:endParaRPr lang="zh-TW" altLang="en-US" sz="1200" b="1" kern="1200" dirty="0">
                        <a:solidFill>
                          <a:schemeClr val="accen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進行訊號完整性 </a:t>
                      </a:r>
                      <a:r>
                        <a:rPr lang="en-US" altLang="zh-TW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(SI) </a:t>
                      </a:r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和電源完整性 </a:t>
                      </a:r>
                      <a:r>
                        <a:rPr lang="en-US" altLang="zh-TW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(PI) </a:t>
                      </a:r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分析，評估訊號品質、串擾影響與 </a:t>
                      </a:r>
                      <a:r>
                        <a:rPr lang="en-US" altLang="zh-TW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PDN (</a:t>
                      </a:r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電源分佈網路</a:t>
                      </a:r>
                      <a:r>
                        <a:rPr lang="en-US" altLang="zh-TW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 </a:t>
                      </a:r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性能。</a:t>
                      </a:r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l"/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l"/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SI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信號問題識別：識別並分析信號完整性問題。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佈線與假設分析：在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BoardSim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和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LineSim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中進行設計與假設分析。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通道建模與合規驗證：自動建模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SERDES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通道 並進行協議特定的合規性驗證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PI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電壓降與去耦分析：分析直流電壓降、去耦問題和平面噪音。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電源平面噪音：檢查和解決電源平面噪音問題。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溫度估算：估算因電流密度增加引起的電路板溫度。</a:t>
                      </a:r>
                      <a:endParaRPr lang="zh-TW" altLang="en-US" sz="11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917603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AA39470C-060A-9EEE-2251-44E438D00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35728" y="5985300"/>
            <a:ext cx="863175" cy="863175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885B3F4C-D40B-2F1F-F158-5FE1F9960B69}"/>
              </a:ext>
            </a:extLst>
          </p:cNvPr>
          <p:cNvGrpSpPr/>
          <p:nvPr/>
        </p:nvGrpSpPr>
        <p:grpSpPr>
          <a:xfrm>
            <a:off x="0" y="2719426"/>
            <a:ext cx="2733444" cy="1419148"/>
            <a:chOff x="0" y="2719426"/>
            <a:chExt cx="2733444" cy="1419148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0C97785A-F609-014D-C537-B62081567545}"/>
                </a:ext>
              </a:extLst>
            </p:cNvPr>
            <p:cNvGrpSpPr/>
            <p:nvPr/>
          </p:nvGrpSpPr>
          <p:grpSpPr>
            <a:xfrm>
              <a:off x="0" y="2719426"/>
              <a:ext cx="2733444" cy="1419148"/>
              <a:chOff x="687622" y="2587514"/>
              <a:chExt cx="2733444" cy="1419148"/>
            </a:xfrm>
          </p:grpSpPr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698CA85-CCD3-728D-C840-BE77FF2EBC43}"/>
                  </a:ext>
                </a:extLst>
              </p:cNvPr>
              <p:cNvSpPr txBox="1"/>
              <p:nvPr/>
            </p:nvSpPr>
            <p:spPr>
              <a:xfrm>
                <a:off x="687622" y="3013272"/>
                <a:ext cx="2547844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zh-TW" sz="3200" b="1" dirty="0">
                    <a:latin typeface="Adobe 黑体 Std R" panose="020B0400000000000000" pitchFamily="34" charset="-128"/>
                    <a:ea typeface="Adobe 黑体 Std R" panose="020B0400000000000000" pitchFamily="34" charset="-128"/>
                  </a:rPr>
                  <a:t>Hyper</a:t>
                </a:r>
                <a:endParaRPr lang="zh-TW" altLang="en-US" sz="3200" b="1" dirty="0">
                  <a:latin typeface="Adobe 黑体 Std R" panose="020B0400000000000000" pitchFamily="34" charset="-128"/>
                  <a:ea typeface="Adobe 黑体 Std R" panose="020B0400000000000000" pitchFamily="34" charset="-128"/>
                </a:endParaRPr>
              </a:p>
            </p:txBody>
          </p:sp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55FFC141-6743-B6F9-EAB2-56DE34DD9C35}"/>
                  </a:ext>
                </a:extLst>
              </p:cNvPr>
              <p:cNvSpPr/>
              <p:nvPr/>
            </p:nvSpPr>
            <p:spPr>
              <a:xfrm>
                <a:off x="2001918" y="2587514"/>
                <a:ext cx="1419148" cy="141914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TW" sz="3200" b="1" dirty="0">
                    <a:solidFill>
                      <a:srgbClr val="374151"/>
                    </a:solidFill>
                    <a:latin typeface="Adobe 黑体 Std R" panose="020B0400000000000000" pitchFamily="34" charset="-128"/>
                    <a:ea typeface="Adobe 黑体 Std R" panose="020B0400000000000000" pitchFamily="34" charset="-128"/>
                  </a:rPr>
                  <a:t>Lynx</a:t>
                </a:r>
                <a:endParaRPr lang="zh-TW" altLang="en-US" sz="3200" b="1" dirty="0">
                  <a:solidFill>
                    <a:srgbClr val="374151"/>
                  </a:solidFill>
                  <a:latin typeface="Adobe 黑体 Std R" panose="020B0400000000000000" pitchFamily="34" charset="-128"/>
                  <a:ea typeface="Adobe 黑体 Std R" panose="020B0400000000000000" pitchFamily="34" charset="-128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9510989-E691-B10A-C2B0-8D228950CB3F}"/>
                  </a:ext>
                </a:extLst>
              </p:cNvPr>
              <p:cNvSpPr txBox="1"/>
              <p:nvPr/>
            </p:nvSpPr>
            <p:spPr>
              <a:xfrm>
                <a:off x="1267772" y="3821996"/>
                <a:ext cx="838815" cy="184666"/>
              </a:xfrm>
              <a:prstGeom prst="rect">
                <a:avLst/>
              </a:prstGeom>
              <a:noFill/>
            </p:spPr>
            <p:txBody>
              <a:bodyPr wrap="none" rIns="36000" rtlCol="0">
                <a:spAutoFit/>
              </a:bodyPr>
              <a:lstStyle/>
              <a:p>
                <a:pPr algn="r"/>
                <a:r>
                  <a:rPr lang="en-US" altLang="zh-TW" sz="600" b="1" dirty="0"/>
                  <a:t>A </a:t>
                </a:r>
                <a:r>
                  <a:rPr lang="en-US" altLang="zh-TW" sz="600" b="1" dirty="0">
                    <a:solidFill>
                      <a:srgbClr val="009E9A"/>
                    </a:solidFill>
                  </a:rPr>
                  <a:t>Siemens </a:t>
                </a:r>
                <a:r>
                  <a:rPr lang="en-US" altLang="zh-TW" sz="600" b="1" dirty="0"/>
                  <a:t>Business</a:t>
                </a:r>
                <a:endParaRPr lang="zh-TW" altLang="en-US" sz="600" b="1" dirty="0">
                  <a:latin typeface="HGPSoeiKakugothicUB" panose="020B0400000000000000" pitchFamily="34" charset="-128"/>
                  <a:ea typeface="HGPSoeiKakugothicUB" panose="020B0400000000000000" pitchFamily="34" charset="-128"/>
                </a:endParaRPr>
              </a:p>
            </p:txBody>
          </p:sp>
        </p:grpSp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A304D26B-B56F-E2DC-4264-C245E6F9C0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820" y="3738859"/>
              <a:ext cx="806249" cy="307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78041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91842EA5DE8348AE9848AE687BCC84" ma:contentTypeVersion="13" ma:contentTypeDescription="Create a new document." ma:contentTypeScope="" ma:versionID="6f028e0c38457410fd2e4370e4878857">
  <xsd:schema xmlns:xsd="http://www.w3.org/2001/XMLSchema" xmlns:xs="http://www.w3.org/2001/XMLSchema" xmlns:p="http://schemas.microsoft.com/office/2006/metadata/properties" xmlns:ns2="77fccb21-d616-4fff-a4ae-b870553fe1e6" xmlns:ns3="094b9ec6-549c-4eb2-b7c6-34c3719529bf" targetNamespace="http://schemas.microsoft.com/office/2006/metadata/properties" ma:root="true" ma:fieldsID="82e8042d6f4572087d055fbded74d150" ns2:_="" ns3:_="">
    <xsd:import namespace="77fccb21-d616-4fff-a4ae-b870553fe1e6"/>
    <xsd:import namespace="094b9ec6-549c-4eb2-b7c6-34c3719529b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ccb21-d616-4fff-a4ae-b870553fe1e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b9ec6-549c-4eb2-b7c6-34c3719529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d5bf68e3-6eff-4786-9f2a-37007501c5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4b9ec6-549c-4eb2-b7c6-34c3719529b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712ABA-0FA1-4602-B39B-E31E2EE03D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fccb21-d616-4fff-a4ae-b870553fe1e6"/>
    <ds:schemaRef ds:uri="094b9ec6-549c-4eb2-b7c6-34c3719529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4675A8-D60A-43CE-8DBD-DBEBC7C91DD1}">
  <ds:schemaRefs>
    <ds:schemaRef ds:uri="http://schemas.microsoft.com/office/2006/metadata/properties"/>
    <ds:schemaRef ds:uri="http://schemas.microsoft.com/office/infopath/2007/PartnerControls"/>
    <ds:schemaRef ds:uri="094b9ec6-549c-4eb2-b7c6-34c3719529bf"/>
  </ds:schemaRefs>
</ds:datastoreItem>
</file>

<file path=customXml/itemProps3.xml><?xml version="1.0" encoding="utf-8"?>
<ds:datastoreItem xmlns:ds="http://schemas.openxmlformats.org/officeDocument/2006/customXml" ds:itemID="{438816B0-4CCE-412B-897D-D4A0ADD6CA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9111</TotalTime>
  <Words>1284</Words>
  <Application>Microsoft Office PowerPoint</Application>
  <PresentationFormat>寬螢幕</PresentationFormat>
  <Paragraphs>197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4" baseType="lpstr">
      <vt:lpstr>Adobe 黑体 Std R</vt:lpstr>
      <vt:lpstr>HGPSoeiKakugothicUB</vt:lpstr>
      <vt:lpstr>微軟正黑體</vt:lpstr>
      <vt:lpstr>新細明體</vt:lpstr>
      <vt:lpstr>Aharoni</vt:lpstr>
      <vt:lpstr>Aptos</vt:lpstr>
      <vt:lpstr>Aptos Display</vt:lpstr>
      <vt:lpstr>Arial</vt:lpstr>
      <vt:lpstr>Calibri</vt:lpstr>
      <vt:lpstr>Source Sans Pro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大塚-廖韋承 Jerry</dc:creator>
  <cp:lastModifiedBy>大塚-廖韋承 Jerry</cp:lastModifiedBy>
  <cp:revision>246</cp:revision>
  <dcterms:created xsi:type="dcterms:W3CDTF">2025-02-19T03:30:11Z</dcterms:created>
  <dcterms:modified xsi:type="dcterms:W3CDTF">2026-10-22T07:15:57Z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0x0101000A91842EA5DE8348AE9848AE687BCC84</vt:lpwstr>
  </property>
  <property fmtid="{D5CDD505-2E9C-101B-9397-08002B2CF9AE}" pid="3" name="MediaServiceImageTags">
    <vt:lpwstr/>
  </property>
</Properties>
</file>