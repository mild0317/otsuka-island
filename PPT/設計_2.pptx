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147376044" r:id="rId5"/>
    <p:sldId id="2147376160" r:id="rId6"/>
    <p:sldId id="2147376102" r:id="rId7"/>
    <p:sldId id="2147376103" r:id="rId8"/>
    <p:sldId id="214737604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CAD" id="{96027D25-418D-41F6-8DBC-0916F5615456}">
          <p14:sldIdLst>
            <p14:sldId id="2147376044"/>
            <p14:sldId id="2147376160"/>
            <p14:sldId id="2147376102"/>
            <p14:sldId id="2147376103"/>
            <p14:sldId id="21473760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9E"/>
    <a:srgbClr val="1F8DBF"/>
    <a:srgbClr val="189876"/>
    <a:srgbClr val="1FC398"/>
    <a:srgbClr val="39DFB4"/>
    <a:srgbClr val="1EB890"/>
    <a:srgbClr val="E8E8E6"/>
    <a:srgbClr val="F2F2F2"/>
    <a:srgbClr val="28A4DC"/>
    <a:srgbClr val="407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58" autoAdjust="0"/>
    <p:restoredTop sz="96445" autoAdjust="0"/>
  </p:normalViewPr>
  <p:slideViewPr>
    <p:cSldViewPr snapToGrid="0">
      <p:cViewPr varScale="1">
        <p:scale>
          <a:sx n="111" d="100"/>
          <a:sy n="111" d="100"/>
        </p:scale>
        <p:origin x="1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A9828-F5F1-4553-95AE-77291B797BBE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3E784-885E-4089-99D9-2A46970786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1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接下來我們先針對西門子在電子設計與驗證所提供的解決方案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39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2C7-D443-FD0E-1482-192D90A3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ED9680-3EB7-253E-23A6-912890A6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E7AFF5-AEFC-EDC2-6E36-2DEDA3E0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當我們談到</a:t>
            </a:r>
            <a:r>
              <a:rPr lang="en-US" altLang="zh-TW" dirty="0"/>
              <a:t>PCB</a:t>
            </a:r>
            <a:r>
              <a:rPr lang="zh-TW" altLang="en-US" dirty="0"/>
              <a:t>設計流程，其實主要是指從</a:t>
            </a:r>
            <a:r>
              <a:rPr lang="en-US" altLang="zh-TW" dirty="0"/>
              <a:t>PCB</a:t>
            </a:r>
            <a:r>
              <a:rPr lang="zh-TW" altLang="en-US" dirty="0"/>
              <a:t>產品的設計開始，到製造準備的整個過程。我們如何利用西門子</a:t>
            </a:r>
            <a:r>
              <a:rPr lang="en-US" altLang="zh-TW" dirty="0"/>
              <a:t>EDA</a:t>
            </a:r>
            <a:r>
              <a:rPr lang="zh-TW" altLang="en-US" dirty="0"/>
              <a:t>工具來提升效率，並確保設計品質？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首先，在專案啟動階段，系統設計人員會進行前期規劃，確保整個設計流程順利進行。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接著進入設計階段，我們會使用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完成</a:t>
            </a:r>
            <a:r>
              <a:rPr lang="en-US" altLang="zh-TW" dirty="0"/>
              <a:t>PCB</a:t>
            </a:r>
            <a:r>
              <a:rPr lang="zh-TW" altLang="en-US" dirty="0"/>
              <a:t>原理圖設計，並同步進行設計驗證，確保設計沒有問題。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完成原理圖後，我們會將其轉換為</a:t>
            </a:r>
            <a:r>
              <a:rPr lang="en-US" altLang="zh-TW" dirty="0"/>
              <a:t>PCB Layout</a:t>
            </a:r>
            <a:r>
              <a:rPr lang="zh-TW" altLang="en-US" dirty="0"/>
              <a:t>，並進行零件的放置。在這個過程中，我們必須考慮到</a:t>
            </a:r>
            <a:r>
              <a:rPr lang="en-US" altLang="zh-TW" dirty="0"/>
              <a:t>PCB</a:t>
            </a:r>
            <a:r>
              <a:rPr lang="zh-TW" altLang="en-US" dirty="0"/>
              <a:t>佈局的正確性與可製造性，確保設計無誤後才能進入下一步。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進入模擬階段後，我們會使用 </a:t>
            </a:r>
            <a:r>
              <a:rPr lang="en-US" altLang="zh-TW" b="1" dirty="0" err="1"/>
              <a:t>HyperLynx</a:t>
            </a:r>
            <a:r>
              <a:rPr lang="zh-TW" altLang="en-US" dirty="0"/>
              <a:t> 進行信號完整性（</a:t>
            </a:r>
            <a:r>
              <a:rPr lang="en-US" altLang="zh-TW" dirty="0"/>
              <a:t>SI</a:t>
            </a:r>
            <a:r>
              <a:rPr lang="zh-TW" altLang="en-US" dirty="0"/>
              <a:t>）、電源完整性（</a:t>
            </a:r>
            <a:r>
              <a:rPr lang="en-US" altLang="zh-TW" dirty="0"/>
              <a:t>PI</a:t>
            </a:r>
            <a:r>
              <a:rPr lang="zh-TW" altLang="en-US" dirty="0"/>
              <a:t>）及熱分析等模擬，及早發現潛在問題，提高設計的可靠性。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設計確認無誤後，我們就進入驗證階段，這時候 </a:t>
            </a:r>
            <a:r>
              <a:rPr lang="en-US" altLang="zh-TW" b="1" dirty="0"/>
              <a:t>Valor NPI</a:t>
            </a:r>
            <a:r>
              <a:rPr lang="zh-TW" altLang="en-US" dirty="0"/>
              <a:t> 會檢查可製造性，確保設計符合製造要求，並減少生產過程中的問題。而 </a:t>
            </a:r>
            <a:r>
              <a:rPr lang="en-US" altLang="zh-TW" b="1" dirty="0"/>
              <a:t>Valor PP</a:t>
            </a:r>
            <a:r>
              <a:rPr lang="zh-TW" altLang="en-US" dirty="0"/>
              <a:t> 則會生成製造數據，幫助工廠快速投入生產。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最後，在協同作業方面，透過 </a:t>
            </a:r>
            <a:r>
              <a:rPr lang="en-US" altLang="zh-TW" b="1" dirty="0"/>
              <a:t>ECAD/MCAD </a:t>
            </a:r>
            <a:r>
              <a:rPr lang="zh-TW" altLang="en-US" b="1" dirty="0"/>
              <a:t>整合</a:t>
            </a:r>
            <a:r>
              <a:rPr lang="zh-TW" altLang="en-US" dirty="0"/>
              <a:t>，我們可以無縫對接機構設計（使用 </a:t>
            </a:r>
            <a:r>
              <a:rPr lang="en-US" altLang="zh-TW" b="1" dirty="0"/>
              <a:t>Siemens NX</a:t>
            </a:r>
            <a:r>
              <a:rPr lang="zh-TW" altLang="en-US" dirty="0"/>
              <a:t>），確保電子與機構設計的協同。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此外，還有三個重要的輔助功能：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資料管理（</a:t>
            </a:r>
            <a:r>
              <a:rPr lang="en-US" altLang="zh-TW" b="1" dirty="0"/>
              <a:t>EDM Library</a:t>
            </a:r>
            <a:r>
              <a:rPr lang="zh-TW" altLang="en-US" b="1" dirty="0"/>
              <a:t>）</a:t>
            </a:r>
            <a:r>
              <a:rPr lang="zh-TW" altLang="en-US" dirty="0"/>
              <a:t>：確保元件庫與設計數據的標準化與版本控制。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約束管理（</a:t>
            </a:r>
            <a:r>
              <a:rPr lang="en-US" altLang="zh-TW" b="1" dirty="0"/>
              <a:t>Constraint Manager</a:t>
            </a:r>
            <a:r>
              <a:rPr lang="zh-TW" altLang="en-US" b="1" dirty="0"/>
              <a:t>）</a:t>
            </a:r>
            <a:r>
              <a:rPr lang="zh-TW" altLang="en-US" dirty="0"/>
              <a:t>：定義設計規則，確保符合電氣與製造要求。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自動化（</a:t>
            </a:r>
            <a:r>
              <a:rPr lang="en-US" altLang="zh-TW" b="1" dirty="0"/>
              <a:t>Automation</a:t>
            </a:r>
            <a:r>
              <a:rPr lang="zh-TW" altLang="en-US" b="1" dirty="0"/>
              <a:t>）</a:t>
            </a:r>
            <a:r>
              <a:rPr lang="zh-TW" altLang="en-US" dirty="0"/>
              <a:t>：透過客製化腳本來提高設計效率與精度。</a:t>
            </a:r>
          </a:p>
          <a:p>
            <a:endParaRPr lang="en-US" altLang="zh-TW" dirty="0"/>
          </a:p>
          <a:p>
            <a:r>
              <a:rPr lang="zh-TW" altLang="en-US" dirty="0"/>
              <a:t>總的來說，這個整合平台能夠讓我們從設計、模擬到製造的每個階段都做到高效、準確，並降低製造風險。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ED070A-6739-6CDA-423C-F2EF2B2B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在設計階段，我們會使用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來完成</a:t>
            </a:r>
            <a:r>
              <a:rPr lang="en-US" altLang="zh-TW" dirty="0"/>
              <a:t>PCB</a:t>
            </a:r>
            <a:r>
              <a:rPr lang="zh-TW" altLang="en-US" dirty="0"/>
              <a:t>原理圖設計與</a:t>
            </a:r>
            <a:r>
              <a:rPr lang="en-US" altLang="zh-TW" dirty="0"/>
              <a:t>PCB Layout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那這兩套工具有什麼差異呢？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簡單來說，這兩套工具各有特色，可以理解為 </a:t>
            </a:r>
            <a:r>
              <a:rPr lang="en-US" altLang="zh-TW" b="1" dirty="0"/>
              <a:t>PADS Professional</a:t>
            </a:r>
            <a:r>
              <a:rPr lang="zh-TW" altLang="en-US" dirty="0"/>
              <a:t> 是 </a:t>
            </a:r>
            <a:r>
              <a:rPr lang="en-US" altLang="zh-TW" b="1" dirty="0"/>
              <a:t>Xpedition</a:t>
            </a:r>
            <a:r>
              <a:rPr lang="zh-TW" altLang="en-US" dirty="0"/>
              <a:t> 的簡化版。</a:t>
            </a:r>
            <a:br>
              <a:rPr lang="zh-TW" altLang="en-US" dirty="0"/>
            </a:br>
            <a:r>
              <a:rPr lang="en-US" altLang="zh-TW" b="1" dirty="0"/>
              <a:t>PADS Professional</a:t>
            </a:r>
            <a:r>
              <a:rPr lang="zh-TW" altLang="en-US" dirty="0"/>
              <a:t> 是一款針對中小型團隊設計的高性價比工具，它提供了</a:t>
            </a:r>
            <a:r>
              <a:rPr lang="en-US" altLang="zh-TW" dirty="0"/>
              <a:t>PCB</a:t>
            </a:r>
            <a:r>
              <a:rPr lang="zh-TW" altLang="en-US" dirty="0"/>
              <a:t>設計所需的基本功能，包括規則檢查和製造驗證，非常適合資源有限的團隊使用。</a:t>
            </a:r>
          </a:p>
          <a:p>
            <a:r>
              <a:rPr lang="zh-TW" altLang="en-US" dirty="0"/>
              <a:t>相比之下，</a:t>
            </a:r>
            <a:r>
              <a:rPr lang="en-US" altLang="zh-TW" b="1" dirty="0"/>
              <a:t>Xpedition</a:t>
            </a:r>
            <a:r>
              <a:rPr lang="zh-TW" altLang="en-US" dirty="0"/>
              <a:t> 則是針對大型團隊和企業級開發的高效能設計平台。它不僅支援多人並行設計，還能與 </a:t>
            </a:r>
            <a:r>
              <a:rPr lang="en-US" altLang="zh-TW" b="1" dirty="0"/>
              <a:t>NX</a:t>
            </a:r>
            <a:r>
              <a:rPr lang="zh-TW" altLang="en-US" dirty="0"/>
              <a:t> 無縫協作，非常適合進行機構與電子協同設計。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因此，我們最推薦客戶選擇 </a:t>
            </a:r>
            <a:r>
              <a:rPr lang="en-US" altLang="zh-TW" b="1" dirty="0"/>
              <a:t>Xpedition</a:t>
            </a:r>
            <a:r>
              <a:rPr lang="zh-TW" altLang="en-US" dirty="0"/>
              <a:t> 作為最終設計工具，它能提供更強大的協作與設計效率。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89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這張圖比較了 </a:t>
            </a:r>
            <a:r>
              <a:rPr lang="en-US" altLang="zh-TW" b="1" dirty="0"/>
              <a:t>PADS Professional</a:t>
            </a:r>
            <a:r>
              <a:rPr lang="zh-TW" altLang="en-US" dirty="0"/>
              <a:t> 和 </a:t>
            </a:r>
            <a:r>
              <a:rPr lang="en-US" altLang="zh-TW" b="1" dirty="0"/>
              <a:t>Xpedition PCB</a:t>
            </a:r>
            <a:r>
              <a:rPr lang="zh-TW" altLang="en-US" dirty="0"/>
              <a:t> 兩款 </a:t>
            </a:r>
            <a:r>
              <a:rPr lang="en-US" altLang="zh-TW" dirty="0"/>
              <a:t>PCB </a:t>
            </a:r>
            <a:r>
              <a:rPr lang="zh-TW" altLang="en-US" dirty="0"/>
              <a:t>設計工具的功能</a:t>
            </a:r>
            <a:endParaRPr lang="en-US" altLang="zh-TW" dirty="0"/>
          </a:p>
          <a:p>
            <a:pPr>
              <a:buNone/>
            </a:pPr>
            <a:endParaRPr lang="en-US" altLang="zh-TW" b="1" dirty="0"/>
          </a:p>
          <a:p>
            <a:pPr>
              <a:buNone/>
            </a:pPr>
            <a:r>
              <a:rPr lang="zh-TW" altLang="en-US" b="1" dirty="0"/>
              <a:t>主要重點：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PADS Professional</a:t>
            </a:r>
            <a:r>
              <a:rPr lang="zh-TW" altLang="en-US" dirty="0"/>
              <a:t>：適合中小型設計團隊，具備基本 </a:t>
            </a:r>
            <a:r>
              <a:rPr lang="en-US" altLang="zh-TW" b="1" dirty="0"/>
              <a:t>ECAD/MCAD </a:t>
            </a:r>
            <a:r>
              <a:rPr lang="zh-TW" altLang="en-US" b="1" dirty="0"/>
              <a:t>協同設計、</a:t>
            </a:r>
            <a:r>
              <a:rPr lang="en-US" altLang="zh-TW" b="1" dirty="0"/>
              <a:t>FPGA/PCB </a:t>
            </a:r>
            <a:r>
              <a:rPr lang="zh-TW" altLang="en-US" b="1" dirty="0"/>
              <a:t>協同設計、約束管理、佈局與路由自動化</a:t>
            </a:r>
            <a:r>
              <a:rPr lang="zh-TW" altLang="en-US" dirty="0"/>
              <a:t> 等功能。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Xpedition PCB</a:t>
            </a:r>
            <a:r>
              <a:rPr lang="zh-TW" altLang="en-US" dirty="0"/>
              <a:t>：適合高階、複雜 </a:t>
            </a:r>
            <a:r>
              <a:rPr lang="en-US" altLang="zh-TW" dirty="0"/>
              <a:t>PCB </a:t>
            </a:r>
            <a:r>
              <a:rPr lang="zh-TW" altLang="en-US" dirty="0"/>
              <a:t>設計，具備 </a:t>
            </a:r>
            <a:r>
              <a:rPr lang="zh-TW" altLang="en-US" b="1" dirty="0"/>
              <a:t>多板設計、供應鏈管理、並行設計、訊號與電源完整性分析、熱分析、製造性分析</a:t>
            </a:r>
            <a:r>
              <a:rPr lang="zh-TW" altLang="en-US" dirty="0"/>
              <a:t> 等完整功能。</a:t>
            </a:r>
          </a:p>
          <a:p>
            <a:pPr>
              <a:buNone/>
            </a:pPr>
            <a:r>
              <a:rPr lang="zh-TW" altLang="en-US" b="1" dirty="0"/>
              <a:t>主要區別：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多學科工程</a:t>
            </a:r>
            <a:r>
              <a:rPr lang="zh-TW" altLang="en-US" dirty="0"/>
              <a:t>（如 </a:t>
            </a:r>
            <a:r>
              <a:rPr lang="en-US" altLang="zh-TW" dirty="0"/>
              <a:t>RF Co-Design</a:t>
            </a:r>
            <a:r>
              <a:rPr lang="zh-TW" altLang="en-US" dirty="0"/>
              <a:t>、線束協同設計、多板設計）</a:t>
            </a:r>
            <a:r>
              <a:rPr lang="en-US" altLang="zh-TW" dirty="0"/>
              <a:t>Xpedition PCB </a:t>
            </a:r>
            <a:r>
              <a:rPr lang="zh-TW" altLang="en-US" dirty="0"/>
              <a:t>支援較完整。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設計流程與資料管理</a:t>
            </a:r>
            <a:r>
              <a:rPr lang="zh-TW" altLang="en-US" dirty="0"/>
              <a:t>（</a:t>
            </a:r>
            <a:r>
              <a:rPr lang="en-US" altLang="zh-TW" dirty="0"/>
              <a:t>PLM </a:t>
            </a:r>
            <a:r>
              <a:rPr lang="zh-TW" altLang="en-US" dirty="0"/>
              <a:t>整合、雲端協作、設計重用）</a:t>
            </a:r>
            <a:r>
              <a:rPr lang="en-US" altLang="zh-TW" dirty="0"/>
              <a:t>Xpedition PCB </a:t>
            </a:r>
            <a:r>
              <a:rPr lang="zh-TW" altLang="en-US" dirty="0"/>
              <a:t>提供更完整的解決方案。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自動化設計</a:t>
            </a:r>
            <a:r>
              <a:rPr lang="zh-TW" altLang="en-US" dirty="0"/>
              <a:t>（自動佈局、約束管理、連接性路由）</a:t>
            </a:r>
            <a:r>
              <a:rPr lang="en-US" altLang="zh-TW" dirty="0"/>
              <a:t>Xpedition PCB </a:t>
            </a:r>
            <a:r>
              <a:rPr lang="zh-TW" altLang="en-US" dirty="0"/>
              <a:t>提供更強大的工具。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設計驗證</a:t>
            </a:r>
            <a:r>
              <a:rPr lang="zh-TW" altLang="en-US" dirty="0"/>
              <a:t>（訊號完整性、電源完整性、熱分析、混合訊號分析）</a:t>
            </a:r>
            <a:r>
              <a:rPr lang="en-US" altLang="zh-TW" dirty="0"/>
              <a:t>Xpedition PCB </a:t>
            </a:r>
            <a:r>
              <a:rPr lang="zh-TW" altLang="en-US" dirty="0"/>
              <a:t>提供更高階的分析能力。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548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西門子的</a:t>
            </a:r>
            <a:r>
              <a:rPr lang="en-US" altLang="zh-TW" dirty="0"/>
              <a:t>PCB</a:t>
            </a:r>
            <a:r>
              <a:rPr lang="zh-TW" altLang="en-US" dirty="0"/>
              <a:t>電子系統設計方案圍繞著三個主要工作流程，並整合了五個核心軟體：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PADS Professional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Xpedition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ea typeface="新細明體"/>
              </a:rPr>
              <a:t>HyperLynx</a:t>
            </a:r>
            <a:endParaRPr lang="zh-TW" altLang="en-US" dirty="0">
              <a:ea typeface="新細明體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Valor NPI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Valor PP</a:t>
            </a:r>
            <a:endParaRPr lang="zh-TW" altLang="en-US" dirty="0"/>
          </a:p>
          <a:p>
            <a:r>
              <a:rPr lang="zh-TW" altLang="en-US">
                <a:ea typeface="新細明體"/>
              </a:rPr>
              <a:t>這些軟體全面支援</a:t>
            </a:r>
            <a:r>
              <a:rPr lang="en-US" altLang="zh-TW" dirty="0">
                <a:ea typeface="新細明體"/>
              </a:rPr>
              <a:t>EDA</a:t>
            </a:r>
            <a:r>
              <a:rPr lang="zh-TW" altLang="en-US">
                <a:ea typeface="新細明體"/>
              </a:rPr>
              <a:t>產品的整個開發流程，包括設計、佈局、驗證、可製造性分析以及製程設計，涵蓋了從設計初期到生產準備的所有必要功能。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63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FA354-217E-A40F-35CD-E90308DD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03B34-C820-8F65-5FE7-3739DE4C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C8CDE-2622-A605-751F-17460FAE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CA71C1-FF9C-02C7-8678-A3E1E4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C0672F-9C9C-F9D2-D48D-382BAC51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4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E5F6B2-0341-EC59-4B10-DF87C267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56EAC8-EF5B-43F4-F1B7-5F21E00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1F4065-35A7-60CC-1C9E-D0E9FC8C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4CC06A-82EE-523C-38F5-96CC1A6D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4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316767-51FE-7D8A-B53A-A15D4188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D9ADF9-C1DD-564E-CB96-DB83EB0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FF929-5FF4-DD32-92A8-AAA0361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83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D9089F1-F836-2D67-5C21-4F0DAF6CDF7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DA4123-ACB3-CF0D-CDAF-CEDAB763506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370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10AF97-3C87-2D94-2492-580DA60F67B3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B8E6F8-0252-7B77-F22C-89F7DCB52678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55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659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3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451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836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000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639713-B01B-0A3C-0813-BFD5EB874F12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197081-E9AE-6C72-2B45-447BF3CFB32C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3549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31610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20270-84E8-0ED5-A078-4D21B9456C0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9A3475-0570-BBDF-14B4-7DEFFA835F9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905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9" name="箭號: ＞形 8">
            <a:extLst>
              <a:ext uri="{FF2B5EF4-FFF2-40B4-BE49-F238E27FC236}">
                <a16:creationId xmlns:a16="http://schemas.microsoft.com/office/drawing/2014/main" id="{FE5318CA-03D1-73D5-FC28-2899CFD45168}"/>
              </a:ext>
            </a:extLst>
          </p:cNvPr>
          <p:cNvSpPr/>
          <p:nvPr userDrawn="1"/>
        </p:nvSpPr>
        <p:spPr>
          <a:xfrm>
            <a:off x="2175986" y="111098"/>
            <a:ext cx="9907475" cy="1179910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箭號: 五邊形 9">
            <a:extLst>
              <a:ext uri="{FF2B5EF4-FFF2-40B4-BE49-F238E27FC236}">
                <a16:creationId xmlns:a16="http://schemas.microsoft.com/office/drawing/2014/main" id="{3B2C1695-3E85-319E-AFB8-C11031A4C7ED}"/>
              </a:ext>
            </a:extLst>
          </p:cNvPr>
          <p:cNvSpPr/>
          <p:nvPr userDrawn="1"/>
        </p:nvSpPr>
        <p:spPr>
          <a:xfrm>
            <a:off x="0" y="111098"/>
            <a:ext cx="3083859" cy="1179910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1420599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3937" y="370839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63BE1DA1-470A-99DA-471F-528BD3A5AC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39" y="184775"/>
            <a:ext cx="2066400" cy="1179910"/>
          </a:xfrm>
        </p:spPr>
        <p:txBody>
          <a:bodyPr/>
          <a:lstStyle>
            <a:lvl1pPr marL="0" indent="0" algn="ctr">
              <a:buNone/>
              <a:defRPr lang="zh-TW" altLang="en-US" sz="5400" b="1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zh-TW" altLang="en-US" sz="1800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zh-TW" altLang="en-US" dirty="0"/>
              <a:t>按一下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230028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BE6F76C6-76B7-B06B-8E0F-EE5EBB26403A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6879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A00868EA-A21B-4690-8D99-C8FDF4B6035B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854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Unrestricted | © Siemens 2023 | Siemens Digital Industries Software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4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9982CB5-2F2A-A204-F158-29E1F915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E716F9-2D15-E25F-4523-933422701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6837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60" r:id="rId4"/>
    <p:sldLayoutId id="2147483697" r:id="rId5"/>
    <p:sldLayoutId id="2147483685" r:id="rId6"/>
    <p:sldLayoutId id="2147483702" r:id="rId7"/>
    <p:sldLayoutId id="2147483700" r:id="rId8"/>
    <p:sldLayoutId id="2147483686" r:id="rId9"/>
    <p:sldLayoutId id="2147483701" r:id="rId10"/>
    <p:sldLayoutId id="2147483698" r:id="rId11"/>
    <p:sldLayoutId id="2147483690" r:id="rId12"/>
    <p:sldLayoutId id="2147483693" r:id="rId13"/>
    <p:sldLayoutId id="2147483689" r:id="rId14"/>
    <p:sldLayoutId id="2147483699" r:id="rId15"/>
    <p:sldLayoutId id="2147483696" r:id="rId16"/>
    <p:sldLayoutId id="21474836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BE07-7E0F-1BFE-7DA4-45A838E6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C8B5BB-EBF7-5033-F1FF-8586E1994143}"/>
              </a:ext>
            </a:extLst>
          </p:cNvPr>
          <p:cNvSpPr txBox="1"/>
          <p:nvPr/>
        </p:nvSpPr>
        <p:spPr>
          <a:xfrm>
            <a:off x="108539" y="63289"/>
            <a:ext cx="2067447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EDA</a:t>
            </a:r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SOLUTIONS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74281A-BC0E-1DB7-FBB1-4E989FBF7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電子電路設計與驗證解決方案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A794D4B-EF20-37E5-1C7D-B7EABD064A58}"/>
              </a:ext>
            </a:extLst>
          </p:cNvPr>
          <p:cNvSpPr/>
          <p:nvPr/>
        </p:nvSpPr>
        <p:spPr>
          <a:xfrm>
            <a:off x="11005419" y="1422401"/>
            <a:ext cx="1203412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0" rIns="144000" rtlCol="0" anchor="t"/>
          <a:lstStyle/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B9E70474-E9ED-33EC-4DB9-CA58F01F11A0}"/>
              </a:ext>
            </a:extLst>
          </p:cNvPr>
          <p:cNvSpPr/>
          <p:nvPr/>
        </p:nvSpPr>
        <p:spPr>
          <a:xfrm>
            <a:off x="-3932" y="1422401"/>
            <a:ext cx="1279265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468000" rIns="0" rtlCol="0" anchor="t"/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發起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4D493A1C-519F-97C3-9E3F-7C8314DCEC64}"/>
              </a:ext>
            </a:extLst>
          </p:cNvPr>
          <p:cNvSpPr/>
          <p:nvPr/>
        </p:nvSpPr>
        <p:spPr>
          <a:xfrm>
            <a:off x="1093818" y="1422400"/>
            <a:ext cx="10112750" cy="5435600"/>
          </a:xfrm>
          <a:prstGeom prst="rect">
            <a:avLst/>
          </a:prstGeom>
          <a:solidFill>
            <a:srgbClr val="71BF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432000" rIns="0" rtlCol="0" anchor="t"/>
          <a:lstStyle/>
          <a:p>
            <a:r>
              <a:rPr lang="zh-TW" altLang="en-US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電子設計與驗證</a:t>
            </a:r>
            <a:endParaRPr lang="zh-TW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箭號: 五邊形 201">
            <a:extLst>
              <a:ext uri="{FF2B5EF4-FFF2-40B4-BE49-F238E27FC236}">
                <a16:creationId xmlns:a16="http://schemas.microsoft.com/office/drawing/2014/main" id="{F0BE56AC-3993-EDF8-B52E-A11241735617}"/>
              </a:ext>
            </a:extLst>
          </p:cNvPr>
          <p:cNvSpPr/>
          <p:nvPr/>
        </p:nvSpPr>
        <p:spPr>
          <a:xfrm>
            <a:off x="8791728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Finish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箭號: 五邊形 202">
            <a:extLst>
              <a:ext uri="{FF2B5EF4-FFF2-40B4-BE49-F238E27FC236}">
                <a16:creationId xmlns:a16="http://schemas.microsoft.com/office/drawing/2014/main" id="{3D2147E1-F3D9-08B0-1881-AAB1E303C171}"/>
              </a:ext>
            </a:extLst>
          </p:cNvPr>
          <p:cNvSpPr/>
          <p:nvPr/>
        </p:nvSpPr>
        <p:spPr>
          <a:xfrm rot="10800000" flipV="1">
            <a:off x="41542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D7A789F-D26C-5F49-BB2C-ADED1C66BB9E}"/>
              </a:ext>
            </a:extLst>
          </p:cNvPr>
          <p:cNvSpPr/>
          <p:nvPr/>
        </p:nvSpPr>
        <p:spPr>
          <a:xfrm rot="10800000" flipV="1">
            <a:off x="3441813" y="1422403"/>
            <a:ext cx="5349915" cy="334800"/>
          </a:xfrm>
          <a:prstGeom prst="rect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 Progress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3" name="接點: 弧形 222">
            <a:extLst>
              <a:ext uri="{FF2B5EF4-FFF2-40B4-BE49-F238E27FC236}">
                <a16:creationId xmlns:a16="http://schemas.microsoft.com/office/drawing/2014/main" id="{2F70DB58-D5FE-1736-95D2-9B5C53FC0F37}"/>
              </a:ext>
            </a:extLst>
          </p:cNvPr>
          <p:cNvCxnSpPr>
            <a:cxnSpLocks/>
            <a:stCxn id="242" idx="3"/>
            <a:endCxn id="269" idx="1"/>
          </p:cNvCxnSpPr>
          <p:nvPr/>
        </p:nvCxnSpPr>
        <p:spPr>
          <a:xfrm>
            <a:off x="1921537" y="4125721"/>
            <a:ext cx="29521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接點: 弧形 223">
            <a:extLst>
              <a:ext uri="{FF2B5EF4-FFF2-40B4-BE49-F238E27FC236}">
                <a16:creationId xmlns:a16="http://schemas.microsoft.com/office/drawing/2014/main" id="{FAB79CD2-2E63-8A4C-66B4-B0251668DE58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>
            <a:off x="970268" y="4125720"/>
            <a:ext cx="437788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接點: 弧形 73">
            <a:extLst>
              <a:ext uri="{FF2B5EF4-FFF2-40B4-BE49-F238E27FC236}">
                <a16:creationId xmlns:a16="http://schemas.microsoft.com/office/drawing/2014/main" id="{C527F36B-B3C1-A328-7E67-191CCF6A1822}"/>
              </a:ext>
            </a:extLst>
          </p:cNvPr>
          <p:cNvCxnSpPr>
            <a:cxnSpLocks/>
            <a:stCxn id="272" idx="1"/>
            <a:endCxn id="248" idx="3"/>
          </p:cNvCxnSpPr>
          <p:nvPr/>
        </p:nvCxnSpPr>
        <p:spPr>
          <a:xfrm flipH="1">
            <a:off x="7773389" y="4125720"/>
            <a:ext cx="240445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接點: 弧形 76">
            <a:extLst>
              <a:ext uri="{FF2B5EF4-FFF2-40B4-BE49-F238E27FC236}">
                <a16:creationId xmlns:a16="http://schemas.microsoft.com/office/drawing/2014/main" id="{17CC44C8-4DF8-5653-DA52-0AA624D6CAB6}"/>
              </a:ext>
            </a:extLst>
          </p:cNvPr>
          <p:cNvCxnSpPr>
            <a:cxnSpLocks/>
            <a:stCxn id="255" idx="0"/>
            <a:endCxn id="253" idx="2"/>
          </p:cNvCxnSpPr>
          <p:nvPr/>
        </p:nvCxnSpPr>
        <p:spPr>
          <a:xfrm flipV="1">
            <a:off x="10573341" y="4012092"/>
            <a:ext cx="0" cy="227257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接點: 弧形 227">
            <a:extLst>
              <a:ext uri="{FF2B5EF4-FFF2-40B4-BE49-F238E27FC236}">
                <a16:creationId xmlns:a16="http://schemas.microsoft.com/office/drawing/2014/main" id="{A10556D0-5552-4F93-4196-A762DB76A504}"/>
              </a:ext>
            </a:extLst>
          </p:cNvPr>
          <p:cNvCxnSpPr>
            <a:cxnSpLocks/>
            <a:stCxn id="269" idx="0"/>
            <a:endCxn id="251" idx="0"/>
          </p:cNvCxnSpPr>
          <p:nvPr/>
        </p:nvCxnSpPr>
        <p:spPr>
          <a:xfrm rot="5400000" flipH="1" flipV="1">
            <a:off x="6394121" y="-275584"/>
            <a:ext cx="12700" cy="6538336"/>
          </a:xfrm>
          <a:prstGeom prst="curvedConnector3">
            <a:avLst>
              <a:gd name="adj1" fmla="val 8700000"/>
            </a:avLst>
          </a:prstGeom>
          <a:ln w="38100">
            <a:solidFill>
              <a:schemeClr val="bg1"/>
            </a:solidFill>
            <a:prstDash val="dash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DB7CE871-77C9-EBEB-6840-0679313D32D7}"/>
              </a:ext>
            </a:extLst>
          </p:cNvPr>
          <p:cNvCxnSpPr>
            <a:cxnSpLocks/>
            <a:stCxn id="246" idx="1"/>
            <a:endCxn id="255" idx="3"/>
          </p:cNvCxnSpPr>
          <p:nvPr/>
        </p:nvCxnSpPr>
        <p:spPr>
          <a:xfrm rot="10800000" flipV="1">
            <a:off x="10896444" y="4125721"/>
            <a:ext cx="538783" cy="622882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AEE8AB76-269F-DF7C-BEB9-B61E38DFBF4F}"/>
              </a:ext>
            </a:extLst>
          </p:cNvPr>
          <p:cNvSpPr txBox="1"/>
          <p:nvPr/>
        </p:nvSpPr>
        <p:spPr>
          <a:xfrm>
            <a:off x="1408056" y="2993584"/>
            <a:ext cx="513481" cy="2264273"/>
          </a:xfrm>
          <a:prstGeom prst="roundRect">
            <a:avLst>
              <a:gd name="adj" fmla="val 259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000" dirty="0">
                <a:solidFill>
                  <a:srgbClr val="374151"/>
                </a:solidFill>
              </a:rPr>
              <a:t>系統設計</a:t>
            </a:r>
            <a:endParaRPr lang="en-US" altLang="zh-TW" sz="2000" dirty="0">
              <a:solidFill>
                <a:srgbClr val="374151"/>
              </a:solidFill>
            </a:endParaRPr>
          </a:p>
          <a:p>
            <a:r>
              <a:rPr lang="zh-TW" altLang="en-US" sz="2000" dirty="0">
                <a:solidFill>
                  <a:srgbClr val="374151"/>
                </a:solidFill>
              </a:rPr>
              <a:t>草稿</a:t>
            </a: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6D837231-970E-F523-D40D-109933AF629C}"/>
              </a:ext>
            </a:extLst>
          </p:cNvPr>
          <p:cNvSpPr txBox="1"/>
          <p:nvPr/>
        </p:nvSpPr>
        <p:spPr>
          <a:xfrm>
            <a:off x="106759" y="2993583"/>
            <a:ext cx="863509" cy="226427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400" dirty="0">
                <a:solidFill>
                  <a:srgbClr val="374151"/>
                </a:solidFill>
              </a:rPr>
              <a:t>客戶</a:t>
            </a:r>
            <a:endParaRPr lang="en-US" altLang="zh-TW" sz="2400" dirty="0">
              <a:solidFill>
                <a:srgbClr val="374151"/>
              </a:solidFill>
            </a:endParaRPr>
          </a:p>
          <a:p>
            <a:r>
              <a:rPr lang="zh-TW" altLang="en-US" sz="2400" dirty="0">
                <a:solidFill>
                  <a:srgbClr val="374151"/>
                </a:solidFill>
              </a:rPr>
              <a:t>需求確認</a:t>
            </a:r>
          </a:p>
        </p:txBody>
      </p:sp>
      <p:cxnSp>
        <p:nvCxnSpPr>
          <p:cNvPr id="247" name="直線單箭頭接點 246">
            <a:extLst>
              <a:ext uri="{FF2B5EF4-FFF2-40B4-BE49-F238E27FC236}">
                <a16:creationId xmlns:a16="http://schemas.microsoft.com/office/drawing/2014/main" id="{ADFC78D2-4276-C815-7EB9-C7C1A18AD936}"/>
              </a:ext>
            </a:extLst>
          </p:cNvPr>
          <p:cNvCxnSpPr>
            <a:cxnSpLocks/>
            <a:stCxn id="269" idx="3"/>
            <a:endCxn id="248" idx="1"/>
          </p:cNvCxnSpPr>
          <p:nvPr/>
        </p:nvCxnSpPr>
        <p:spPr>
          <a:xfrm flipV="1">
            <a:off x="4033158" y="4125720"/>
            <a:ext cx="263849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文字方塊 247">
            <a:extLst>
              <a:ext uri="{FF2B5EF4-FFF2-40B4-BE49-F238E27FC236}">
                <a16:creationId xmlns:a16="http://schemas.microsoft.com/office/drawing/2014/main" id="{06147910-953C-B4B8-38DA-506D023C7C79}"/>
              </a:ext>
            </a:extLst>
          </p:cNvPr>
          <p:cNvSpPr txBox="1"/>
          <p:nvPr/>
        </p:nvSpPr>
        <p:spPr>
          <a:xfrm>
            <a:off x="4297007" y="2345940"/>
            <a:ext cx="3476382" cy="3559560"/>
          </a:xfrm>
          <a:prstGeom prst="roundRect">
            <a:avLst>
              <a:gd name="adj" fmla="val 826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endParaRPr lang="zh-TW" altLang="en-US" sz="1100" b="0" dirty="0"/>
          </a:p>
        </p:txBody>
      </p:sp>
      <p:cxnSp>
        <p:nvCxnSpPr>
          <p:cNvPr id="249" name="接點: 弧形 248">
            <a:extLst>
              <a:ext uri="{FF2B5EF4-FFF2-40B4-BE49-F238E27FC236}">
                <a16:creationId xmlns:a16="http://schemas.microsoft.com/office/drawing/2014/main" id="{6000F307-986A-9DEE-001B-1D30BC0B643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6" y="3304551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字方塊 250">
            <a:extLst>
              <a:ext uri="{FF2B5EF4-FFF2-40B4-BE49-F238E27FC236}">
                <a16:creationId xmlns:a16="http://schemas.microsoft.com/office/drawing/2014/main" id="{52364A97-F793-B832-1760-B1D9F7C1072F}"/>
              </a:ext>
            </a:extLst>
          </p:cNvPr>
          <p:cNvSpPr txBox="1"/>
          <p:nvPr/>
        </p:nvSpPr>
        <p:spPr>
          <a:xfrm>
            <a:off x="9340187" y="2993584"/>
            <a:ext cx="646204" cy="226427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algn="ctr"/>
            <a:r>
              <a:rPr lang="zh-TW" altLang="en-US" sz="2400" b="1" kern="12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試樣</a:t>
            </a:r>
          </a:p>
        </p:txBody>
      </p:sp>
      <p:grpSp>
        <p:nvGrpSpPr>
          <p:cNvPr id="326" name="群組 325">
            <a:extLst>
              <a:ext uri="{FF2B5EF4-FFF2-40B4-BE49-F238E27FC236}">
                <a16:creationId xmlns:a16="http://schemas.microsoft.com/office/drawing/2014/main" id="{3B78428A-2C81-298D-5580-50F1F59314F3}"/>
              </a:ext>
            </a:extLst>
          </p:cNvPr>
          <p:cNvGrpSpPr/>
          <p:nvPr/>
        </p:nvGrpSpPr>
        <p:grpSpPr>
          <a:xfrm>
            <a:off x="10250239" y="2993584"/>
            <a:ext cx="646204" cy="1018508"/>
            <a:chOff x="10250239" y="3135734"/>
            <a:chExt cx="646204" cy="1144841"/>
          </a:xfrm>
        </p:grpSpPr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ED262EA0-2053-385B-DA8A-8EE6A8781762}"/>
                </a:ext>
              </a:extLst>
            </p:cNvPr>
            <p:cNvSpPr txBox="1"/>
            <p:nvPr/>
          </p:nvSpPr>
          <p:spPr>
            <a:xfrm>
              <a:off x="10250239" y="3135734"/>
              <a:ext cx="646204" cy="1144841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6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製造量產</a:t>
              </a:r>
            </a:p>
          </p:txBody>
        </p:sp>
        <p:pic>
          <p:nvPicPr>
            <p:cNvPr id="254" name="Picture 6" descr="升級為3D輪廓分析檢測有效提升PCBA良率- ADLINK Blog">
              <a:extLst>
                <a:ext uri="{FF2B5EF4-FFF2-40B4-BE49-F238E27FC236}">
                  <a16:creationId xmlns:a16="http://schemas.microsoft.com/office/drawing/2014/main" id="{FAD746AC-B333-7FCB-FF07-B64A4F2EE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1" t="24312" r="49494" b="22724"/>
            <a:stretch/>
          </p:blipFill>
          <p:spPr bwMode="auto">
            <a:xfrm>
              <a:off x="10299694" y="3818010"/>
              <a:ext cx="560557" cy="318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7" name="群組 326">
            <a:extLst>
              <a:ext uri="{FF2B5EF4-FFF2-40B4-BE49-F238E27FC236}">
                <a16:creationId xmlns:a16="http://schemas.microsoft.com/office/drawing/2014/main" id="{B9C2D2FA-CFBF-C87D-31FD-45A624283B82}"/>
              </a:ext>
            </a:extLst>
          </p:cNvPr>
          <p:cNvGrpSpPr/>
          <p:nvPr/>
        </p:nvGrpSpPr>
        <p:grpSpPr>
          <a:xfrm>
            <a:off x="10250239" y="4239349"/>
            <a:ext cx="646204" cy="1018508"/>
            <a:chOff x="10250239" y="4381500"/>
            <a:chExt cx="646204" cy="1018507"/>
          </a:xfrm>
        </p:grpSpPr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C1D7883A-3294-D6C6-1EC1-81D4F63270F9}"/>
                </a:ext>
              </a:extLst>
            </p:cNvPr>
            <p:cNvSpPr txBox="1"/>
            <p:nvPr/>
          </p:nvSpPr>
          <p:spPr>
            <a:xfrm>
              <a:off x="10250239" y="4381500"/>
              <a:ext cx="646204" cy="1018507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組裝</a:t>
              </a:r>
            </a:p>
          </p:txBody>
        </p:sp>
        <p:pic>
          <p:nvPicPr>
            <p:cNvPr id="256" name="Picture 2" descr="Jigsaw Puzzle Pieces Silhouette Transparent Background, Jigsaw Puzzle Icon  Web Assemble, Clean, Concept, Consultant PNG Image For Free Download">
              <a:extLst>
                <a:ext uri="{FF2B5EF4-FFF2-40B4-BE49-F238E27FC236}">
                  <a16:creationId xmlns:a16="http://schemas.microsoft.com/office/drawing/2014/main" id="{669B0CF1-6EEE-2A6D-8E04-9B49B8827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29" t="34338" r="17592" b="35465"/>
            <a:stretch/>
          </p:blipFill>
          <p:spPr bwMode="auto">
            <a:xfrm>
              <a:off x="10302754" y="5009586"/>
              <a:ext cx="541173" cy="24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群組 324">
            <a:extLst>
              <a:ext uri="{FF2B5EF4-FFF2-40B4-BE49-F238E27FC236}">
                <a16:creationId xmlns:a16="http://schemas.microsoft.com/office/drawing/2014/main" id="{70BB6B70-B156-A607-07A5-383205FE51B6}"/>
              </a:ext>
            </a:extLst>
          </p:cNvPr>
          <p:cNvGrpSpPr/>
          <p:nvPr/>
        </p:nvGrpSpPr>
        <p:grpSpPr>
          <a:xfrm>
            <a:off x="11435226" y="2993584"/>
            <a:ext cx="646204" cy="2264273"/>
            <a:chOff x="11435226" y="3135734"/>
            <a:chExt cx="646204" cy="2264273"/>
          </a:xfrm>
        </p:grpSpPr>
        <p:sp>
          <p:nvSpPr>
            <p:cNvPr id="246" name="文字方塊 245">
              <a:extLst>
                <a:ext uri="{FF2B5EF4-FFF2-40B4-BE49-F238E27FC236}">
                  <a16:creationId xmlns:a16="http://schemas.microsoft.com/office/drawing/2014/main" id="{C569F470-ACFC-622E-4600-BEDF93E83832}"/>
                </a:ext>
              </a:extLst>
            </p:cNvPr>
            <p:cNvSpPr txBox="1"/>
            <p:nvPr/>
          </p:nvSpPr>
          <p:spPr>
            <a:xfrm>
              <a:off x="11435226" y="3135734"/>
              <a:ext cx="646204" cy="226427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24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出貨</a:t>
              </a:r>
            </a:p>
          </p:txBody>
        </p:sp>
        <p:pic>
          <p:nvPicPr>
            <p:cNvPr id="257" name="圖形 256" descr="紙箱 外框">
              <a:extLst>
                <a:ext uri="{FF2B5EF4-FFF2-40B4-BE49-F238E27FC236}">
                  <a16:creationId xmlns:a16="http://schemas.microsoft.com/office/drawing/2014/main" id="{B24B6081-582A-E135-CFAD-D5C6A0A4A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56914" y="4892099"/>
              <a:ext cx="434612" cy="434612"/>
            </a:xfrm>
            <a:prstGeom prst="rect">
              <a:avLst/>
            </a:prstGeom>
          </p:spPr>
        </p:pic>
      </p:grpSp>
      <p:cxnSp>
        <p:nvCxnSpPr>
          <p:cNvPr id="259" name="接點: 弧形 477">
            <a:extLst>
              <a:ext uri="{FF2B5EF4-FFF2-40B4-BE49-F238E27FC236}">
                <a16:creationId xmlns:a16="http://schemas.microsoft.com/office/drawing/2014/main" id="{50A8DC05-8B45-0BCA-58EF-BF45BEB2815F}"/>
              </a:ext>
            </a:extLst>
          </p:cNvPr>
          <p:cNvCxnSpPr>
            <a:cxnSpLocks/>
            <a:stCxn id="251" idx="1"/>
            <a:endCxn id="272" idx="3"/>
          </p:cNvCxnSpPr>
          <p:nvPr/>
        </p:nvCxnSpPr>
        <p:spPr>
          <a:xfrm flipH="1" flipV="1">
            <a:off x="9105583" y="4125720"/>
            <a:ext cx="234604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接點: 弧形 259">
            <a:extLst>
              <a:ext uri="{FF2B5EF4-FFF2-40B4-BE49-F238E27FC236}">
                <a16:creationId xmlns:a16="http://schemas.microsoft.com/office/drawing/2014/main" id="{F75AD44E-56A9-24EB-E873-688BB3D72782}"/>
              </a:ext>
            </a:extLst>
          </p:cNvPr>
          <p:cNvCxnSpPr>
            <a:cxnSpLocks/>
            <a:stCxn id="253" idx="1"/>
            <a:endCxn id="251" idx="3"/>
          </p:cNvCxnSpPr>
          <p:nvPr/>
        </p:nvCxnSpPr>
        <p:spPr>
          <a:xfrm rot="10800000" flipV="1">
            <a:off x="9986391" y="3502837"/>
            <a:ext cx="263848" cy="622883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EA9BC2FD-57BE-9F67-79AF-41236B9DD746}"/>
              </a:ext>
            </a:extLst>
          </p:cNvPr>
          <p:cNvSpPr txBox="1"/>
          <p:nvPr/>
        </p:nvSpPr>
        <p:spPr>
          <a:xfrm>
            <a:off x="2216747" y="2993584"/>
            <a:ext cx="1816411" cy="2264273"/>
          </a:xfrm>
          <a:prstGeom prst="roundRect">
            <a:avLst>
              <a:gd name="adj" fmla="val 7669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800" dirty="0">
                <a:solidFill>
                  <a:srgbClr val="C00000"/>
                </a:solidFill>
              </a:rPr>
              <a:t>PADS Professional</a:t>
            </a:r>
          </a:p>
          <a:p>
            <a:r>
              <a:rPr lang="en-US" altLang="zh-TW" sz="1800" dirty="0">
                <a:solidFill>
                  <a:srgbClr val="C00000"/>
                </a:solidFill>
              </a:rPr>
              <a:t>Xpedition</a:t>
            </a:r>
          </a:p>
          <a:p>
            <a:r>
              <a:rPr lang="en-US" altLang="zh-TW" sz="1600" dirty="0">
                <a:solidFill>
                  <a:schemeClr val="accent1"/>
                </a:solidFill>
              </a:rPr>
              <a:t>PCB</a:t>
            </a:r>
            <a:r>
              <a:rPr lang="zh-TW" altLang="en-US" sz="1600" dirty="0">
                <a:solidFill>
                  <a:schemeClr val="accent1"/>
                </a:solidFill>
              </a:rPr>
              <a:t>設計與</a:t>
            </a:r>
            <a:r>
              <a:rPr lang="en-US" altLang="zh-TW" sz="1600" dirty="0">
                <a:solidFill>
                  <a:schemeClr val="accent1"/>
                </a:solidFill>
              </a:rPr>
              <a:t>Layout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A35640DE-E80B-4B98-EB59-36D08E06DE1D}"/>
              </a:ext>
            </a:extLst>
          </p:cNvPr>
          <p:cNvSpPr txBox="1"/>
          <p:nvPr/>
        </p:nvSpPr>
        <p:spPr>
          <a:xfrm>
            <a:off x="6096000" y="2461998"/>
            <a:ext cx="1551714" cy="1663721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4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NPI</a:t>
            </a:r>
          </a:p>
          <a:p>
            <a:r>
              <a:rPr lang="zh-TW" altLang="en-US" sz="1200" dirty="0">
                <a:solidFill>
                  <a:schemeClr val="accent1"/>
                </a:solidFill>
              </a:rPr>
              <a:t>高階</a:t>
            </a:r>
            <a:r>
              <a:rPr lang="en-US" altLang="zh-TW" sz="1200" dirty="0">
                <a:solidFill>
                  <a:schemeClr val="accent1"/>
                </a:solidFill>
              </a:rPr>
              <a:t>PCB</a:t>
            </a:r>
            <a:r>
              <a:rPr lang="zh-TW" altLang="en-US" sz="1200" dirty="0">
                <a:solidFill>
                  <a:schemeClr val="accent1"/>
                </a:solidFill>
              </a:rPr>
              <a:t>設計審核</a:t>
            </a:r>
            <a:endParaRPr lang="en-US" altLang="zh-TW" sz="1200" dirty="0">
              <a:solidFill>
                <a:schemeClr val="accent1"/>
              </a:solidFill>
            </a:endParaRPr>
          </a:p>
          <a:p>
            <a:r>
              <a:rPr lang="zh-TW" altLang="en-US" sz="1200" dirty="0">
                <a:solidFill>
                  <a:schemeClr val="accent1"/>
                </a:solidFill>
              </a:rPr>
              <a:t>製造可行性驗證</a:t>
            </a:r>
            <a:endParaRPr lang="en-US" altLang="zh-TW" sz="1200" dirty="0">
              <a:solidFill>
                <a:schemeClr val="accent1"/>
              </a:solidFill>
            </a:endParaRPr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276EF0E4-53BF-608A-9E8A-3C09DB39FCCC}"/>
              </a:ext>
            </a:extLst>
          </p:cNvPr>
          <p:cNvSpPr txBox="1"/>
          <p:nvPr/>
        </p:nvSpPr>
        <p:spPr>
          <a:xfrm>
            <a:off x="8013834" y="2467469"/>
            <a:ext cx="1091749" cy="3316502"/>
          </a:xfrm>
          <a:prstGeom prst="roundRect">
            <a:avLst>
              <a:gd name="adj" fmla="val 12305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PP</a:t>
            </a:r>
          </a:p>
          <a:p>
            <a:r>
              <a:rPr lang="zh-TW" altLang="en-US" sz="1400" dirty="0">
                <a:solidFill>
                  <a:schemeClr val="accent1"/>
                </a:solidFill>
              </a:rPr>
              <a:t>製程設計</a:t>
            </a:r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E08471AC-DA8F-CE95-5971-BD0C74A5234F}"/>
              </a:ext>
            </a:extLst>
          </p:cNvPr>
          <p:cNvSpPr txBox="1"/>
          <p:nvPr/>
        </p:nvSpPr>
        <p:spPr>
          <a:xfrm>
            <a:off x="6096000" y="4166276"/>
            <a:ext cx="1551714" cy="1612224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dirty="0" err="1">
                <a:solidFill>
                  <a:srgbClr val="C00000"/>
                </a:solidFill>
              </a:rPr>
              <a:t>GerbTooL</a:t>
            </a:r>
            <a:endParaRPr lang="en-US" altLang="zh-TW" sz="1600" dirty="0">
              <a:solidFill>
                <a:srgbClr val="C00000"/>
              </a:solidFill>
            </a:endParaRPr>
          </a:p>
          <a:p>
            <a:r>
              <a:rPr lang="zh-TW" altLang="en-US" sz="1400" dirty="0">
                <a:solidFill>
                  <a:schemeClr val="accent1"/>
                </a:solidFill>
              </a:rPr>
              <a:t>基礎</a:t>
            </a:r>
            <a:r>
              <a:rPr lang="en-US" altLang="zh-TW" sz="1400" dirty="0">
                <a:solidFill>
                  <a:schemeClr val="accent1"/>
                </a:solidFill>
              </a:rPr>
              <a:t>DRC</a:t>
            </a:r>
            <a:r>
              <a:rPr lang="zh-TW" altLang="en-US" sz="1400" dirty="0">
                <a:solidFill>
                  <a:schemeClr val="accent1"/>
                </a:solidFill>
              </a:rPr>
              <a:t>檢查</a:t>
            </a:r>
            <a:endParaRPr lang="en-US" altLang="zh-TW" sz="1400" dirty="0">
              <a:solidFill>
                <a:schemeClr val="accent1"/>
              </a:solidFill>
            </a:endParaRPr>
          </a:p>
        </p:txBody>
      </p:sp>
      <p:cxnSp>
        <p:nvCxnSpPr>
          <p:cNvPr id="298" name="接點: 弧形 297">
            <a:extLst>
              <a:ext uri="{FF2B5EF4-FFF2-40B4-BE49-F238E27FC236}">
                <a16:creationId xmlns:a16="http://schemas.microsoft.com/office/drawing/2014/main" id="{A5A43525-A9B5-AA8C-2E08-931F4F42FF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2" y="4956347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矩形 336">
            <a:extLst>
              <a:ext uri="{FF2B5EF4-FFF2-40B4-BE49-F238E27FC236}">
                <a16:creationId xmlns:a16="http://schemas.microsoft.com/office/drawing/2014/main" id="{48378CAE-3C77-FB8F-7306-C1F78C4EC9A2}"/>
              </a:ext>
            </a:extLst>
          </p:cNvPr>
          <p:cNvSpPr/>
          <p:nvPr/>
        </p:nvSpPr>
        <p:spPr>
          <a:xfrm>
            <a:off x="1093818" y="6383642"/>
            <a:ext cx="10127914" cy="480708"/>
          </a:xfrm>
          <a:prstGeom prst="rect">
            <a:avLst/>
          </a:prstGeom>
          <a:solidFill>
            <a:srgbClr val="2880A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bIns="108000" rtlCol="0" anchor="b"/>
          <a:lstStyle/>
          <a:p>
            <a:r>
              <a:rPr lang="zh-TW" altLang="en-US" sz="1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機械設計與產品開發</a:t>
            </a:r>
          </a:p>
        </p:txBody>
      </p:sp>
      <p:cxnSp>
        <p:nvCxnSpPr>
          <p:cNvPr id="338" name="接點: 弧形 285">
            <a:extLst>
              <a:ext uri="{FF2B5EF4-FFF2-40B4-BE49-F238E27FC236}">
                <a16:creationId xmlns:a16="http://schemas.microsoft.com/office/drawing/2014/main" id="{736A9411-B5C9-0A0C-441E-FA682391711A}"/>
              </a:ext>
            </a:extLst>
          </p:cNvPr>
          <p:cNvCxnSpPr>
            <a:cxnSpLocks/>
            <a:stCxn id="255" idx="2"/>
          </p:cNvCxnSpPr>
          <p:nvPr/>
        </p:nvCxnSpPr>
        <p:spPr>
          <a:xfrm>
            <a:off x="10573341" y="5257857"/>
            <a:ext cx="0" cy="1568393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接點: 弧形 340">
            <a:extLst>
              <a:ext uri="{FF2B5EF4-FFF2-40B4-BE49-F238E27FC236}">
                <a16:creationId xmlns:a16="http://schemas.microsoft.com/office/drawing/2014/main" id="{6941C29D-5BED-D7D9-7DD1-E2C9877746FE}"/>
              </a:ext>
            </a:extLst>
          </p:cNvPr>
          <p:cNvCxnSpPr>
            <a:cxnSpLocks/>
            <a:stCxn id="243" idx="3"/>
          </p:cNvCxnSpPr>
          <p:nvPr/>
        </p:nvCxnSpPr>
        <p:spPr>
          <a:xfrm>
            <a:off x="970268" y="4125720"/>
            <a:ext cx="325289" cy="2732280"/>
          </a:xfrm>
          <a:prstGeom prst="curvedConnector2">
            <a:avLst/>
          </a:prstGeom>
          <a:ln w="38100">
            <a:solidFill>
              <a:schemeClr val="bg1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BA5A34DF-7F81-771D-F9AC-124160E56B5E}"/>
              </a:ext>
            </a:extLst>
          </p:cNvPr>
          <p:cNvSpPr txBox="1"/>
          <p:nvPr/>
        </p:nvSpPr>
        <p:spPr>
          <a:xfrm>
            <a:off x="4410851" y="2461998"/>
            <a:ext cx="1551714" cy="3316498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20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HyperLynx</a:t>
            </a:r>
          </a:p>
          <a:p>
            <a:r>
              <a:rPr lang="zh-TW" altLang="en-US" sz="1800" dirty="0">
                <a:solidFill>
                  <a:schemeClr val="accent1"/>
                </a:solidFill>
              </a:rPr>
              <a:t>電氣特性</a:t>
            </a:r>
            <a:endParaRPr lang="en-US" altLang="zh-TW" sz="1800" dirty="0">
              <a:solidFill>
                <a:schemeClr val="accent1"/>
              </a:solidFill>
            </a:endParaRPr>
          </a:p>
          <a:p>
            <a:r>
              <a:rPr lang="zh-TW" altLang="en-US" sz="1800" dirty="0">
                <a:solidFill>
                  <a:schemeClr val="accent1"/>
                </a:solidFill>
              </a:rPr>
              <a:t>驗証模擬</a:t>
            </a:r>
          </a:p>
        </p:txBody>
      </p:sp>
    </p:spTree>
    <p:extLst>
      <p:ext uri="{BB962C8B-B14F-4D97-AF65-F5344CB8AC3E}">
        <p14:creationId xmlns:p14="http://schemas.microsoft.com/office/powerpoint/2010/main" val="229062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9DE0-801D-7C25-AC26-9AC2CF8E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4A79C4-04F4-B8C2-1D4F-924B0F9A7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0255"/>
              </p:ext>
            </p:extLst>
          </p:nvPr>
        </p:nvGraphicFramePr>
        <p:xfrm>
          <a:off x="0" y="674725"/>
          <a:ext cx="12196800" cy="4589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2682384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  <a:gridCol w="3976777">
                  <a:extLst>
                    <a:ext uri="{9D8B030D-6E8A-4147-A177-3AD203B41FA5}">
                      <a16:colId xmlns:a16="http://schemas.microsoft.com/office/drawing/2014/main" val="3055200445"/>
                    </a:ext>
                  </a:extLst>
                </a:gridCol>
                <a:gridCol w="1846053">
                  <a:extLst>
                    <a:ext uri="{9D8B030D-6E8A-4147-A177-3AD203B41FA5}">
                      <a16:colId xmlns:a16="http://schemas.microsoft.com/office/drawing/2014/main" val="719720565"/>
                    </a:ext>
                  </a:extLst>
                </a:gridCol>
                <a:gridCol w="1931366">
                  <a:extLst>
                    <a:ext uri="{9D8B030D-6E8A-4147-A177-3AD203B41FA5}">
                      <a16:colId xmlns:a16="http://schemas.microsoft.com/office/drawing/2014/main" val="1912016547"/>
                    </a:ext>
                  </a:extLst>
                </a:gridCol>
              </a:tblGrid>
              <a:tr h="282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專案發起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設計驗証與模擬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製造驗証與生產準備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協同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428440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53039813-85D5-D647-8849-92BD8191C0FF}"/>
              </a:ext>
            </a:extLst>
          </p:cNvPr>
          <p:cNvSpPr/>
          <p:nvPr/>
        </p:nvSpPr>
        <p:spPr>
          <a:xfrm>
            <a:off x="4103583" y="5017710"/>
            <a:ext cx="631264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6DA922-7D27-65BE-68CB-76C9FB9E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7" y="5130980"/>
            <a:ext cx="1703331" cy="1705959"/>
          </a:xfrm>
          <a:prstGeom prst="rect">
            <a:avLst/>
          </a:prstGeom>
        </p:spPr>
      </p:pic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70C1B8C5-6805-A6AB-47A4-401CD7BDFF23}"/>
              </a:ext>
            </a:extLst>
          </p:cNvPr>
          <p:cNvSpPr/>
          <p:nvPr/>
        </p:nvSpPr>
        <p:spPr>
          <a:xfrm>
            <a:off x="8499635" y="1169448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NPI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檢查設計可製造性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確保符合製造需求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降低生產問題與成本</a:t>
            </a: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DE26921A-C6A5-35E8-9E1E-939F7390037F}"/>
              </a:ext>
            </a:extLst>
          </p:cNvPr>
          <p:cNvSpPr/>
          <p:nvPr/>
        </p:nvSpPr>
        <p:spPr>
          <a:xfrm>
            <a:off x="1956229" y="1007507"/>
            <a:ext cx="1912954" cy="1394307"/>
          </a:xfrm>
          <a:prstGeom prst="roundRect">
            <a:avLst>
              <a:gd name="adj" fmla="val 6232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Design Enter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Xpedition Designer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設計與繪製原理圖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確保元件選擇與連接準確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佈局基礎</a:t>
            </a:r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20B9F4E4-58C5-528E-CFF2-889E5CA45A6F}"/>
              </a:ext>
            </a:extLst>
          </p:cNvPr>
          <p:cNvSpPr/>
          <p:nvPr/>
        </p:nvSpPr>
        <p:spPr>
          <a:xfrm>
            <a:off x="6482410" y="1948894"/>
            <a:ext cx="1781698" cy="1635605"/>
          </a:xfrm>
          <a:prstGeom prst="roundRect">
            <a:avLst>
              <a:gd name="adj" fmla="val 6206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000" tIns="71631" rIns="36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Simulation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DRC / </a:t>
            </a: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SI/PI/AMS/Thermal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模擬信號與電源完整性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提前發現設計問題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優化性能提升可靠性</a:t>
            </a:r>
            <a:endParaRPr lang="it-IT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B1752F54-C76E-126B-BE01-346F0FD10294}"/>
              </a:ext>
            </a:extLst>
          </p:cNvPr>
          <p:cNvSpPr/>
          <p:nvPr/>
        </p:nvSpPr>
        <p:spPr>
          <a:xfrm>
            <a:off x="4550136" y="1005478"/>
            <a:ext cx="1804771" cy="1359890"/>
          </a:xfrm>
          <a:prstGeom prst="roundRect">
            <a:avLst>
              <a:gd name="adj" fmla="val 4923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Verification</a:t>
            </a:r>
          </a:p>
          <a:p>
            <a:pPr algn="ctr"/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Schematic Analysis 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驗證原理圖電氣連接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檢查元件規格與設計錯誤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確保設計準確符合規範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CE9C1DF2-5A13-B520-984F-EC26D6B013ED}"/>
              </a:ext>
            </a:extLst>
          </p:cNvPr>
          <p:cNvSpPr/>
          <p:nvPr/>
        </p:nvSpPr>
        <p:spPr>
          <a:xfrm>
            <a:off x="6723061" y="5357727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lvl="0"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約束定義和檢查</a:t>
            </a:r>
            <a:endParaRPr lang="en-US" altLang="zh-TW" sz="105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en-US" altLang="en-US" sz="1050" b="1" kern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Constraint Manager</a:t>
            </a: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設置設計規則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自動檢查設計錯誤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確保符合電氣與製造要求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051D65B1-3298-5495-C6BB-622F84F3807D}"/>
              </a:ext>
            </a:extLst>
          </p:cNvPr>
          <p:cNvSpPr/>
          <p:nvPr/>
        </p:nvSpPr>
        <p:spPr>
          <a:xfrm>
            <a:off x="1956229" y="5357727"/>
            <a:ext cx="2779236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TEAMCENTER PLM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Library/ECAD-BOM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電子料件管理 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BOM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確保標準化與版本控制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支持資料交換</a:t>
            </a:r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1E171611-FA78-63B1-7323-43789A85BC35}"/>
              </a:ext>
            </a:extLst>
          </p:cNvPr>
          <p:cNvSpPr/>
          <p:nvPr/>
        </p:nvSpPr>
        <p:spPr>
          <a:xfrm>
            <a:off x="8689188" y="5357727"/>
            <a:ext cx="1511722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Customization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Automation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自動化設計流程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客製化腳本與工具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提高效率與精度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F751215E-C178-0FC3-307B-324E190415CC}"/>
              </a:ext>
            </a:extLst>
          </p:cNvPr>
          <p:cNvSpPr/>
          <p:nvPr/>
        </p:nvSpPr>
        <p:spPr>
          <a:xfrm>
            <a:off x="2429579" y="2787114"/>
            <a:ext cx="1815134" cy="2450193"/>
          </a:xfrm>
          <a:prstGeom prst="roundRect">
            <a:avLst>
              <a:gd name="adj" fmla="val 323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PCB Layout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 Xpedition PCB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原理圖轉換為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完成元件放置與走線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確保電氣性能與可製造性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FD4E3229-F83A-17A8-1B59-3488359DA806}"/>
              </a:ext>
            </a:extLst>
          </p:cNvPr>
          <p:cNvSpPr/>
          <p:nvPr/>
        </p:nvSpPr>
        <p:spPr>
          <a:xfrm>
            <a:off x="10437693" y="4512809"/>
            <a:ext cx="1647767" cy="618171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ECAD/ MCAD 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協作</a:t>
            </a:r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C19A8B1C-0797-33A1-A0D1-A35B2E660D76}"/>
              </a:ext>
            </a:extLst>
          </p:cNvPr>
          <p:cNvSpPr/>
          <p:nvPr/>
        </p:nvSpPr>
        <p:spPr>
          <a:xfrm>
            <a:off x="10437693" y="5174026"/>
            <a:ext cx="1647767" cy="6181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Siemens NX</a:t>
            </a:r>
          </a:p>
        </p:txBody>
      </p: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29E75682-2FDD-73E8-29B7-61E962ECB8BD}"/>
              </a:ext>
            </a:extLst>
          </p:cNvPr>
          <p:cNvSpPr/>
          <p:nvPr/>
        </p:nvSpPr>
        <p:spPr>
          <a:xfrm>
            <a:off x="8499635" y="3870792"/>
            <a:ext cx="1657592" cy="1155553"/>
          </a:xfrm>
          <a:prstGeom prst="roundRect">
            <a:avLst>
              <a:gd name="adj" fmla="val 798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MFG Data Generation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PP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確保符合製造標準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支持快速投產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7FD1AEB-320B-376D-F570-AA09D6A83999}"/>
              </a:ext>
            </a:extLst>
          </p:cNvPr>
          <p:cNvGrpSpPr/>
          <p:nvPr/>
        </p:nvGrpSpPr>
        <p:grpSpPr>
          <a:xfrm>
            <a:off x="105236" y="1015821"/>
            <a:ext cx="1460407" cy="1992443"/>
            <a:chOff x="254093" y="2460495"/>
            <a:chExt cx="1460407" cy="1992443"/>
          </a:xfrm>
        </p:grpSpPr>
        <p:sp>
          <p:nvSpPr>
            <p:cNvPr id="176" name="矩形: 圓角 175">
              <a:extLst>
                <a:ext uri="{FF2B5EF4-FFF2-40B4-BE49-F238E27FC236}">
                  <a16:creationId xmlns:a16="http://schemas.microsoft.com/office/drawing/2014/main" id="{8C6BB7F6-E333-4808-B947-5F16E38949A0}"/>
                </a:ext>
              </a:extLst>
            </p:cNvPr>
            <p:cNvSpPr/>
            <p:nvPr/>
          </p:nvSpPr>
          <p:spPr>
            <a:xfrm>
              <a:off x="254093" y="2460495"/>
              <a:ext cx="1460407" cy="1992443"/>
            </a:xfrm>
            <a:prstGeom prst="roundRect">
              <a:avLst>
                <a:gd name="adj" fmla="val 6479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631" tIns="71631" rIns="71631" bIns="71631" numCol="1" spcCol="1270" anchor="t" anchorCtr="0">
              <a:no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050" b="1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系統設計師</a:t>
              </a:r>
              <a:endPara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622300">
                <a:spcBef>
                  <a:spcPct val="0"/>
                </a:spcBef>
              </a:pPr>
              <a:r>
                <a:rPr lang="en-US" altLang="zh-TW" sz="105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System Designer</a:t>
              </a:r>
            </a:p>
            <a:p>
              <a:pPr algn="ctr" defTabSz="622300">
                <a:spcBef>
                  <a:spcPct val="0"/>
                </a:spcBef>
              </a:pPr>
              <a:endPara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進行系統前期規劃</a:t>
              </a:r>
              <a:endPara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確保設計同步進行</a:t>
              </a:r>
            </a:p>
          </p:txBody>
        </p:sp>
        <p:grpSp>
          <p:nvGrpSpPr>
            <p:cNvPr id="189" name="群組 188">
              <a:extLst>
                <a:ext uri="{FF2B5EF4-FFF2-40B4-BE49-F238E27FC236}">
                  <a16:creationId xmlns:a16="http://schemas.microsoft.com/office/drawing/2014/main" id="{352E131C-D093-8671-66D2-6864B018B56E}"/>
                </a:ext>
              </a:extLst>
            </p:cNvPr>
            <p:cNvGrpSpPr/>
            <p:nvPr/>
          </p:nvGrpSpPr>
          <p:grpSpPr>
            <a:xfrm>
              <a:off x="353968" y="3574906"/>
              <a:ext cx="1260656" cy="756473"/>
              <a:chOff x="3665776" y="2106154"/>
              <a:chExt cx="5417264" cy="32507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90" name="直線接點 189">
                <a:extLst>
                  <a:ext uri="{FF2B5EF4-FFF2-40B4-BE49-F238E27FC236}">
                    <a16:creationId xmlns:a16="http://schemas.microsoft.com/office/drawing/2014/main" id="{21DAD3B7-383B-17B2-5766-C335702B1231}"/>
                  </a:ext>
                </a:extLst>
              </p:cNvPr>
              <p:cNvCxnSpPr>
                <a:stCxn id="192" idx="2"/>
                <a:endCxn id="201" idx="0"/>
              </p:cNvCxnSpPr>
              <p:nvPr/>
            </p:nvCxnSpPr>
            <p:spPr>
              <a:xfrm flipH="1">
                <a:off x="6431002" y="2331580"/>
                <a:ext cx="4" cy="281837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FF73C95D-F7D2-7DD0-2536-5E729BCBAD14}"/>
                  </a:ext>
                </a:extLst>
              </p:cNvPr>
              <p:cNvCxnSpPr>
                <a:stCxn id="197" idx="3"/>
                <a:endCxn id="194" idx="1"/>
              </p:cNvCxnSpPr>
              <p:nvPr/>
            </p:nvCxnSpPr>
            <p:spPr>
              <a:xfrm>
                <a:off x="4779407" y="3451860"/>
                <a:ext cx="3190002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9D950062-8F57-8948-37AE-F5337560E27A}"/>
                  </a:ext>
                </a:extLst>
              </p:cNvPr>
              <p:cNvSpPr/>
              <p:nvPr/>
            </p:nvSpPr>
            <p:spPr>
              <a:xfrm>
                <a:off x="5665829" y="2106154"/>
                <a:ext cx="1530350" cy="2254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A138579A-FDE0-03F9-86AF-928B0C7C24D2}"/>
                  </a:ext>
                </a:extLst>
              </p:cNvPr>
              <p:cNvSpPr/>
              <p:nvPr/>
            </p:nvSpPr>
            <p:spPr>
              <a:xfrm>
                <a:off x="7672229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B7ED175C-58C5-DC81-BC82-84C37BB047AF}"/>
                  </a:ext>
                </a:extLst>
              </p:cNvPr>
              <p:cNvSpPr/>
              <p:nvPr/>
            </p:nvSpPr>
            <p:spPr>
              <a:xfrm>
                <a:off x="7969409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39BB9C94-87BE-DBB7-9BE8-B15A4DB90EA3}"/>
                  </a:ext>
                </a:extLst>
              </p:cNvPr>
              <p:cNvSpPr/>
              <p:nvPr/>
            </p:nvSpPr>
            <p:spPr>
              <a:xfrm>
                <a:off x="767984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047E8406-F27F-3438-EDDE-6C0C123CEDFA}"/>
                  </a:ext>
                </a:extLst>
              </p:cNvPr>
              <p:cNvSpPr/>
              <p:nvPr/>
            </p:nvSpPr>
            <p:spPr>
              <a:xfrm>
                <a:off x="3932481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BFDB730-B4C0-41AC-5A35-5D8C619B5955}"/>
                  </a:ext>
                </a:extLst>
              </p:cNvPr>
              <p:cNvSpPr/>
              <p:nvPr/>
            </p:nvSpPr>
            <p:spPr>
              <a:xfrm>
                <a:off x="3665776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30BACDE2-81ED-EF52-3896-4019F82ACE24}"/>
                  </a:ext>
                </a:extLst>
              </p:cNvPr>
              <p:cNvSpPr/>
              <p:nvPr/>
            </p:nvSpPr>
            <p:spPr>
              <a:xfrm>
                <a:off x="411368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41CACE85-326C-A4B5-5221-EA5A0EDEF779}"/>
                  </a:ext>
                </a:extLst>
              </p:cNvPr>
              <p:cNvSpPr/>
              <p:nvPr/>
            </p:nvSpPr>
            <p:spPr>
              <a:xfrm>
                <a:off x="5654397" y="2811780"/>
                <a:ext cx="1553210" cy="12420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6A155D1F-3612-4567-71CD-7056AC36C82F}"/>
                  </a:ext>
                </a:extLst>
              </p:cNvPr>
              <p:cNvSpPr/>
              <p:nvPr/>
            </p:nvSpPr>
            <p:spPr>
              <a:xfrm>
                <a:off x="5654397" y="4457700"/>
                <a:ext cx="1553210" cy="3962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1B38F363-0159-6F06-5F47-74799B78D694}"/>
                  </a:ext>
                </a:extLst>
              </p:cNvPr>
              <p:cNvSpPr/>
              <p:nvPr/>
            </p:nvSpPr>
            <p:spPr>
              <a:xfrm>
                <a:off x="5824657" y="5149950"/>
                <a:ext cx="1212691" cy="2069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82E88243-ED41-58FE-1A0E-B11E6219220B}"/>
                  </a:ext>
                </a:extLst>
              </p:cNvPr>
              <p:cNvSpPr/>
              <p:nvPr/>
            </p:nvSpPr>
            <p:spPr>
              <a:xfrm>
                <a:off x="5539184" y="2682874"/>
                <a:ext cx="1783636" cy="2285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03" name="接點: 肘形 202">
                <a:extLst>
                  <a:ext uri="{FF2B5EF4-FFF2-40B4-BE49-F238E27FC236}">
                    <a16:creationId xmlns:a16="http://schemas.microsoft.com/office/drawing/2014/main" id="{F4B76859-C57F-9064-BAB7-500CAAB20EC0}"/>
                  </a:ext>
                </a:extLst>
              </p:cNvPr>
              <p:cNvCxnSpPr>
                <a:stCxn id="196" idx="3"/>
              </p:cNvCxnSpPr>
              <p:nvPr/>
            </p:nvCxnSpPr>
            <p:spPr>
              <a:xfrm>
                <a:off x="5046112" y="2672422"/>
                <a:ext cx="608285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接點: 肘形 203">
                <a:extLst>
                  <a:ext uri="{FF2B5EF4-FFF2-40B4-BE49-F238E27FC236}">
                    <a16:creationId xmlns:a16="http://schemas.microsoft.com/office/drawing/2014/main" id="{E60B5F27-3139-A4E8-603A-661A1B91AB2A}"/>
                  </a:ext>
                </a:extLst>
              </p:cNvPr>
              <p:cNvCxnSpPr>
                <a:stCxn id="198" idx="3"/>
                <a:endCxn id="200" idx="1"/>
              </p:cNvCxnSpPr>
              <p:nvPr/>
            </p:nvCxnSpPr>
            <p:spPr>
              <a:xfrm>
                <a:off x="5227320" y="4251375"/>
                <a:ext cx="427077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接點: 肘形 204">
                <a:extLst>
                  <a:ext uri="{FF2B5EF4-FFF2-40B4-BE49-F238E27FC236}">
                    <a16:creationId xmlns:a16="http://schemas.microsoft.com/office/drawing/2014/main" id="{64A9FDAF-FFDA-95C4-5C41-2E0870F12FE0}"/>
                  </a:ext>
                </a:extLst>
              </p:cNvPr>
              <p:cNvCxnSpPr>
                <a:cxnSpLocks/>
                <a:stCxn id="195" idx="1"/>
                <a:endCxn id="200" idx="3"/>
              </p:cNvCxnSpPr>
              <p:nvPr/>
            </p:nvCxnSpPr>
            <p:spPr>
              <a:xfrm rot="10800000" flipV="1">
                <a:off x="7207607" y="4251374"/>
                <a:ext cx="472242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接點: 肘形 205">
                <a:extLst>
                  <a:ext uri="{FF2B5EF4-FFF2-40B4-BE49-F238E27FC236}">
                    <a16:creationId xmlns:a16="http://schemas.microsoft.com/office/drawing/2014/main" id="{8CBDF652-973D-D09D-C292-97BD8D61D774}"/>
                  </a:ext>
                </a:extLst>
              </p:cNvPr>
              <p:cNvCxnSpPr>
                <a:stCxn id="193" idx="1"/>
              </p:cNvCxnSpPr>
              <p:nvPr/>
            </p:nvCxnSpPr>
            <p:spPr>
              <a:xfrm rot="10800000" flipV="1">
                <a:off x="7207607" y="2672422"/>
                <a:ext cx="464623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號: 上-下雙向 5">
            <a:extLst>
              <a:ext uri="{FF2B5EF4-FFF2-40B4-BE49-F238E27FC236}">
                <a16:creationId xmlns:a16="http://schemas.microsoft.com/office/drawing/2014/main" id="{C0AC3D80-2B42-7957-4E9B-FAE36579B241}"/>
              </a:ext>
            </a:extLst>
          </p:cNvPr>
          <p:cNvSpPr/>
          <p:nvPr/>
        </p:nvSpPr>
        <p:spPr>
          <a:xfrm>
            <a:off x="2480611" y="2406290"/>
            <a:ext cx="279031" cy="376349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8EDB82C3-F8C1-1330-7A32-F298DBA58023}"/>
              </a:ext>
            </a:extLst>
          </p:cNvPr>
          <p:cNvSpPr/>
          <p:nvPr/>
        </p:nvSpPr>
        <p:spPr>
          <a:xfrm>
            <a:off x="4254004" y="2950343"/>
            <a:ext cx="2206058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上-下雙向 10">
            <a:extLst>
              <a:ext uri="{FF2B5EF4-FFF2-40B4-BE49-F238E27FC236}">
                <a16:creationId xmlns:a16="http://schemas.microsoft.com/office/drawing/2014/main" id="{FC57CA9A-831A-B30E-52F9-08C89F194B9A}"/>
              </a:ext>
            </a:extLst>
          </p:cNvPr>
          <p:cNvSpPr/>
          <p:nvPr/>
        </p:nvSpPr>
        <p:spPr>
          <a:xfrm>
            <a:off x="2083699" y="2406289"/>
            <a:ext cx="279031" cy="2951438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箭號: 上-下雙向 11">
            <a:extLst>
              <a:ext uri="{FF2B5EF4-FFF2-40B4-BE49-F238E27FC236}">
                <a16:creationId xmlns:a16="http://schemas.microsoft.com/office/drawing/2014/main" id="{7EFCE680-C708-63BB-D3C5-6D984AC1B1C9}"/>
              </a:ext>
            </a:extLst>
          </p:cNvPr>
          <p:cNvSpPr/>
          <p:nvPr/>
        </p:nvSpPr>
        <p:spPr>
          <a:xfrm>
            <a:off x="2490200" y="4876044"/>
            <a:ext cx="279031" cy="478422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83ADAFFC-B80E-CB65-F08C-9B7680B5E7F3}"/>
              </a:ext>
            </a:extLst>
          </p:cNvPr>
          <p:cNvSpPr/>
          <p:nvPr/>
        </p:nvSpPr>
        <p:spPr>
          <a:xfrm rot="5400000">
            <a:off x="1621420" y="1484691"/>
            <a:ext cx="279031" cy="390586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2C99D296-84FA-DE18-94A8-0407A34AF015}"/>
              </a:ext>
            </a:extLst>
          </p:cNvPr>
          <p:cNvSpPr txBox="1">
            <a:spLocks/>
          </p:cNvSpPr>
          <p:nvPr/>
        </p:nvSpPr>
        <p:spPr>
          <a:xfrm>
            <a:off x="838200" y="88522"/>
            <a:ext cx="10515600" cy="6983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en-US" altLang="zh-TW" dirty="0"/>
              <a:t>EDA </a:t>
            </a:r>
            <a:r>
              <a:rPr lang="zh-TW" altLang="en-US" dirty="0"/>
              <a:t>整合設計執行展開圖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1036CF-DBB8-5AD3-F095-80DD2C43427C}"/>
              </a:ext>
            </a:extLst>
          </p:cNvPr>
          <p:cNvSpPr/>
          <p:nvPr/>
        </p:nvSpPr>
        <p:spPr>
          <a:xfrm>
            <a:off x="0" y="293128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ECB6530-EA07-A837-EA45-F07B65E1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F55D442-7E3C-A6BB-7C7A-F7FD14529058}"/>
              </a:ext>
            </a:extLst>
          </p:cNvPr>
          <p:cNvSpPr/>
          <p:nvPr/>
        </p:nvSpPr>
        <p:spPr>
          <a:xfrm>
            <a:off x="8499635" y="2389771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GerbTooL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檢視製造資料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提前發現風險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降低溝通與返工成本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546B2A2-68A1-2BA0-E036-5A00487D065B}"/>
              </a:ext>
            </a:extLst>
          </p:cNvPr>
          <p:cNvSpPr/>
          <p:nvPr/>
        </p:nvSpPr>
        <p:spPr>
          <a:xfrm>
            <a:off x="3879913" y="1511706"/>
            <a:ext cx="6702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A5AD6D3-CD53-1C7E-71B0-F1C36290CC9C}"/>
              </a:ext>
            </a:extLst>
          </p:cNvPr>
          <p:cNvSpPr/>
          <p:nvPr/>
        </p:nvSpPr>
        <p:spPr>
          <a:xfrm>
            <a:off x="8264108" y="3050832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8498BCB-99A1-992B-D65D-385BCDD0B5C2}"/>
              </a:ext>
            </a:extLst>
          </p:cNvPr>
          <p:cNvSpPr/>
          <p:nvPr/>
        </p:nvSpPr>
        <p:spPr>
          <a:xfrm>
            <a:off x="8281360" y="2019433"/>
            <a:ext cx="284671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91136A7E-3132-BF7D-45B3-1B48A0159BC8}"/>
              </a:ext>
            </a:extLst>
          </p:cNvPr>
          <p:cNvSpPr/>
          <p:nvPr/>
        </p:nvSpPr>
        <p:spPr>
          <a:xfrm rot="5400000">
            <a:off x="9177469" y="3581990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28B654C-F46D-E279-3610-093AE56B8596}"/>
              </a:ext>
            </a:extLst>
          </p:cNvPr>
          <p:cNvSpPr/>
          <p:nvPr/>
        </p:nvSpPr>
        <p:spPr>
          <a:xfrm>
            <a:off x="4756933" y="5354466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供應鏈智慧平台</a:t>
            </a:r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Supplyframe</a:t>
            </a: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整合設計與供應鏈數據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降低供應風險與成本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加速產品上市時程</a:t>
            </a:r>
          </a:p>
        </p:txBody>
      </p:sp>
    </p:spTree>
    <p:extLst>
      <p:ext uri="{BB962C8B-B14F-4D97-AF65-F5344CB8AC3E}">
        <p14:creationId xmlns:p14="http://schemas.microsoft.com/office/powerpoint/2010/main" val="37595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15D5-6A46-D4BC-FF53-872FAFAF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標題 33">
            <a:extLst>
              <a:ext uri="{FF2B5EF4-FFF2-40B4-BE49-F238E27FC236}">
                <a16:creationId xmlns:a16="http://schemas.microsoft.com/office/drawing/2014/main" id="{444259FD-515D-4841-C819-7FE86AAB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Xpedition PCB</a:t>
            </a:r>
            <a:endParaRPr lang="zh-TW" altLang="en-US" dirty="0"/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DC1647DB-5394-D65D-75E5-5C2ACC5BE3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PADS P</a:t>
            </a:r>
            <a:r>
              <a:rPr lang="en-US" altLang="zh-TW" sz="1600" dirty="0"/>
              <a:t>rofessional</a:t>
            </a:r>
            <a:r>
              <a:rPr lang="en-US" altLang="zh-TW" dirty="0"/>
              <a:t>     </a:t>
            </a:r>
            <a:r>
              <a:rPr lang="en-US" altLang="zh-TW" sz="3200" dirty="0"/>
              <a:t>vs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AB455B9-94C6-F99A-EDE5-88DF8EE55F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857"/>
            <a:ext cx="1219200" cy="6858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53AE9CBB-B955-5530-BED1-14B8201DBE45}"/>
              </a:ext>
            </a:extLst>
          </p:cNvPr>
          <p:cNvGrpSpPr/>
          <p:nvPr/>
        </p:nvGrpSpPr>
        <p:grpSpPr>
          <a:xfrm>
            <a:off x="-456496" y="151715"/>
            <a:ext cx="5784634" cy="1069361"/>
            <a:chOff x="-456496" y="151715"/>
            <a:chExt cx="5784634" cy="1069361"/>
          </a:xfrm>
        </p:grpSpPr>
        <p:sp>
          <p:nvSpPr>
            <p:cNvPr id="8" name="內容版面配置區 12">
              <a:extLst>
                <a:ext uri="{FF2B5EF4-FFF2-40B4-BE49-F238E27FC236}">
                  <a16:creationId xmlns:a16="http://schemas.microsoft.com/office/drawing/2014/main" id="{C753185C-FAD3-1596-8C8C-932C4D24D534}"/>
                </a:ext>
              </a:extLst>
            </p:cNvPr>
            <p:cNvSpPr txBox="1">
              <a:spLocks/>
            </p:cNvSpPr>
            <p:nvPr/>
          </p:nvSpPr>
          <p:spPr>
            <a:xfrm>
              <a:off x="-456496" y="151715"/>
              <a:ext cx="2414165" cy="10693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提供給客戶的服務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完整的產品展示與教育訓練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客戶設計問題解析與建議 </a:t>
              </a:r>
              <a:r>
                <a:rPr lang="en-US" altLang="zh-TW" sz="1000" dirty="0">
                  <a:solidFill>
                    <a:schemeClr val="tx1"/>
                  </a:solidFill>
                </a:rPr>
                <a:t>-        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軟體技術支援與專案輔導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endParaRPr lang="zh-TW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內容版面配置區 12">
              <a:extLst>
                <a:ext uri="{FF2B5EF4-FFF2-40B4-BE49-F238E27FC236}">
                  <a16:creationId xmlns:a16="http://schemas.microsoft.com/office/drawing/2014/main" id="{65AAECA5-7969-A2E7-4942-84DB25C54992}"/>
                </a:ext>
              </a:extLst>
            </p:cNvPr>
            <p:cNvSpPr txBox="1">
              <a:spLocks/>
            </p:cNvSpPr>
            <p:nvPr/>
          </p:nvSpPr>
          <p:spPr>
            <a:xfrm>
              <a:off x="1929093" y="151715"/>
              <a:ext cx="3399045" cy="1069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適合的產業與人員  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- 3C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zh-TW" sz="1000" dirty="0">
                  <a:solidFill>
                    <a:schemeClr val="tx1"/>
                  </a:solidFill>
                </a:rPr>
                <a:t>/</a:t>
              </a:r>
              <a:r>
                <a:rPr lang="zh-TW" altLang="en-US" sz="1000" dirty="0">
                  <a:solidFill>
                    <a:schemeClr val="tx1"/>
                  </a:solidFill>
                </a:rPr>
                <a:t> 消費型電子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醫療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LED</a:t>
              </a:r>
              <a:r>
                <a:rPr lang="zh-TW" altLang="en-US" sz="1000" dirty="0">
                  <a:solidFill>
                    <a:schemeClr val="tx1"/>
                  </a:solidFill>
                </a:rPr>
                <a:t>產業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航太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國防 </a:t>
              </a:r>
              <a:endParaRPr lang="en-US" altLang="zh-TW" sz="1000" dirty="0">
                <a:solidFill>
                  <a:schemeClr val="tx1"/>
                </a:solidFill>
              </a:endParaRP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車用相關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伺服器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工業電子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RD / FAE</a:t>
              </a: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9DD1CFA2-BDF9-AC15-69CC-AE3BFA5B74CE}"/>
                </a:ext>
              </a:extLst>
            </p:cNvPr>
            <p:cNvCxnSpPr>
              <a:cxnSpLocks/>
            </p:cNvCxnSpPr>
            <p:nvPr/>
          </p:nvCxnSpPr>
          <p:spPr>
            <a:xfrm>
              <a:off x="1943381" y="151715"/>
              <a:ext cx="0" cy="106920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內容版面配置區 4">
            <a:extLst>
              <a:ext uri="{FF2B5EF4-FFF2-40B4-BE49-F238E27FC236}">
                <a16:creationId xmlns:a16="http://schemas.microsoft.com/office/drawing/2014/main" id="{57EB7236-2E5E-EB7A-B2C4-50C2B9308D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59406"/>
              </p:ext>
            </p:extLst>
          </p:nvPr>
        </p:nvGraphicFramePr>
        <p:xfrm>
          <a:off x="0" y="1859764"/>
          <a:ext cx="12200996" cy="32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2938">
                  <a:extLst>
                    <a:ext uri="{9D8B030D-6E8A-4147-A177-3AD203B41FA5}">
                      <a16:colId xmlns:a16="http://schemas.microsoft.com/office/drawing/2014/main" val="439640686"/>
                    </a:ext>
                  </a:extLst>
                </a:gridCol>
                <a:gridCol w="2296800">
                  <a:extLst>
                    <a:ext uri="{9D8B030D-6E8A-4147-A177-3AD203B41FA5}">
                      <a16:colId xmlns:a16="http://schemas.microsoft.com/office/drawing/2014/main" val="173354589"/>
                    </a:ext>
                  </a:extLst>
                </a:gridCol>
                <a:gridCol w="6111258">
                  <a:extLst>
                    <a:ext uri="{9D8B030D-6E8A-4147-A177-3AD203B41FA5}">
                      <a16:colId xmlns:a16="http://schemas.microsoft.com/office/drawing/2014/main" val="2508608642"/>
                    </a:ext>
                  </a:extLst>
                </a:gridCol>
              </a:tblGrid>
              <a:tr h="22307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PADS Professional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u="sng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特色</a:t>
                      </a:r>
                    </a:p>
                  </a:txBody>
                  <a:tcPr marL="36000" marR="36000" marT="72000" marB="7200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Xpedition</a:t>
                      </a: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66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獨立開發者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buFont typeface="+mj-lt"/>
                        <a:buNone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適用對象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獨立開發者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&amp; 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大型專案級設計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8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單人作業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buFont typeface="+mj-lt"/>
                        <a:buNone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協同作業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多人並行設計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(Concurrent Design)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94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內建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DRC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，基本驗證功能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buFont typeface="+mj-lt"/>
                        <a:buNone/>
                        <a:tabLst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設計規則檢查</a:t>
                      </a: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進階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DRC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，支援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DFM (Valor)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0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SI/PI/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熱分析，適用高階電路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模擬能力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SI/PI/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熱分析，適用高階電路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314785"/>
                  </a:ext>
                </a:extLst>
              </a:tr>
              <a:tr h="1895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基本整合功能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ECAD/MCAD </a:t>
                      </a: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NX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無縫協作，適用機構與電子協同設計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9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PCB Flow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進行基礎驗證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製造驗證 </a:t>
                      </a:r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(DFM)</a:t>
                      </a:r>
                    </a:p>
                  </a:txBody>
                  <a:tcPr marL="36000" marR="3600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Valor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驗證引擎，進行完整驗証，確保製造可行性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基本設計數據管理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數據管理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EDM Library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，確保數據一致性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1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授權成本較低，性價比高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成本</a:t>
                      </a:r>
                      <a:endParaRPr lang="en-US" altLang="zh-TW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授權成本較高，適用企業級專案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95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具基本自動化能力</a:t>
                      </a:r>
                    </a:p>
                  </a:txBody>
                  <a:tcPr marL="36000" marR="108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自動化</a:t>
                      </a:r>
                    </a:p>
                  </a:txBody>
                  <a:tcPr marL="36000" marR="36000"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可高度客製化，支援企業流程</a:t>
                      </a:r>
                    </a:p>
                  </a:txBody>
                  <a:tcPr marL="108000" marR="36000" marT="72000" marB="72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697927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3001C12D-82D9-1585-923C-D69EAEBED6FB}"/>
              </a:ext>
            </a:extLst>
          </p:cNvPr>
          <p:cNvSpPr txBox="1"/>
          <p:nvPr/>
        </p:nvSpPr>
        <p:spPr>
          <a:xfrm>
            <a:off x="6938520" y="1372216"/>
            <a:ext cx="5253479" cy="3385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適用於應用</a:t>
            </a:r>
            <a:r>
              <a:rPr lang="zh-TW" altLang="en-US" sz="1600" b="1" dirty="0">
                <a:solidFill>
                  <a:srgbClr val="6AEA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專案架構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高效能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設計平台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188F2BC-F3A5-35CA-12ED-2A777DD603BE}"/>
              </a:ext>
            </a:extLst>
          </p:cNvPr>
          <p:cNvSpPr txBox="1"/>
          <p:nvPr/>
        </p:nvSpPr>
        <p:spPr>
          <a:xfrm>
            <a:off x="0" y="1372216"/>
            <a:ext cx="3775075" cy="338554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/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適合</a:t>
            </a:r>
            <a:r>
              <a:rPr lang="zh-TW" altLang="en-US" sz="1600" b="1" dirty="0">
                <a:solidFill>
                  <a:srgbClr val="009E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單機作業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高性價比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 </a:t>
            </a:r>
            <a:r>
              <a:rPr lang="zh-TW" altLang="en-US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設計工具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775BAE1-E472-98C3-D0EA-89CF5F96F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05" y="5912015"/>
            <a:ext cx="863175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B49A-1E53-F996-D6EB-49E3D4A1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標題 33">
            <a:extLst>
              <a:ext uri="{FF2B5EF4-FFF2-40B4-BE49-F238E27FC236}">
                <a16:creationId xmlns:a16="http://schemas.microsoft.com/office/drawing/2014/main" id="{82D2FB27-7BFA-3D83-0C9F-483EA022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Xpedition PCB</a:t>
            </a:r>
            <a:endParaRPr lang="zh-TW" altLang="en-US" dirty="0"/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94D50C0D-BD5E-63C9-BEC2-4853B6B50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PADS P</a:t>
            </a:r>
            <a:r>
              <a:rPr lang="en-US" altLang="zh-TW" sz="1600" dirty="0"/>
              <a:t>rofessional</a:t>
            </a:r>
            <a:r>
              <a:rPr lang="en-US" altLang="zh-TW" dirty="0"/>
              <a:t>     </a:t>
            </a:r>
            <a:r>
              <a:rPr lang="en-US" altLang="zh-TW" sz="3200" dirty="0"/>
              <a:t>vs</a:t>
            </a:r>
            <a:endParaRPr lang="en-US" altLang="zh-TW" dirty="0"/>
          </a:p>
        </p:txBody>
      </p:sp>
      <p:graphicFrame>
        <p:nvGraphicFramePr>
          <p:cNvPr id="38" name="內容版面配置區 4">
            <a:extLst>
              <a:ext uri="{FF2B5EF4-FFF2-40B4-BE49-F238E27FC236}">
                <a16:creationId xmlns:a16="http://schemas.microsoft.com/office/drawing/2014/main" id="{353709A1-E084-17F7-1EE8-C49B6529F9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65398" y="1373326"/>
          <a:ext cx="6283460" cy="5477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966">
                  <a:extLst>
                    <a:ext uri="{9D8B030D-6E8A-4147-A177-3AD203B41FA5}">
                      <a16:colId xmlns:a16="http://schemas.microsoft.com/office/drawing/2014/main" val="321257462"/>
                    </a:ext>
                  </a:extLst>
                </a:gridCol>
                <a:gridCol w="2154919">
                  <a:extLst>
                    <a:ext uri="{9D8B030D-6E8A-4147-A177-3AD203B41FA5}">
                      <a16:colId xmlns:a16="http://schemas.microsoft.com/office/drawing/2014/main" val="248976288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439640686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508608642"/>
                    </a:ext>
                  </a:extLst>
                </a:gridCol>
              </a:tblGrid>
              <a:tr h="2230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000" b="1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000" b="1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PADS Professional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Xpedition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66356"/>
                  </a:ext>
                </a:extLst>
              </a:tr>
              <a:tr h="169157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多學科工程</a:t>
                      </a:r>
                      <a:endParaRPr lang="en-US" altLang="zh-TW" sz="1100" b="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ECAD/MCAD Co-Design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81381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FPGA/PCB Co-Design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94403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  <a:tabLst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RF Co-Design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01885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PCB/Harness Co-Design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314785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Multi-board Design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9416"/>
                  </a:ext>
                </a:extLst>
              </a:tr>
              <a:tr h="169157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100" b="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雲端應用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PartQuest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12031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Supply Chain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1516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Connect for PADS Professional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000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95762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 Flow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697927"/>
                  </a:ext>
                </a:extLst>
              </a:tr>
              <a:tr h="169157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設計資料</a:t>
                      </a:r>
                      <a:endParaRPr lang="en-US" altLang="zh-TW" sz="1100" b="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</a:t>
                      </a:r>
                      <a:endParaRPr lang="en-US" altLang="zh-TW" sz="1100" b="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Model Driven Part Creation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0234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Design-Data Management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11723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Library Management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665419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PLM Data Integration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04991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Managed Design Reuse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237360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+mj-lt"/>
                        <a:buNone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Web-based Design Review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294711"/>
                  </a:ext>
                </a:extLst>
              </a:tr>
              <a:tr h="16915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平行設計</a:t>
                      </a:r>
                      <a:endParaRPr lang="en-US" altLang="zh-TW" sz="1100" b="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Concurrent Schematic &amp; Layout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146552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Concurrent Systems Design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56307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Concurrent Validation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538219"/>
                  </a:ext>
                </a:extLst>
              </a:tr>
              <a:tr h="169157">
                <a:tc rowSpan="6">
                  <a:txBody>
                    <a:bodyPr/>
                    <a:lstStyle/>
                    <a:p>
                      <a:pPr algn="ctr"/>
                      <a:r>
                        <a:rPr lang="zh-TW" altLang="en-US" sz="1100" b="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設計自動化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Schematic Creation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84181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Constraint Management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624607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Component Planning &amp; Placement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346609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Connectivity Routing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182794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Rigid-flex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896880"/>
                  </a:ext>
                </a:extLst>
              </a:tr>
              <a:tr h="179756">
                <a:tc vMerge="1">
                  <a:txBody>
                    <a:bodyPr/>
                    <a:lstStyle/>
                    <a:p>
                      <a:endParaRPr lang="zh-TW" altLang="en-US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Flow Scalability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972132"/>
                  </a:ext>
                </a:extLst>
              </a:tr>
              <a:tr h="169157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設計驗證</a:t>
                      </a:r>
                      <a:endParaRPr lang="en-US" altLang="zh-TW" sz="1100" b="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Schematic Analysis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120302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Signal Integrity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85756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 Integrity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699703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Electrical Rule Checking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76150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Thermal</a:t>
                      </a:r>
                      <a:endParaRPr lang="zh-TW" altLang="en-US" sz="10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782236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Analog/Mixed Signal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15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56029"/>
                  </a:ext>
                </a:extLst>
              </a:tr>
              <a:tr h="16915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Manufacturing Analysis</a:t>
                      </a:r>
                      <a:endParaRPr lang="zh-TW" altLang="en-US" sz="10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056227"/>
                  </a:ext>
                </a:extLst>
              </a:tr>
            </a:tbl>
          </a:graphicData>
        </a:graphic>
      </p:graphicFrame>
      <p:pic>
        <p:nvPicPr>
          <p:cNvPr id="32" name="圖片 31">
            <a:extLst>
              <a:ext uri="{FF2B5EF4-FFF2-40B4-BE49-F238E27FC236}">
                <a16:creationId xmlns:a16="http://schemas.microsoft.com/office/drawing/2014/main" id="{B1153996-6A71-4BF0-309B-4DC8A61214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3035" y="4677701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972943E7-890F-80C3-8BD2-38AC820EFFC5}"/>
              </a:ext>
            </a:extLst>
          </p:cNvPr>
          <p:cNvPicPr>
            <a:picLocks/>
          </p:cNvPicPr>
          <p:nvPr/>
        </p:nvPicPr>
        <p:blipFill>
          <a:blip r:embed="rId4"/>
          <a:srcRect t="1443" b="2204"/>
          <a:stretch/>
        </p:blipFill>
        <p:spPr>
          <a:xfrm>
            <a:off x="-3035" y="57780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5" name="ECAD-MCAD Pro">
            <a:hlinkClick r:id="" action="ppaction://media"/>
            <a:extLst>
              <a:ext uri="{FF2B5EF4-FFF2-40B4-BE49-F238E27FC236}">
                <a16:creationId xmlns:a16="http://schemas.microsoft.com/office/drawing/2014/main" id="{E58AF782-D6DA-392F-BEB6-9A050A177DA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3035" y="1373328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4B37983B-B11E-4738-AA0E-17AA2C1386D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600" y="1373328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6E5CDDBB-A102-0EF2-0783-22C45564DFD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269600" y="2477099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1340DF8E-9ED0-0F48-81E3-8F64FA6FF052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320875" y="1373328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EA35D529-7B2C-909D-7BD1-E680ED4B9FC8}"/>
              </a:ext>
            </a:extLst>
          </p:cNvPr>
          <p:cNvPicPr>
            <a:picLocks/>
          </p:cNvPicPr>
          <p:nvPr/>
        </p:nvPicPr>
        <p:blipFill>
          <a:blip r:embed="rId9"/>
          <a:srcRect b="4365"/>
          <a:stretch/>
        </p:blipFill>
        <p:spPr>
          <a:xfrm>
            <a:off x="8320875" y="2477099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668C1BB8-4F69-9CC3-0BE7-9F03996025E0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9600" y="57780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BC03638C-5525-54D6-E027-10EF79A2C89C}"/>
              </a:ext>
            </a:extLst>
          </p:cNvPr>
          <p:cNvPicPr>
            <a:picLocks/>
          </p:cNvPicPr>
          <p:nvPr/>
        </p:nvPicPr>
        <p:blipFill>
          <a:blip r:embed="rId11"/>
          <a:srcRect t="2795" b="2837"/>
          <a:stretch/>
        </p:blipFill>
        <p:spPr>
          <a:xfrm>
            <a:off x="10269600" y="35774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C59D90FD-7584-CB66-13FA-0240BC870955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320875" y="57780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99CECFC9-5571-A11B-3117-01685722C201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8320875" y="35774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F3BC419B-CFAA-9280-3AAF-1D2EFC09CB00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-3035" y="3577400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DF9C3982-53E2-ECD1-2530-D5E5B9494010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-3035" y="2477099"/>
            <a:ext cx="1922400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7837F756-E205-8D45-8E4F-621EFF4AAC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69601" y="4677701"/>
            <a:ext cx="1921523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CCCD47C2-E65C-1EC2-2D65-F2BF1EF7821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0875" y="4677701"/>
            <a:ext cx="1920462" cy="1080000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E6A7D5E-2EBC-92D3-16E8-6C2D03857DE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857"/>
            <a:ext cx="1219200" cy="6858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2E0E144F-16D0-560E-0723-25D9CC157516}"/>
              </a:ext>
            </a:extLst>
          </p:cNvPr>
          <p:cNvGrpSpPr/>
          <p:nvPr/>
        </p:nvGrpSpPr>
        <p:grpSpPr>
          <a:xfrm>
            <a:off x="-456496" y="151715"/>
            <a:ext cx="5784634" cy="1069361"/>
            <a:chOff x="-456496" y="151715"/>
            <a:chExt cx="5784634" cy="1069361"/>
          </a:xfrm>
        </p:grpSpPr>
        <p:sp>
          <p:nvSpPr>
            <p:cNvPr id="8" name="內容版面配置區 12">
              <a:extLst>
                <a:ext uri="{FF2B5EF4-FFF2-40B4-BE49-F238E27FC236}">
                  <a16:creationId xmlns:a16="http://schemas.microsoft.com/office/drawing/2014/main" id="{2D182708-792C-ECA5-915E-D7FC3D3122CB}"/>
                </a:ext>
              </a:extLst>
            </p:cNvPr>
            <p:cNvSpPr txBox="1">
              <a:spLocks/>
            </p:cNvSpPr>
            <p:nvPr/>
          </p:nvSpPr>
          <p:spPr>
            <a:xfrm>
              <a:off x="-456496" y="151715"/>
              <a:ext cx="2414165" cy="10693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提供給客戶的服務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完整的產品展示與教育訓練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客戶設計問題解析與建議 </a:t>
              </a:r>
              <a:r>
                <a:rPr lang="en-US" altLang="zh-TW" sz="1000" dirty="0">
                  <a:solidFill>
                    <a:schemeClr val="tx1"/>
                  </a:solidFill>
                </a:rPr>
                <a:t>-          </a:t>
              </a:r>
            </a:p>
            <a:p>
              <a:pPr marL="219075" lvl="1" indent="0" algn="r">
                <a:buNone/>
              </a:pPr>
              <a:r>
                <a:rPr lang="zh-TW" altLang="en-US" sz="1000" dirty="0">
                  <a:solidFill>
                    <a:schemeClr val="tx1"/>
                  </a:solidFill>
                </a:rPr>
                <a:t>軟體技術支援與專案輔導 </a:t>
              </a:r>
              <a:r>
                <a:rPr lang="en-US" altLang="zh-TW" sz="1000" dirty="0">
                  <a:solidFill>
                    <a:schemeClr val="tx1"/>
                  </a:solidFill>
                </a:rPr>
                <a:t>-</a:t>
              </a:r>
              <a:endParaRPr lang="zh-TW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內容版面配置區 12">
              <a:extLst>
                <a:ext uri="{FF2B5EF4-FFF2-40B4-BE49-F238E27FC236}">
                  <a16:creationId xmlns:a16="http://schemas.microsoft.com/office/drawing/2014/main" id="{0048C107-F78B-02A9-81DE-EB90B5E4AAFE}"/>
                </a:ext>
              </a:extLst>
            </p:cNvPr>
            <p:cNvSpPr txBox="1">
              <a:spLocks/>
            </p:cNvSpPr>
            <p:nvPr/>
          </p:nvSpPr>
          <p:spPr>
            <a:xfrm>
              <a:off x="1929093" y="151715"/>
              <a:ext cx="3399045" cy="1069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1200" b="1" u="sng" dirty="0">
                  <a:solidFill>
                    <a:srgbClr val="374151"/>
                  </a:solidFill>
                </a:rPr>
                <a:t>適合的產業與人員  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- 3C</a:t>
              </a:r>
              <a:r>
                <a:rPr lang="zh-TW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zh-TW" sz="1000" dirty="0">
                  <a:solidFill>
                    <a:schemeClr val="tx1"/>
                  </a:solidFill>
                </a:rPr>
                <a:t>/</a:t>
              </a:r>
              <a:r>
                <a:rPr lang="zh-TW" altLang="en-US" sz="1000" dirty="0">
                  <a:solidFill>
                    <a:schemeClr val="tx1"/>
                  </a:solidFill>
                </a:rPr>
                <a:t> 消費型電子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醫療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LED</a:t>
              </a:r>
              <a:r>
                <a:rPr lang="zh-TW" altLang="en-US" sz="1000" dirty="0">
                  <a:solidFill>
                    <a:schemeClr val="tx1"/>
                  </a:solidFill>
                </a:rPr>
                <a:t>產業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航太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國防 </a:t>
              </a:r>
              <a:endParaRPr lang="en-US" altLang="zh-TW" sz="1000" dirty="0">
                <a:solidFill>
                  <a:schemeClr val="tx1"/>
                </a:solidFill>
              </a:endParaRP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</a:t>
              </a:r>
              <a:r>
                <a:rPr lang="zh-TW" altLang="en-US" sz="1000" dirty="0">
                  <a:solidFill>
                    <a:schemeClr val="tx1"/>
                  </a:solidFill>
                </a:rPr>
                <a:t>車用相關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伺服器 </a:t>
              </a:r>
              <a:r>
                <a:rPr lang="en-US" altLang="zh-TW" sz="1000" dirty="0">
                  <a:solidFill>
                    <a:schemeClr val="tx1"/>
                  </a:solidFill>
                </a:rPr>
                <a:t>/ </a:t>
              </a:r>
              <a:r>
                <a:rPr lang="zh-TW" altLang="en-US" sz="1000" dirty="0">
                  <a:solidFill>
                    <a:schemeClr val="tx1"/>
                  </a:solidFill>
                </a:rPr>
                <a:t>工業電子</a:t>
              </a:r>
            </a:p>
            <a:p>
              <a:pPr marL="0" lvl="1" indent="0">
                <a:buNone/>
              </a:pPr>
              <a:r>
                <a:rPr lang="en-US" altLang="zh-TW" sz="1000" dirty="0">
                  <a:solidFill>
                    <a:schemeClr val="tx1"/>
                  </a:solidFill>
                </a:rPr>
                <a:t>- RD / FAE</a:t>
              </a: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C37244A-7D58-425A-21E1-E6C1DE9F4545}"/>
                </a:ext>
              </a:extLst>
            </p:cNvPr>
            <p:cNvCxnSpPr>
              <a:cxnSpLocks/>
            </p:cNvCxnSpPr>
            <p:nvPr/>
          </p:nvCxnSpPr>
          <p:spPr>
            <a:xfrm>
              <a:off x="1943381" y="151715"/>
              <a:ext cx="0" cy="106920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036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B5FCB6-1DAC-903F-7F19-F7724C39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EDA </a:t>
            </a:r>
            <a:r>
              <a:rPr lang="zh-TW" altLang="en-US" dirty="0"/>
              <a:t>整合設計平台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2014D9B-7D94-20F5-59FC-70A334A9D729}"/>
              </a:ext>
            </a:extLst>
          </p:cNvPr>
          <p:cNvGrpSpPr/>
          <p:nvPr/>
        </p:nvGrpSpPr>
        <p:grpSpPr>
          <a:xfrm>
            <a:off x="1034761" y="1395693"/>
            <a:ext cx="10057835" cy="4063467"/>
            <a:chOff x="1034761" y="1395693"/>
            <a:chExt cx="10057835" cy="4063467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600A40BB-5956-C9F5-EF52-A4D945AA8FFD}"/>
                </a:ext>
              </a:extLst>
            </p:cNvPr>
            <p:cNvGrpSpPr/>
            <p:nvPr/>
          </p:nvGrpSpPr>
          <p:grpSpPr>
            <a:xfrm>
              <a:off x="4125075" y="1398840"/>
              <a:ext cx="3941850" cy="4060320"/>
              <a:chOff x="4125075" y="1398840"/>
              <a:chExt cx="3941850" cy="4060320"/>
            </a:xfrm>
          </p:grpSpPr>
          <p:sp>
            <p:nvSpPr>
              <p:cNvPr id="8" name="箭號: 圓形 7">
                <a:extLst>
                  <a:ext uri="{FF2B5EF4-FFF2-40B4-BE49-F238E27FC236}">
                    <a16:creationId xmlns:a16="http://schemas.microsoft.com/office/drawing/2014/main" id="{51636563-08DF-6664-837B-5DA66A6CF964}"/>
                  </a:ext>
                </a:extLst>
              </p:cNvPr>
              <p:cNvSpPr/>
              <p:nvPr/>
            </p:nvSpPr>
            <p:spPr>
              <a:xfrm rot="7200000" flipH="1">
                <a:off x="4171860" y="1504860"/>
                <a:ext cx="3836742" cy="3836744"/>
              </a:xfrm>
              <a:prstGeom prst="circularArrow">
                <a:avLst>
                  <a:gd name="adj1" fmla="val 7470"/>
                  <a:gd name="adj2" fmla="val 175353"/>
                  <a:gd name="adj3" fmla="val 12668694"/>
                  <a:gd name="adj4" fmla="val 5420943"/>
                  <a:gd name="adj5" fmla="val 3735"/>
                </a:avLst>
              </a:prstGeom>
              <a:gradFill>
                <a:gsLst>
                  <a:gs pos="100000">
                    <a:srgbClr val="317391">
                      <a:alpha val="0"/>
                    </a:srgbClr>
                  </a:gs>
                  <a:gs pos="0">
                    <a:srgbClr val="317391"/>
                  </a:gs>
                </a:gsLst>
                <a:lin ang="36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箭號: 圓形 8">
                <a:extLst>
                  <a:ext uri="{FF2B5EF4-FFF2-40B4-BE49-F238E27FC236}">
                    <a16:creationId xmlns:a16="http://schemas.microsoft.com/office/drawing/2014/main" id="{C0C9FE03-6285-29DD-AE70-D31357A3FB5F}"/>
                  </a:ext>
                </a:extLst>
              </p:cNvPr>
              <p:cNvSpPr/>
              <p:nvPr/>
            </p:nvSpPr>
            <p:spPr>
              <a:xfrm rot="14420531" flipH="1">
                <a:off x="4171860" y="1522370"/>
                <a:ext cx="3836742" cy="3836744"/>
              </a:xfrm>
              <a:prstGeom prst="circularArrow">
                <a:avLst>
                  <a:gd name="adj1" fmla="val 7470"/>
                  <a:gd name="adj2" fmla="val 175353"/>
                  <a:gd name="adj3" fmla="val 12668694"/>
                  <a:gd name="adj4" fmla="val 5420943"/>
                  <a:gd name="adj5" fmla="val 3735"/>
                </a:avLst>
              </a:prstGeom>
              <a:gradFill>
                <a:gsLst>
                  <a:gs pos="100000">
                    <a:srgbClr val="317391">
                      <a:alpha val="0"/>
                    </a:srgbClr>
                  </a:gs>
                  <a:gs pos="0">
                    <a:srgbClr val="317391"/>
                  </a:gs>
                </a:gsLst>
                <a:lin ang="36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29448439-A396-8591-AC25-37CD86542D61}"/>
                  </a:ext>
                </a:extLst>
              </p:cNvPr>
              <p:cNvGrpSpPr/>
              <p:nvPr/>
            </p:nvGrpSpPr>
            <p:grpSpPr>
              <a:xfrm>
                <a:off x="4125075" y="1398840"/>
                <a:ext cx="3941850" cy="4060320"/>
                <a:chOff x="4125075" y="1398840"/>
                <a:chExt cx="3941850" cy="4060320"/>
              </a:xfrm>
            </p:grpSpPr>
            <p:grpSp>
              <p:nvGrpSpPr>
                <p:cNvPr id="75" name="群組 74">
                  <a:extLst>
                    <a:ext uri="{FF2B5EF4-FFF2-40B4-BE49-F238E27FC236}">
                      <a16:creationId xmlns:a16="http://schemas.microsoft.com/office/drawing/2014/main" id="{97BCEAAA-D3DE-0E1D-F05A-A79B8B963F45}"/>
                    </a:ext>
                  </a:extLst>
                </p:cNvPr>
                <p:cNvGrpSpPr/>
                <p:nvPr/>
              </p:nvGrpSpPr>
              <p:grpSpPr>
                <a:xfrm>
                  <a:off x="4125075" y="1398840"/>
                  <a:ext cx="3941850" cy="4060320"/>
                  <a:chOff x="3639958" y="1605828"/>
                  <a:chExt cx="3941850" cy="4060320"/>
                </a:xfrm>
              </p:grpSpPr>
              <p:sp>
                <p:nvSpPr>
                  <p:cNvPr id="33" name="橢圓 32">
                    <a:extLst>
                      <a:ext uri="{FF2B5EF4-FFF2-40B4-BE49-F238E27FC236}">
                        <a16:creationId xmlns:a16="http://schemas.microsoft.com/office/drawing/2014/main" id="{F441E359-A5BB-931A-C03A-3CA435944457}"/>
                      </a:ext>
                    </a:extLst>
                  </p:cNvPr>
                  <p:cNvSpPr/>
                  <p:nvPr/>
                </p:nvSpPr>
                <p:spPr>
                  <a:xfrm>
                    <a:off x="4003223" y="2028328"/>
                    <a:ext cx="3215322" cy="3215322"/>
                  </a:xfrm>
                  <a:prstGeom prst="ellipse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拱形 33">
                    <a:extLst>
                      <a:ext uri="{FF2B5EF4-FFF2-40B4-BE49-F238E27FC236}">
                        <a16:creationId xmlns:a16="http://schemas.microsoft.com/office/drawing/2014/main" id="{5C03F82D-800E-2C33-D1A5-406A6CA9A049}"/>
                      </a:ext>
                    </a:extLst>
                  </p:cNvPr>
                  <p:cNvSpPr/>
                  <p:nvPr/>
                </p:nvSpPr>
                <p:spPr>
                  <a:xfrm rot="14400000">
                    <a:off x="4054108" y="2070546"/>
                    <a:ext cx="3113551" cy="3113548"/>
                  </a:xfrm>
                  <a:prstGeom prst="blockArc">
                    <a:avLst>
                      <a:gd name="adj1" fmla="val 12582426"/>
                      <a:gd name="adj2" fmla="val 19727585"/>
                      <a:gd name="adj3" fmla="val 19705"/>
                    </a:avLst>
                  </a:prstGeom>
                  <a:solidFill>
                    <a:srgbClr val="69E9C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" name="拱形 34">
                    <a:extLst>
                      <a:ext uri="{FF2B5EF4-FFF2-40B4-BE49-F238E27FC236}">
                        <a16:creationId xmlns:a16="http://schemas.microsoft.com/office/drawing/2014/main" id="{00F5FEAB-0147-03A9-2288-304BC6FE053D}"/>
                      </a:ext>
                    </a:extLst>
                  </p:cNvPr>
                  <p:cNvSpPr/>
                  <p:nvPr/>
                </p:nvSpPr>
                <p:spPr>
                  <a:xfrm rot="7192975">
                    <a:off x="4054108" y="2070546"/>
                    <a:ext cx="3113551" cy="3113548"/>
                  </a:xfrm>
                  <a:prstGeom prst="blockArc">
                    <a:avLst>
                      <a:gd name="adj1" fmla="val 12612998"/>
                      <a:gd name="adj2" fmla="val 19738719"/>
                      <a:gd name="adj3" fmla="val 19707"/>
                    </a:avLst>
                  </a:prstGeom>
                  <a:solidFill>
                    <a:srgbClr val="69E9C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拱形 35">
                    <a:extLst>
                      <a:ext uri="{FF2B5EF4-FFF2-40B4-BE49-F238E27FC236}">
                        <a16:creationId xmlns:a16="http://schemas.microsoft.com/office/drawing/2014/main" id="{5E4E7E38-A96D-BA86-FA46-A86615020821}"/>
                      </a:ext>
                    </a:extLst>
                  </p:cNvPr>
                  <p:cNvSpPr/>
                  <p:nvPr/>
                </p:nvSpPr>
                <p:spPr>
                  <a:xfrm rot="3574953">
                    <a:off x="4054108" y="2070546"/>
                    <a:ext cx="3113551" cy="3113548"/>
                  </a:xfrm>
                  <a:prstGeom prst="blockArc">
                    <a:avLst>
                      <a:gd name="adj1" fmla="val 12609460"/>
                      <a:gd name="adj2" fmla="val 16178434"/>
                      <a:gd name="adj3" fmla="val 19836"/>
                    </a:avLst>
                  </a:prstGeom>
                  <a:solidFill>
                    <a:srgbClr val="69E9C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" name="拱形 36">
                    <a:extLst>
                      <a:ext uri="{FF2B5EF4-FFF2-40B4-BE49-F238E27FC236}">
                        <a16:creationId xmlns:a16="http://schemas.microsoft.com/office/drawing/2014/main" id="{D040AF00-A0E5-98E8-A1E1-870F639C326B}"/>
                      </a:ext>
                    </a:extLst>
                  </p:cNvPr>
                  <p:cNvSpPr/>
                  <p:nvPr/>
                </p:nvSpPr>
                <p:spPr>
                  <a:xfrm rot="21585252">
                    <a:off x="4054108" y="2070546"/>
                    <a:ext cx="3113551" cy="3113548"/>
                  </a:xfrm>
                  <a:prstGeom prst="blockArc">
                    <a:avLst>
                      <a:gd name="adj1" fmla="val 12592075"/>
                      <a:gd name="adj2" fmla="val 16140050"/>
                      <a:gd name="adj3" fmla="val 19705"/>
                    </a:avLst>
                  </a:prstGeom>
                  <a:solidFill>
                    <a:srgbClr val="69E9C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拱形 37">
                    <a:extLst>
                      <a:ext uri="{FF2B5EF4-FFF2-40B4-BE49-F238E27FC236}">
                        <a16:creationId xmlns:a16="http://schemas.microsoft.com/office/drawing/2014/main" id="{7465E4DF-5704-D5D0-834E-C3AB70CB9F18}"/>
                      </a:ext>
                    </a:extLst>
                  </p:cNvPr>
                  <p:cNvSpPr/>
                  <p:nvPr/>
                </p:nvSpPr>
                <p:spPr>
                  <a:xfrm rot="21585252">
                    <a:off x="4355431" y="2380536"/>
                    <a:ext cx="2510906" cy="2510905"/>
                  </a:xfrm>
                  <a:prstGeom prst="blockArc">
                    <a:avLst>
                      <a:gd name="adj1" fmla="val 12576585"/>
                      <a:gd name="adj2" fmla="val 19797127"/>
                      <a:gd name="adj3" fmla="val 23090"/>
                    </a:avLst>
                  </a:prstGeom>
                  <a:solidFill>
                    <a:srgbClr val="7E9EA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拱形 38">
                    <a:extLst>
                      <a:ext uri="{FF2B5EF4-FFF2-40B4-BE49-F238E27FC236}">
                        <a16:creationId xmlns:a16="http://schemas.microsoft.com/office/drawing/2014/main" id="{525224FD-8255-5F3C-F040-901B253D453A}"/>
                      </a:ext>
                    </a:extLst>
                  </p:cNvPr>
                  <p:cNvSpPr/>
                  <p:nvPr/>
                </p:nvSpPr>
                <p:spPr>
                  <a:xfrm rot="7185252">
                    <a:off x="4355431" y="2380534"/>
                    <a:ext cx="2510905" cy="2510906"/>
                  </a:xfrm>
                  <a:prstGeom prst="blockArc">
                    <a:avLst>
                      <a:gd name="adj1" fmla="val 12576585"/>
                      <a:gd name="adj2" fmla="val 19821708"/>
                      <a:gd name="adj3" fmla="val 22899"/>
                    </a:avLst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拱形 39">
                    <a:extLst>
                      <a:ext uri="{FF2B5EF4-FFF2-40B4-BE49-F238E27FC236}">
                        <a16:creationId xmlns:a16="http://schemas.microsoft.com/office/drawing/2014/main" id="{B8460BF1-609C-EAA8-E78D-698BD8BE24C5}"/>
                      </a:ext>
                    </a:extLst>
                  </p:cNvPr>
                  <p:cNvSpPr/>
                  <p:nvPr/>
                </p:nvSpPr>
                <p:spPr>
                  <a:xfrm rot="14385252">
                    <a:off x="4355431" y="2380536"/>
                    <a:ext cx="2510906" cy="2510905"/>
                  </a:xfrm>
                  <a:prstGeom prst="blockArc">
                    <a:avLst>
                      <a:gd name="adj1" fmla="val 12576585"/>
                      <a:gd name="adj2" fmla="val 19793919"/>
                      <a:gd name="adj3" fmla="val 22971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" name="橢圓 40">
                    <a:extLst>
                      <a:ext uri="{FF2B5EF4-FFF2-40B4-BE49-F238E27FC236}">
                        <a16:creationId xmlns:a16="http://schemas.microsoft.com/office/drawing/2014/main" id="{4E150AD6-7CFD-0B8E-6CE4-D986A5A5F911}"/>
                      </a:ext>
                    </a:extLst>
                  </p:cNvPr>
                  <p:cNvSpPr/>
                  <p:nvPr/>
                </p:nvSpPr>
                <p:spPr>
                  <a:xfrm>
                    <a:off x="4898031" y="2923136"/>
                    <a:ext cx="1425703" cy="142570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4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92E924E3-F3F1-78B0-11F3-91C773ADF147}"/>
                      </a:ext>
                    </a:extLst>
                  </p:cNvPr>
                  <p:cNvSpPr txBox="1"/>
                  <p:nvPr/>
                </p:nvSpPr>
                <p:spPr>
                  <a:xfrm>
                    <a:off x="4949495" y="3221623"/>
                    <a:ext cx="1322773" cy="923331"/>
                  </a:xfrm>
                  <a:prstGeom prst="rect">
                    <a:avLst/>
                  </a:prstGeom>
                  <a:noFill/>
                </p:spPr>
                <p:txBody>
                  <a:bodyPr spcFirstLastPara="1" wrap="square" numCol="1" rtlCol="0">
                    <a:spAutoFit/>
                  </a:bodyPr>
                  <a:lstStyle>
                    <a:defPPr>
                      <a:defRPr lang="zh-TW"/>
                    </a:defPPr>
                    <a:lvl1pPr algn="ctr">
                      <a:defRPr sz="800" b="1"/>
                    </a:lvl1pPr>
                  </a:lstStyle>
                  <a:p>
                    <a:r>
                      <a:rPr lang="en-US" altLang="zh-TW" sz="1800" dirty="0"/>
                      <a:t>Electronic System Design</a:t>
                    </a:r>
                  </a:p>
                </p:txBody>
              </p:sp>
              <p:grpSp>
                <p:nvGrpSpPr>
                  <p:cNvPr id="44" name="群組 43">
                    <a:extLst>
                      <a:ext uri="{FF2B5EF4-FFF2-40B4-BE49-F238E27FC236}">
                        <a16:creationId xmlns:a16="http://schemas.microsoft.com/office/drawing/2014/main" id="{53DDD066-6F21-16C0-EF98-295D8A0CBF52}"/>
                      </a:ext>
                    </a:extLst>
                  </p:cNvPr>
                  <p:cNvGrpSpPr/>
                  <p:nvPr/>
                </p:nvGrpSpPr>
                <p:grpSpPr>
                  <a:xfrm>
                    <a:off x="4722092" y="2747196"/>
                    <a:ext cx="1777587" cy="1777585"/>
                    <a:chOff x="5492099" y="3644250"/>
                    <a:chExt cx="1207802" cy="1207801"/>
                  </a:xfrm>
                </p:grpSpPr>
                <p:sp>
                  <p:nvSpPr>
                    <p:cNvPr id="45" name="文字方塊 44">
                      <a:extLst>
                        <a:ext uri="{FF2B5EF4-FFF2-40B4-BE49-F238E27FC236}">
                          <a16:creationId xmlns:a16="http://schemas.microsoft.com/office/drawing/2014/main" id="{B51CD546-91AC-21B0-8488-07771E4C33B8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5492523" y="3644731"/>
                      <a:ext cx="1206955" cy="1206838"/>
                    </a:xfrm>
                    <a:prstGeom prst="rect">
                      <a:avLst/>
                    </a:prstGeom>
                    <a:noFill/>
                  </p:spPr>
                  <p:txBody>
                    <a:bodyPr spcFirstLastPara="1" wrap="square" numCol="1" rtlCol="0">
                      <a:prstTxWarp prst="textCircle">
                        <a:avLst>
                          <a:gd name="adj" fmla="val 20295718"/>
                        </a:avLst>
                      </a:prstTxWarp>
                      <a:spAutoFit/>
                    </a:bodyPr>
                    <a:lstStyle>
                      <a:defPPr>
                        <a:defRPr lang="zh-TW"/>
                      </a:defPPr>
                      <a:lvl1pPr algn="ctr">
                        <a:defRPr sz="800"/>
                      </a:lvl1pPr>
                    </a:lstStyle>
                    <a:p>
                      <a:r>
                        <a:rPr lang="en-US" altLang="zh-TW" sz="1400" b="1" dirty="0"/>
                        <a:t>PCB</a:t>
                      </a:r>
                    </a:p>
                    <a:p>
                      <a:r>
                        <a:rPr lang="en-US" altLang="zh-TW" sz="1400" b="1" dirty="0"/>
                        <a:t>Design</a:t>
                      </a:r>
                      <a:endParaRPr lang="zh-TW" altLang="en-US" sz="1400" b="1" dirty="0"/>
                    </a:p>
                  </p:txBody>
                </p:sp>
                <p:sp>
                  <p:nvSpPr>
                    <p:cNvPr id="46" name="文字方塊 45">
                      <a:extLst>
                        <a:ext uri="{FF2B5EF4-FFF2-40B4-BE49-F238E27FC236}">
                          <a16:creationId xmlns:a16="http://schemas.microsoft.com/office/drawing/2014/main" id="{2CBADE98-8D8C-63B1-646D-048B275DDF52}"/>
                        </a:ext>
                      </a:extLst>
                    </p:cNvPr>
                    <p:cNvSpPr txBox="1"/>
                    <p:nvPr/>
                  </p:nvSpPr>
                  <p:spPr>
                    <a:xfrm rot="18000000">
                      <a:off x="5492100" y="3644250"/>
                      <a:ext cx="1207801" cy="1207801"/>
                    </a:xfrm>
                    <a:prstGeom prst="rect">
                      <a:avLst/>
                    </a:prstGeom>
                    <a:noFill/>
                  </p:spPr>
                  <p:txBody>
                    <a:bodyPr spcFirstLastPara="1" vert="horz" wrap="none" numCol="1" rtlCol="0">
                      <a:prstTxWarp prst="textArchDown">
                        <a:avLst/>
                      </a:prstTxWarp>
                      <a:spAutoFit/>
                    </a:bodyPr>
                    <a:lstStyle>
                      <a:defPPr>
                        <a:defRPr lang="zh-TW"/>
                      </a:defPPr>
                      <a:lvl1pPr algn="ctr">
                        <a:defRPr sz="800" b="1"/>
                      </a:lvl1pPr>
                    </a:lstStyle>
                    <a:p>
                      <a:r>
                        <a:rPr lang="en-US" altLang="zh-TW" sz="1400" dirty="0"/>
                        <a:t>Manufacture</a:t>
                      </a:r>
                    </a:p>
                    <a:p>
                      <a:r>
                        <a:rPr lang="en-US" altLang="zh-TW" sz="1400" dirty="0"/>
                        <a:t>Validation</a:t>
                      </a:r>
                    </a:p>
                  </p:txBody>
                </p:sp>
                <p:sp>
                  <p:nvSpPr>
                    <p:cNvPr id="47" name="文字方塊 46">
                      <a:extLst>
                        <a:ext uri="{FF2B5EF4-FFF2-40B4-BE49-F238E27FC236}">
                          <a16:creationId xmlns:a16="http://schemas.microsoft.com/office/drawing/2014/main" id="{88AC33E9-CCB8-FDCF-EADD-1DE3BB378046}"/>
                        </a:ext>
                      </a:extLst>
                    </p:cNvPr>
                    <p:cNvSpPr txBox="1"/>
                    <p:nvPr/>
                  </p:nvSpPr>
                  <p:spPr>
                    <a:xfrm rot="3600000">
                      <a:off x="5492099" y="3644250"/>
                      <a:ext cx="1207801" cy="12078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ArchDown">
                        <a:avLst>
                          <a:gd name="adj" fmla="val 1864952"/>
                        </a:avLst>
                      </a:prstTxWarp>
                      <a:spAutoFit/>
                    </a:bodyPr>
                    <a:lstStyle/>
                    <a:p>
                      <a:pPr algn="ctr"/>
                      <a:r>
                        <a:rPr lang="en-US" altLang="zh-TW" sz="1400" b="1" dirty="0"/>
                        <a:t>Performance</a:t>
                      </a:r>
                    </a:p>
                    <a:p>
                      <a:pPr algn="ctr"/>
                      <a:r>
                        <a:rPr lang="en-US" altLang="zh-TW" sz="1400" b="1" dirty="0"/>
                        <a:t>Simulation</a:t>
                      </a:r>
                      <a:endParaRPr lang="zh-TW" altLang="en-US" sz="1400" b="1" dirty="0"/>
                    </a:p>
                  </p:txBody>
                </p:sp>
              </p:grpSp>
              <p:grpSp>
                <p:nvGrpSpPr>
                  <p:cNvPr id="67" name="群組 66">
                    <a:extLst>
                      <a:ext uri="{FF2B5EF4-FFF2-40B4-BE49-F238E27FC236}">
                        <a16:creationId xmlns:a16="http://schemas.microsoft.com/office/drawing/2014/main" id="{57226E60-3FF1-3405-F001-B0D58EF24F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3639958" y="1605828"/>
                    <a:ext cx="3941850" cy="4060320"/>
                    <a:chOff x="3639958" y="1605828"/>
                    <a:chExt cx="3941850" cy="4060320"/>
                  </a:xfrm>
                </p:grpSpPr>
                <p:grpSp>
                  <p:nvGrpSpPr>
                    <p:cNvPr id="68" name="群組 67">
                      <a:extLst>
                        <a:ext uri="{FF2B5EF4-FFF2-40B4-BE49-F238E27FC236}">
                          <a16:creationId xmlns:a16="http://schemas.microsoft.com/office/drawing/2014/main" id="{88B25965-C355-6A70-C725-AF1AAF4E2C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4205313" y="2230418"/>
                      <a:ext cx="2811139" cy="2811139"/>
                      <a:chOff x="2985435" y="2468698"/>
                      <a:chExt cx="2192438" cy="2192438"/>
                    </a:xfrm>
                  </p:grpSpPr>
                  <p:sp>
                    <p:nvSpPr>
                      <p:cNvPr id="73" name="文字方塊 72">
                        <a:extLst>
                          <a:ext uri="{FF2B5EF4-FFF2-40B4-BE49-F238E27FC236}">
                            <a16:creationId xmlns:a16="http://schemas.microsoft.com/office/drawing/2014/main" id="{B26F4ACE-019B-AD6E-62BE-349EADA87307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 rot="14411122">
                        <a:off x="2985435" y="2468698"/>
                        <a:ext cx="2192438" cy="219243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spcFirstLastPara="1" wrap="square" numCol="1" rtlCol="0">
                        <a:prstTxWarp prst="textCircle">
                          <a:avLst>
                            <a:gd name="adj" fmla="val 19256115"/>
                          </a:avLst>
                        </a:prstTxWarp>
                        <a:spAutoFit/>
                      </a:bodyPr>
                      <a:lstStyle>
                        <a:defPPr>
                          <a:defRPr lang="zh-TW"/>
                        </a:defPPr>
                        <a:lvl1pPr algn="ctr">
                          <a:defRPr sz="1100"/>
                        </a:lvl1pPr>
                      </a:lstStyle>
                      <a:p>
                        <a:r>
                          <a:rPr lang="en-US" altLang="zh-TW" b="1" dirty="0"/>
                          <a:t>PADS Professional</a:t>
                        </a:r>
                        <a:endParaRPr lang="zh-TW" altLang="en-US" b="1" dirty="0"/>
                      </a:p>
                    </p:txBody>
                  </p:sp>
                  <p:sp>
                    <p:nvSpPr>
                      <p:cNvPr id="74" name="文字方塊 73">
                        <a:extLst>
                          <a:ext uri="{FF2B5EF4-FFF2-40B4-BE49-F238E27FC236}">
                            <a16:creationId xmlns:a16="http://schemas.microsoft.com/office/drawing/2014/main" id="{D2DB7828-BC47-930F-568B-9C586C87DC40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 rot="18000000">
                        <a:off x="2985435" y="2468698"/>
                        <a:ext cx="2192438" cy="219243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spcFirstLastPara="1" wrap="square" numCol="1" rtlCol="0">
                        <a:prstTxWarp prst="textCircle">
                          <a:avLst>
                            <a:gd name="adj" fmla="val 19256115"/>
                          </a:avLst>
                        </a:prstTxWarp>
                        <a:spAutoFit/>
                      </a:bodyPr>
                      <a:lstStyle>
                        <a:defPPr>
                          <a:defRPr lang="zh-TW"/>
                        </a:defPPr>
                        <a:lvl1pPr algn="ctr">
                          <a:defRPr sz="1100"/>
                        </a:lvl1pPr>
                      </a:lstStyle>
                      <a:p>
                        <a:r>
                          <a:rPr lang="en-US" altLang="zh-TW" b="1" dirty="0"/>
                          <a:t>Xpedition</a:t>
                        </a:r>
                      </a:p>
                    </p:txBody>
                  </p:sp>
                </p:grpSp>
                <p:sp>
                  <p:nvSpPr>
                    <p:cNvPr id="69" name="文字方塊 68">
                      <a:extLst>
                        <a:ext uri="{FF2B5EF4-FFF2-40B4-BE49-F238E27FC236}">
                          <a16:creationId xmlns:a16="http://schemas.microsoft.com/office/drawing/2014/main" id="{80304DED-EE00-1E1F-C73A-9A52FB2423D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 rot="16200000">
                      <a:off x="3580723" y="1665063"/>
                      <a:ext cx="4060320" cy="394185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prstTxWarp prst="textCircle">
                        <a:avLst>
                          <a:gd name="adj" fmla="val 17461124"/>
                        </a:avLst>
                      </a:prstTxWarp>
                      <a:spAutoFit/>
                    </a:bodyPr>
                    <a:lstStyle/>
                    <a:p>
                      <a:pPr algn="ctr"/>
                      <a:r>
                        <a:rPr lang="en-US" altLang="zh-TW" b="1" dirty="0"/>
                        <a:t>Siemens EDA Flow</a:t>
                      </a:r>
                      <a:endParaRPr lang="zh-TW" altLang="en-US" b="1" baseline="30000" dirty="0"/>
                    </a:p>
                  </p:txBody>
                </p:sp>
                <p:grpSp>
                  <p:nvGrpSpPr>
                    <p:cNvPr id="70" name="群組 69">
                      <a:extLst>
                        <a:ext uri="{FF2B5EF4-FFF2-40B4-BE49-F238E27FC236}">
                          <a16:creationId xmlns:a16="http://schemas.microsoft.com/office/drawing/2014/main" id="{5E0C0388-A6CB-476C-6A4D-EB028EFE2B0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4166597" y="2191702"/>
                      <a:ext cx="2888574" cy="2888573"/>
                      <a:chOff x="2955239" y="2438504"/>
                      <a:chExt cx="2252829" cy="2252829"/>
                    </a:xfrm>
                  </p:grpSpPr>
                  <p:sp>
                    <p:nvSpPr>
                      <p:cNvPr id="71" name="文字方塊 70">
                        <a:extLst>
                          <a:ext uri="{FF2B5EF4-FFF2-40B4-BE49-F238E27FC236}">
                            <a16:creationId xmlns:a16="http://schemas.microsoft.com/office/drawing/2014/main" id="{081A927F-2FC7-7944-D4FA-75C2FE559687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 rot="3600000">
                        <a:off x="2955239" y="2438504"/>
                        <a:ext cx="2252829" cy="22528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Down">
                          <a:avLst>
                            <a:gd name="adj" fmla="val 21073054"/>
                          </a:avLst>
                        </a:prstTxWarp>
                        <a:spAutoFit/>
                      </a:bodyPr>
                      <a:lstStyle/>
                      <a:p>
                        <a:pPr algn="ctr"/>
                        <a:r>
                          <a:rPr lang="en-US" altLang="zh-TW" sz="1400" b="1" dirty="0"/>
                          <a:t>HyperLynx</a:t>
                        </a:r>
                      </a:p>
                    </p:txBody>
                  </p:sp>
                  <p:sp>
                    <p:nvSpPr>
                      <p:cNvPr id="72" name="文字方塊 71">
                        <a:extLst>
                          <a:ext uri="{FF2B5EF4-FFF2-40B4-BE49-F238E27FC236}">
                            <a16:creationId xmlns:a16="http://schemas.microsoft.com/office/drawing/2014/main" id="{4F887B6B-2C42-1792-EBB7-8220FE21F208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 rot="18000000">
                        <a:off x="2955239" y="2438504"/>
                        <a:ext cx="2252829" cy="22528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prstTxWarp prst="textArchDown">
                          <a:avLst>
                            <a:gd name="adj" fmla="val 21073054"/>
                          </a:avLst>
                        </a:prstTxWarp>
                        <a:spAutoFit/>
                      </a:bodyPr>
                      <a:lstStyle/>
                      <a:p>
                        <a:pPr algn="ctr"/>
                        <a:r>
                          <a:rPr lang="en-US" altLang="zh-TW" sz="1400" b="1" dirty="0"/>
                          <a:t>Valor / </a:t>
                        </a:r>
                        <a:r>
                          <a:rPr lang="en-US" altLang="zh-TW" sz="1400" b="1" dirty="0" err="1"/>
                          <a:t>GerbTooL</a:t>
                        </a:r>
                        <a:endParaRPr lang="en-US" altLang="zh-TW" sz="1400" b="1" dirty="0"/>
                      </a:p>
                      <a:p>
                        <a:pPr algn="ctr"/>
                        <a:endParaRPr lang="en-US" altLang="zh-TW" sz="1400" b="1" dirty="0"/>
                      </a:p>
                    </p:txBody>
                  </p:sp>
                </p:grpSp>
              </p:grpSp>
            </p:grpSp>
            <p:sp>
              <p:nvSpPr>
                <p:cNvPr id="3" name="箭號: 圓形 2">
                  <a:extLst>
                    <a:ext uri="{FF2B5EF4-FFF2-40B4-BE49-F238E27FC236}">
                      <a16:creationId xmlns:a16="http://schemas.microsoft.com/office/drawing/2014/main" id="{12A84F9A-A009-487C-2C11-F173C2DEA4BD}"/>
                    </a:ext>
                  </a:extLst>
                </p:cNvPr>
                <p:cNvSpPr/>
                <p:nvPr/>
              </p:nvSpPr>
              <p:spPr>
                <a:xfrm flipH="1">
                  <a:off x="4177627" y="1510627"/>
                  <a:ext cx="3836742" cy="3836744"/>
                </a:xfrm>
                <a:prstGeom prst="circularArrow">
                  <a:avLst>
                    <a:gd name="adj1" fmla="val 7470"/>
                    <a:gd name="adj2" fmla="val 175353"/>
                    <a:gd name="adj3" fmla="val 10589847"/>
                    <a:gd name="adj4" fmla="val 5420943"/>
                    <a:gd name="adj5" fmla="val 3735"/>
                  </a:avLst>
                </a:prstGeom>
                <a:gradFill>
                  <a:gsLst>
                    <a:gs pos="100000">
                      <a:srgbClr val="317391">
                        <a:alpha val="0"/>
                      </a:srgbClr>
                    </a:gs>
                    <a:gs pos="0">
                      <a:srgbClr val="317391"/>
                    </a:gs>
                  </a:gsLst>
                  <a:lin ang="36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C3E8CC23-FBDC-3D61-18A9-D380412F6413}"/>
                </a:ext>
              </a:extLst>
            </p:cNvPr>
            <p:cNvSpPr/>
            <p:nvPr/>
          </p:nvSpPr>
          <p:spPr>
            <a:xfrm flipH="1">
              <a:off x="1034761" y="4367841"/>
              <a:ext cx="3384708" cy="256223"/>
            </a:xfrm>
            <a:custGeom>
              <a:avLst/>
              <a:gdLst>
                <a:gd name="connsiteX0" fmla="*/ 0 w 3291840"/>
                <a:gd name="connsiteY0" fmla="*/ 0 h 365760"/>
                <a:gd name="connsiteX1" fmla="*/ 365760 w 3291840"/>
                <a:gd name="connsiteY1" fmla="*/ 365760 h 365760"/>
                <a:gd name="connsiteX2" fmla="*/ 3291840 w 3291840"/>
                <a:gd name="connsiteY2" fmla="*/ 365760 h 365760"/>
                <a:gd name="connsiteX0" fmla="*/ 0 w 3384708"/>
                <a:gd name="connsiteY0" fmla="*/ 0 h 256223"/>
                <a:gd name="connsiteX1" fmla="*/ 458628 w 3384708"/>
                <a:gd name="connsiteY1" fmla="*/ 256223 h 256223"/>
                <a:gd name="connsiteX2" fmla="*/ 3384708 w 3384708"/>
                <a:gd name="connsiteY2" fmla="*/ 256223 h 25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84708" h="256223">
                  <a:moveTo>
                    <a:pt x="0" y="0"/>
                  </a:moveTo>
                  <a:lnTo>
                    <a:pt x="458628" y="256223"/>
                  </a:lnTo>
                  <a:lnTo>
                    <a:pt x="3384708" y="256223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45FE5153-BC58-0D10-C485-E86AED287349}"/>
                </a:ext>
              </a:extLst>
            </p:cNvPr>
            <p:cNvSpPr/>
            <p:nvPr/>
          </p:nvSpPr>
          <p:spPr>
            <a:xfrm flipV="1">
              <a:off x="7406437" y="1693267"/>
              <a:ext cx="3268028" cy="353853"/>
            </a:xfrm>
            <a:custGeom>
              <a:avLst/>
              <a:gdLst>
                <a:gd name="connsiteX0" fmla="*/ 0 w 3291840"/>
                <a:gd name="connsiteY0" fmla="*/ 0 h 365760"/>
                <a:gd name="connsiteX1" fmla="*/ 365760 w 3291840"/>
                <a:gd name="connsiteY1" fmla="*/ 365760 h 365760"/>
                <a:gd name="connsiteX2" fmla="*/ 3291840 w 3291840"/>
                <a:gd name="connsiteY2" fmla="*/ 365760 h 365760"/>
                <a:gd name="connsiteX0" fmla="*/ 0 w 3277553"/>
                <a:gd name="connsiteY0" fmla="*/ 0 h 358616"/>
                <a:gd name="connsiteX1" fmla="*/ 351473 w 3277553"/>
                <a:gd name="connsiteY1" fmla="*/ 358616 h 358616"/>
                <a:gd name="connsiteX2" fmla="*/ 3277553 w 3277553"/>
                <a:gd name="connsiteY2" fmla="*/ 358616 h 358616"/>
                <a:gd name="connsiteX0" fmla="*/ 0 w 3268028"/>
                <a:gd name="connsiteY0" fmla="*/ 0 h 353853"/>
                <a:gd name="connsiteX1" fmla="*/ 341948 w 3268028"/>
                <a:gd name="connsiteY1" fmla="*/ 353853 h 353853"/>
                <a:gd name="connsiteX2" fmla="*/ 3268028 w 3268028"/>
                <a:gd name="connsiteY2" fmla="*/ 353853 h 35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8028" h="353853">
                  <a:moveTo>
                    <a:pt x="0" y="0"/>
                  </a:moveTo>
                  <a:lnTo>
                    <a:pt x="341948" y="353853"/>
                  </a:lnTo>
                  <a:lnTo>
                    <a:pt x="3268028" y="353853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485BD489-844D-9E7D-E61F-5D0D29341907}"/>
                </a:ext>
              </a:extLst>
            </p:cNvPr>
            <p:cNvSpPr txBox="1"/>
            <p:nvPr/>
          </p:nvSpPr>
          <p:spPr>
            <a:xfrm>
              <a:off x="7762633" y="1395693"/>
              <a:ext cx="2911832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400" b="1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設計、佈局、元件放置與走線</a:t>
              </a:r>
              <a:endParaRPr lang="en-US" altLang="zh-TW" sz="1400" b="1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064D2ACC-09CB-BEF7-64C1-F51802E8D931}"/>
                </a:ext>
              </a:extLst>
            </p:cNvPr>
            <p:cNvSpPr txBox="1"/>
            <p:nvPr/>
          </p:nvSpPr>
          <p:spPr>
            <a:xfrm>
              <a:off x="1053255" y="4316287"/>
              <a:ext cx="2926513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400" b="1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模擬、發現設計問題、優化性能</a:t>
              </a:r>
              <a:endParaRPr lang="en-US" altLang="zh-TW" sz="1400" b="1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0AD3E5B5-137F-8723-0176-EC9A74B1A2BD}"/>
                </a:ext>
              </a:extLst>
            </p:cNvPr>
            <p:cNvSpPr/>
            <p:nvPr/>
          </p:nvSpPr>
          <p:spPr>
            <a:xfrm>
              <a:off x="7736176" y="4428051"/>
              <a:ext cx="3319621" cy="233204"/>
            </a:xfrm>
            <a:custGeom>
              <a:avLst/>
              <a:gdLst>
                <a:gd name="connsiteX0" fmla="*/ 0 w 3291840"/>
                <a:gd name="connsiteY0" fmla="*/ 0 h 365760"/>
                <a:gd name="connsiteX1" fmla="*/ 365760 w 3291840"/>
                <a:gd name="connsiteY1" fmla="*/ 365760 h 365760"/>
                <a:gd name="connsiteX2" fmla="*/ 3291840 w 3291840"/>
                <a:gd name="connsiteY2" fmla="*/ 365760 h 365760"/>
                <a:gd name="connsiteX0" fmla="*/ 0 w 3355340"/>
                <a:gd name="connsiteY0" fmla="*/ 0 h 207010"/>
                <a:gd name="connsiteX1" fmla="*/ 429260 w 3355340"/>
                <a:gd name="connsiteY1" fmla="*/ 207010 h 207010"/>
                <a:gd name="connsiteX2" fmla="*/ 3355340 w 3355340"/>
                <a:gd name="connsiteY2" fmla="*/ 207010 h 207010"/>
                <a:gd name="connsiteX0" fmla="*/ 0 w 3319621"/>
                <a:gd name="connsiteY0" fmla="*/ 0 h 233204"/>
                <a:gd name="connsiteX1" fmla="*/ 393541 w 3319621"/>
                <a:gd name="connsiteY1" fmla="*/ 233204 h 233204"/>
                <a:gd name="connsiteX2" fmla="*/ 3319621 w 3319621"/>
                <a:gd name="connsiteY2" fmla="*/ 233204 h 23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9621" h="233204">
                  <a:moveTo>
                    <a:pt x="0" y="0"/>
                  </a:moveTo>
                  <a:lnTo>
                    <a:pt x="393541" y="233204"/>
                  </a:lnTo>
                  <a:lnTo>
                    <a:pt x="3319621" y="23320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B12A2BAF-7B6D-D371-2ADC-5406478367BA}"/>
                </a:ext>
              </a:extLst>
            </p:cNvPr>
            <p:cNvSpPr txBox="1"/>
            <p:nvPr/>
          </p:nvSpPr>
          <p:spPr>
            <a:xfrm>
              <a:off x="8180764" y="4354062"/>
              <a:ext cx="2911832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400" b="1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檢查設計可製造性、製造數據生成</a:t>
              </a:r>
              <a:endParaRPr lang="en-US" altLang="zh-TW" sz="1400" b="1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37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91842EA5DE8348AE9848AE687BCC84" ma:contentTypeVersion="13" ma:contentTypeDescription="Create a new document." ma:contentTypeScope="" ma:versionID="6f028e0c38457410fd2e4370e4878857">
  <xsd:schema xmlns:xsd="http://www.w3.org/2001/XMLSchema" xmlns:xs="http://www.w3.org/2001/XMLSchema" xmlns:p="http://schemas.microsoft.com/office/2006/metadata/properties" xmlns:ns2="77fccb21-d616-4fff-a4ae-b870553fe1e6" xmlns:ns3="094b9ec6-549c-4eb2-b7c6-34c3719529bf" targetNamespace="http://schemas.microsoft.com/office/2006/metadata/properties" ma:root="true" ma:fieldsID="82e8042d6f4572087d055fbded74d150" ns2:_="" ns3:_="">
    <xsd:import namespace="77fccb21-d616-4fff-a4ae-b870553fe1e6"/>
    <xsd:import namespace="094b9ec6-549c-4eb2-b7c6-34c3719529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cb21-d616-4fff-a4ae-b870553fe1e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b9ec6-549c-4eb2-b7c6-34c371952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5bf68e3-6eff-4786-9f2a-37007501c5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4b9ec6-549c-4eb2-b7c6-34c3719529b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712ABA-0FA1-4602-B39B-E31E2EE03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ccb21-d616-4fff-a4ae-b870553fe1e6"/>
    <ds:schemaRef ds:uri="094b9ec6-549c-4eb2-b7c6-34c3719529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4675A8-D60A-43CE-8DBD-DBEBC7C91DD1}">
  <ds:schemaRefs>
    <ds:schemaRef ds:uri="http://schemas.microsoft.com/office/2006/metadata/properties"/>
    <ds:schemaRef ds:uri="http://schemas.microsoft.com/office/infopath/2007/PartnerControls"/>
    <ds:schemaRef ds:uri="094b9ec6-549c-4eb2-b7c6-34c3719529bf"/>
  </ds:schemaRefs>
</ds:datastoreItem>
</file>

<file path=customXml/itemProps3.xml><?xml version="1.0" encoding="utf-8"?>
<ds:datastoreItem xmlns:ds="http://schemas.openxmlformats.org/officeDocument/2006/customXml" ds:itemID="{438816B0-4CCE-412B-897D-D4A0ADD6CA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9112</TotalTime>
  <Words>1608</Words>
  <Application>Microsoft Office PowerPoint</Application>
  <PresentationFormat>寬螢幕</PresentationFormat>
  <Paragraphs>316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微軟正黑體</vt:lpstr>
      <vt:lpstr>新細明體</vt:lpstr>
      <vt:lpstr>Aharoni</vt:lpstr>
      <vt:lpstr>Aptos</vt:lpstr>
      <vt:lpstr>Aptos Display</vt:lpstr>
      <vt:lpstr>Arial</vt:lpstr>
      <vt:lpstr>Calibri</vt:lpstr>
      <vt:lpstr>Source Sans Pro</vt:lpstr>
      <vt:lpstr>Office 佈景主題</vt:lpstr>
      <vt:lpstr>PowerPoint 簡報</vt:lpstr>
      <vt:lpstr>PowerPoint 簡報</vt:lpstr>
      <vt:lpstr>Xpedition PCB</vt:lpstr>
      <vt:lpstr>Xpedition PCB</vt:lpstr>
      <vt:lpstr>EDA 整合設計平台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大塚-廖韋承 Jerry</dc:creator>
  <cp:lastModifiedBy>大塚-廖韋承 Jerry</cp:lastModifiedBy>
  <cp:revision>246</cp:revision>
  <dcterms:created xsi:type="dcterms:W3CDTF">2025-02-19T03:30:11Z</dcterms:created>
  <dcterms:modified xsi:type="dcterms:W3CDTF">2026-10-22T07:13:25Z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0x0101000A91842EA5DE8348AE9848AE687BCC84</vt:lpwstr>
  </property>
  <property fmtid="{D5CDD505-2E9C-101B-9397-08002B2CF9AE}" pid="3" name="MediaServiceImageTags">
    <vt:lpwstr/>
  </property>
</Properties>
</file>